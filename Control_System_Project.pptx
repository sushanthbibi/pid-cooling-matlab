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4A6382-0005-47A8-A174-4BFE8CB1AFE7}">
  <a:tblStyle styleId="{164A6382-0005-47A8-A174-4BFE8CB1AF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524500" y="4029075"/>
            <a:ext cx="1143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134073" y="1865114"/>
            <a:ext cx="392385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SYSTEMS COURSE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1437" y="2322314"/>
            <a:ext cx="1204912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Thermal Control for Heavy-Duty Trucks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352925"/>
            <a:ext cx="9525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Holding engine coolant at 90 °C with a SIMC-tuned PID controller driving the radiator fan, modelled and simulated in MATLAB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71525" y="1381125"/>
            <a:ext cx="10648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086475" y="1857375"/>
            <a:ext cx="5334000" cy="42291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71525" y="771525"/>
            <a:ext cx="114204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 &amp; System Inefficiencies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1857375"/>
            <a:ext cx="61757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Mechanical Cooling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71525" y="2390775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Today's wax thermostat, on/off fan clutch and belt-driven pump do not follow cooling demand: the thermostat acts like a P-only controller and leaves a temperature offset.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3853457"/>
            <a:ext cx="61757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Inertia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4386857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engine block, coolant and oil store about 720 kJ/K, so the coolant reacts slowly (≈ 851 s) and a load increase can push it past 105 °C within minutes.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665589" y="2171700"/>
            <a:ext cx="61757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Objective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53200" y="26574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▪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2657475"/>
            <a:ext cx="55626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 the coolant at 90 °C when the engine load rises.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53200" y="31242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▪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12420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 well below the 105 °C limit with zero steady-state offset.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53200" y="390525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▪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390525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the model only from published engine, radiator and material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771525" y="1381125"/>
            <a:ext cx="10648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771525" y="1857375"/>
            <a:ext cx="10648950" cy="1571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71525" y="3810000"/>
            <a:ext cx="10648950" cy="1571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71525" y="771525"/>
            <a:ext cx="114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Architecture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09650" y="2376487"/>
            <a:ext cx="31253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Model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09650" y="2709862"/>
            <a:ext cx="2976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Linearised at 90 °C, 30 % load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9650" y="4329112"/>
            <a:ext cx="31253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Controller: PID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9650" y="4662487"/>
            <a:ext cx="2976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Tuning: SIMC rule (Skogestad)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124325" y="209550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200525" y="2095500"/>
            <a:ext cx="7991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Fan path: G(s) = 38.1 / ((851s + 1)(11.3s + 1)).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124325" y="24860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200525" y="2486025"/>
            <a:ext cx="7991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path: Gd(s) = 2.0 / (851s + 1).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124325" y="287655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200525" y="2876550"/>
            <a:ext cx="7991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from Volvo D13 data, a truck/bus radiator study and property tables.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124325" y="40481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200525" y="4048125"/>
            <a:ext cx="7991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feedback loop on coolant temperature, set-point 90 °C.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124325" y="443865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200525" y="4438650"/>
            <a:ext cx="7991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Drives the radiator fan air flow, 0–4.5 kg/s.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124325" y="48291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200525" y="4829175"/>
            <a:ext cx="7991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Gains from the SIMC rule: Kp = 2.48, Ki = 0.044, Kd = 22.4.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771525" y="1381125"/>
            <a:ext cx="10648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71525" y="1857375"/>
            <a:ext cx="3346400" cy="422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422725" y="1857375"/>
            <a:ext cx="3346400" cy="42291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073925" y="1857375"/>
            <a:ext cx="3346400" cy="422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771525"/>
            <a:ext cx="114204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Mapping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1201" y="2171700"/>
            <a:ext cx="35670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Variable (y)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312401" y="2171700"/>
            <a:ext cx="35670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Manipulated Variable (u)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963602" y="2171700"/>
            <a:ext cx="35670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Disturbance (d)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85850" y="2895600"/>
            <a:ext cx="281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Coolant temperature T_c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85850" y="3524250"/>
            <a:ext cx="281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Set-point: 90 °C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85850" y="4467225"/>
            <a:ext cx="33971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Limit: 105 °C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737050" y="2895600"/>
            <a:ext cx="281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Radiator fan air flow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737050" y="3524250"/>
            <a:ext cx="281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Range: 0–4.5 kg/s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737050" y="4152900"/>
            <a:ext cx="33971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Pump fixed at 3.25 kg/s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88250" y="2895600"/>
            <a:ext cx="281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load (%)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388250" y="3524250"/>
            <a:ext cx="281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30 → 70 % over 60 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388250" y="4152900"/>
            <a:ext cx="281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air at 30 °C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771525" y="1381125"/>
            <a:ext cx="10648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71525" y="3942308"/>
            <a:ext cx="10648950" cy="20955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6574" y="2954535"/>
            <a:ext cx="5098702" cy="37817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71525" y="771525"/>
            <a:ext cx="114204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Thermal Plant Model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-279796" y="1857375"/>
            <a:ext cx="1275159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coolant temperature follows the energy balance of the lumped engine mass, linearised at 90 °C and 30 % load: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9650" y="4180433"/>
            <a:ext cx="11182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Simplifications: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162050" y="4551908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38250" y="4551908"/>
            <a:ext cx="1003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block, coolant and oil are lumped as one mass, C = 720 kJ/K; the coolant loop adds an 11.3 s lag.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62050" y="5332958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123875" y="5363071"/>
            <a:ext cx="1095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Fan heat removal ε·ṁ_f·c_p·(T − T_air) is linearised around the operating fan flow of 1.58 kg/s.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771525" y="1381125"/>
            <a:ext cx="10648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8"/>
          <p:cNvGraphicFramePr/>
          <p:nvPr/>
        </p:nvGraphicFramePr>
        <p:xfrm>
          <a:off x="6557962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{164A6382-0005-47A8-A174-4BFE8CB1AFE7}</a:tableStyleId>
              </a:tblPr>
              <a:tblGrid>
                <a:gridCol w="2064850"/>
                <a:gridCol w="2797675"/>
              </a:tblGrid>
              <a:tr h="55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Peak temperature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PID: 159.8 °C after 30 min; PID: 90.60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Passes 105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PID: after about 4 min; PID: never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Steady-state offset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PID: 69.8 K; PID: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Settling (±0.1 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PID: 159 s; fan peaks at 3.96 kg/s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8"/>
          <p:cNvSpPr txBox="1"/>
          <p:nvPr/>
        </p:nvSpPr>
        <p:spPr>
          <a:xfrm>
            <a:off x="771525" y="771525"/>
            <a:ext cx="114204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Methodology &amp; Validation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71525" y="1857375"/>
            <a:ext cx="63820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Execution Phases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557962" y="1857375"/>
            <a:ext cx="56340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Results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38200" y="2343150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2343150"/>
            <a:ext cx="47291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the lumped energy-balance model from published data.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38200" y="3124200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000125" y="3124200"/>
            <a:ext cx="4729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Linearise it into fan-path and load-path transfer functions.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38200" y="4219575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000125" y="4065488"/>
            <a:ext cx="47292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Tune the PID with the SIMC rule; check stability with pole().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8200" y="5000625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00125" y="5000625"/>
            <a:ext cx="47291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 the load rising 30 → 70 % with lsim() in MATLAB.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38200" y="5781675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00125" y="5781675"/>
            <a:ext cx="472916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the coolant temperature with and without the PID.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771525" y="1919287"/>
            <a:ext cx="10648950" cy="4105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71525" y="1443037"/>
            <a:ext cx="10648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091237" y="2919412"/>
            <a:ext cx="9525" cy="27146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71525" y="833437"/>
            <a:ext cx="114204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 Analysis: Conventional Cooling vs. PID Control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-35718" y="2309812"/>
            <a:ext cx="12263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Mechanical Thermostat and Fan Clutch vs. Electric Fan with PID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162050" y="2919412"/>
            <a:ext cx="56852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Conventional Approach (Mechanical)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481762" y="2919412"/>
            <a:ext cx="56852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Control Approach (PID + Electric Fan)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314450" y="32908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390650" y="3290887"/>
            <a:ext cx="53994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extra hardware; fully mechanical.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314450" y="37576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390650" y="3757612"/>
            <a:ext cx="441483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Thermostat acts like P-only control and leaves an offset.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314450" y="453866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390650" y="4538662"/>
            <a:ext cx="441483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On/off fan clutch makes the temperature swing.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34162" y="32908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710362" y="3290887"/>
            <a:ext cx="441483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Software-defined control of an electric radiator fan.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634162" y="40719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710362" y="4071937"/>
            <a:ext cx="441483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steady-state offset; only 0.6 K peak rise in our test.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34162" y="48529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710362" y="4852987"/>
            <a:ext cx="441483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 a temperature sensor and electric actuators.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5810250" y="4520356"/>
            <a:ext cx="5715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422962" y="2318593"/>
            <a:ext cx="3345926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333500" y="3133873"/>
            <a:ext cx="9525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PID controller with SIMC-tuned gains, driving the radiator fan, holds the truck engine coolant at 90 °C: when the load rises from 30 to 70 %, the temperature peaks at only 90.60 °C, while without control it passes 105 °C within about 4 minutes.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