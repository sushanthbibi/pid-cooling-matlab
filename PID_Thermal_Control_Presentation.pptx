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3" r:id="rId10"/>
    <p:sldId id="264" r:id="rId11"/>
    <p:sldId id="269" r:id="rId19"/>
    <p:sldId id="268" r:id="rId18"/>
    <p:sldId id="267" r:id="rId17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420" y="2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4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3.xml"/><Relationship Id="rId18" Type="http://schemas.openxmlformats.org/officeDocument/2006/relationships/slide" Target="slides/slide12.xml"/><Relationship Id="rId19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66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1143000"/>
            <a:ext cx="10424160" cy="13716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3400" b="1">
                <a:solidFill>
                  <a:srgbClr val="1F3652"/>
                </a:solidFill>
                <a:latin typeface="Aptos"/>
              </a:rPr>
              <a:t>PID Thermal Control for Heavy-Duty Trucks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2697480"/>
            <a:ext cx="9875520" cy="5486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2000" b="0">
                <a:solidFill>
                  <a:srgbClr val="5C6976"/>
                </a:solidFill>
                <a:latin typeface="Aptos"/>
              </a:rPr>
              <a:t>Keeping the engine at 90 °C with a feedback controller modelled and simulated in MATLAB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1" y="3886200"/>
            <a:ext cx="10317011" cy="139422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1700" b="0" dirty="0">
                <a:solidFill>
                  <a:srgbClr val="232A30"/>
                </a:solidFill>
                <a:latin typeface="Aptos"/>
              </a:rPr>
              <a:t>Presented by: Sushanth Bibi (24BME0501)</a:t>
            </a:r>
            <a:r>
              <a:rPr lang="en-US" sz="1700" b="0" dirty="0">
                <a:solidFill>
                  <a:srgbClr val="232A30"/>
                </a:solidFill>
                <a:latin typeface="Aptos"/>
              </a:rPr>
              <a:t>, </a:t>
            </a:r>
            <a:r>
              <a:rPr sz="1700" b="0" dirty="0">
                <a:solidFill>
                  <a:srgbClr val="232A30"/>
                </a:solidFill>
                <a:latin typeface="Aptos"/>
              </a:rPr>
              <a:t>Ganishk Mohanraj (24BME0500)</a:t>
            </a:r>
            <a:r>
              <a:rPr lang="en-US" sz="1700" b="0" dirty="0">
                <a:solidFill>
                  <a:srgbClr val="232A30"/>
                </a:solidFill>
                <a:latin typeface="Aptos"/>
              </a:rPr>
              <a:t>, </a:t>
            </a:r>
            <a:r>
              <a:rPr lang="en-US" dirty="0" err="1"/>
              <a:t>Aromal</a:t>
            </a:r>
            <a:r>
              <a:rPr lang="en-US" dirty="0"/>
              <a:t> Kannan (24BMV0048) , Gayatri </a:t>
            </a:r>
            <a:r>
              <a:rPr lang="en-US" dirty="0" err="1"/>
              <a:t>Korambil</a:t>
            </a:r>
            <a:r>
              <a:rPr lang="en-US" dirty="0"/>
              <a:t> (24BME0545)</a:t>
            </a:r>
            <a:r>
              <a:rPr sz="1700" b="0" dirty="0">
                <a:solidFill>
                  <a:srgbClr val="232A30"/>
                </a:solidFill>
                <a:latin typeface="Aptos"/>
              </a:rPr>
              <a:t>
Course: Control Systems
Department: </a:t>
            </a:r>
            <a:r>
              <a:rPr lang="en-US" sz="1700" dirty="0">
                <a:solidFill>
                  <a:srgbClr val="232A30"/>
                </a:solidFill>
                <a:latin typeface="Aptos"/>
              </a:rPr>
              <a:t>School Of Mechanical Engineering, VIT Vellore</a:t>
            </a:r>
            <a:r>
              <a:rPr sz="1700" b="0" dirty="0">
                <a:solidFill>
                  <a:srgbClr val="232A30"/>
                </a:solidFill>
                <a:latin typeface="Aptos"/>
              </a:rPr>
              <a:t>
Project Guide: </a:t>
            </a:r>
            <a:r>
              <a:rPr lang="en-US" sz="1700" b="0" dirty="0">
                <a:solidFill>
                  <a:srgbClr val="232A30"/>
                </a:solidFill>
                <a:latin typeface="Aptos"/>
              </a:rPr>
              <a:t>Dr</a:t>
            </a:r>
            <a:r>
              <a:rPr lang="en-US" sz="1700" dirty="0">
                <a:solidFill>
                  <a:srgbClr val="232A30"/>
                </a:solidFill>
                <a:latin typeface="Aptos"/>
              </a:rPr>
              <a:t>. Geetha Mani</a:t>
            </a:r>
            <a:endParaRPr sz="1700" b="0" dirty="0">
              <a:solidFill>
                <a:srgbClr val="232A30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96112" y="6263640"/>
            <a:ext cx="10058400" cy="224677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lang="en-US" sz="1100" b="0" dirty="0">
                <a:solidFill>
                  <a:srgbClr val="5C6976"/>
                </a:solidFill>
                <a:latin typeface="Aptos"/>
              </a:rPr>
              <a:t>15</a:t>
            </a:r>
            <a:r>
              <a:rPr lang="en-US" sz="1100" b="0" baseline="30000" dirty="0">
                <a:solidFill>
                  <a:srgbClr val="5C6976"/>
                </a:solidFill>
                <a:latin typeface="Aptos"/>
              </a:rPr>
              <a:t>th</a:t>
            </a:r>
            <a:r>
              <a:rPr lang="en-US" sz="1100" b="0" dirty="0">
                <a:solidFill>
                  <a:srgbClr val="5C6976"/>
                </a:solidFill>
                <a:latin typeface="Aptos"/>
              </a:rPr>
              <a:t> October 2026</a:t>
            </a:r>
            <a:endParaRPr sz="1100" b="0" dirty="0">
              <a:solidFill>
                <a:srgbClr val="5C6976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66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2700" b="1">
                <a:solidFill>
                  <a:srgbClr val="1F3652"/>
                </a:solidFill>
                <a:latin typeface="Aptos"/>
              </a:rPr>
              <a:t>1. Problem Statement and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607040" cy="1828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900" b="0">
                <a:solidFill>
                  <a:srgbClr val="5C6976"/>
                </a:solidFill>
                <a:latin typeface="Aptos"/>
              </a:rPr>
              <a:t>CONTROL SYSTEMS COURSE PROJECT  |  PID THERMAL CONTROL FOR HEAVY-DUTY TRUCKS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37376"/>
            <a:ext cx="502920" cy="2286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r"/>
            <a:r>
              <a:rPr sz="1000" b="0">
                <a:solidFill>
                  <a:srgbClr val="5C6976"/>
                </a:solidFill>
                <a:latin typeface="Aptos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35608"/>
            <a:ext cx="5212080" cy="4297680"/>
          </a:xfrm>
          <a:prstGeom prst="roundRect">
            <a:avLst/>
          </a:prstGeom>
          <a:solidFill>
            <a:srgbClr val="EFF4F8"/>
          </a:solidFill>
          <a:ln>
            <a:solidFill>
              <a:srgbClr val="D8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1769364"/>
            <a:ext cx="4882896" cy="3200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600" b="1" dirty="0">
                <a:solidFill>
                  <a:srgbClr val="366991"/>
                </a:solidFill>
                <a:latin typeface="Aptos"/>
              </a:rP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194560"/>
            <a:ext cx="4882896" cy="36576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marL="228600" indent="-228600" algn="l">
              <a:spcAft>
                <a:spcPts val="500"/>
              </a:spcAft>
              <a:buFont typeface="Arial"/>
              <a:buChar char="•"/>
            </a:pPr>
            <a:r>
              <a:rPr sz="1450" b="1" dirty="0">
                <a:solidFill>
                  <a:srgbClr val="232A30"/>
                </a:solidFill>
                <a:latin typeface="Aptos"/>
              </a:rPr>
              <a:t>System: </a:t>
            </a:r>
            <a:r>
              <a:rPr sz="1450" b="0" dirty="0">
                <a:solidFill>
                  <a:srgbClr val="232A30"/>
                </a:solidFill>
                <a:latin typeface="Aptos"/>
              </a:rPr>
              <a:t>the coolant temperature of a heavy-duty truck engine, which must stay in a narrow band. [1]</a:t>
            </a:r>
          </a:p>
          <a:p>
            <a:pPr marL="228600" indent="-228600" algn="l">
              <a:spcAft>
                <a:spcPts val="500"/>
              </a:spcAft>
              <a:buFont typeface="Arial"/>
              <a:buChar char="•"/>
            </a:pPr>
            <a:r>
              <a:rPr sz="1450" b="1" dirty="0">
                <a:solidFill>
                  <a:srgbClr val="232A30"/>
                </a:solidFill>
                <a:latin typeface="Aptos"/>
              </a:rPr>
              <a:t>Too hot (above 105 °C): </a:t>
            </a:r>
            <a:r>
              <a:rPr sz="1450" b="0" dirty="0">
                <a:solidFill>
                  <a:srgbClr val="232A30"/>
                </a:solidFill>
                <a:latin typeface="Aptos"/>
              </a:rPr>
              <a:t>coolant boils, oil breaks down and engine parts are damaged. [3]</a:t>
            </a:r>
          </a:p>
          <a:p>
            <a:pPr marL="228600" indent="-228600" algn="l">
              <a:spcAft>
                <a:spcPts val="500"/>
              </a:spcAft>
              <a:buFont typeface="Arial"/>
              <a:buChar char="•"/>
            </a:pPr>
            <a:r>
              <a:rPr sz="1450" b="1" dirty="0">
                <a:solidFill>
                  <a:srgbClr val="232A30"/>
                </a:solidFill>
                <a:latin typeface="Aptos"/>
              </a:rPr>
              <a:t>Too cold (below 80 °C): </a:t>
            </a:r>
            <a:r>
              <a:rPr sz="1450" b="0" dirty="0">
                <a:solidFill>
                  <a:srgbClr val="232A30"/>
                </a:solidFill>
                <a:latin typeface="Aptos"/>
              </a:rPr>
              <a:t>thick oil raises friction, so the engine burns more fuel and emits more CO₂. [3]</a:t>
            </a:r>
          </a:p>
          <a:p>
            <a:pPr marL="228600" indent="-228600" algn="l">
              <a:spcAft>
                <a:spcPts val="500"/>
              </a:spcAft>
              <a:buFont typeface="Arial"/>
              <a:buChar char="•"/>
            </a:pPr>
            <a:r>
              <a:rPr sz="1450" b="1" dirty="0">
                <a:solidFill>
                  <a:srgbClr val="232A30"/>
                </a:solidFill>
                <a:latin typeface="Aptos"/>
              </a:rPr>
              <a:t>To control: </a:t>
            </a:r>
            <a:r>
              <a:rPr sz="1450" b="0" dirty="0">
                <a:solidFill>
                  <a:srgbClr val="232A30"/>
                </a:solidFill>
                <a:latin typeface="Aptos"/>
              </a:rPr>
              <a:t>hold the coolant at about 90 °C despite changes in engine load.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212080" cy="4297680"/>
          </a:xfrm>
          <a:prstGeom prst="roundRect">
            <a:avLst/>
          </a:prstGeom>
          <a:solidFill>
            <a:srgbClr val="EFF4F8"/>
          </a:solidFill>
          <a:ln>
            <a:solidFill>
              <a:srgbClr val="D8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23304" y="1769364"/>
            <a:ext cx="4882896" cy="3200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600" b="1" dirty="0">
                <a:solidFill>
                  <a:srgbClr val="366991"/>
                </a:solidFill>
                <a:latin typeface="Aptos"/>
              </a:rPr>
              <a:t>OBJECTIVES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2992" y="2194560"/>
            <a:ext cx="4882896" cy="36576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marL="228600" indent="-228600" algn="l">
              <a:spcAft>
                <a:spcPts val="500"/>
              </a:spcAft>
              <a:buFont typeface="Arial"/>
              <a:buChar char="•"/>
            </a:pPr>
            <a:r>
              <a:rPr sz="1450" b="1" dirty="0">
                <a:solidFill>
                  <a:srgbClr val="232A30"/>
                </a:solidFill>
                <a:latin typeface="Aptos"/>
              </a:rPr>
              <a:t>Model </a:t>
            </a:r>
            <a:r>
              <a:rPr sz="1450" b="0" dirty="0">
                <a:solidFill>
                  <a:srgbClr val="232A30"/>
                </a:solidFill>
                <a:latin typeface="Aptos"/>
              </a:rPr>
              <a:t>the engine cooling system as two transfer functions (fan path and load path), using only published data. [1]–[5]</a:t>
            </a:r>
          </a:p>
          <a:p>
            <a:pPr marL="228600" indent="-228600" algn="l">
              <a:spcAft>
                <a:spcPts val="500"/>
              </a:spcAft>
              <a:buFont typeface="Arial"/>
              <a:buChar char="•"/>
            </a:pPr>
            <a:r>
              <a:rPr sz="1450" b="1" dirty="0">
                <a:solidFill>
                  <a:srgbClr val="232A30"/>
                </a:solidFill>
                <a:latin typeface="Aptos"/>
              </a:rPr>
              <a:t>Design </a:t>
            </a:r>
            <a:r>
              <a:rPr sz="1450" b="0" dirty="0">
                <a:solidFill>
                  <a:srgbClr val="232A30"/>
                </a:solidFill>
                <a:latin typeface="Aptos"/>
              </a:rPr>
              <a:t>a PID controller, with gains calculated by the SIMC tuning rule, to hold 90 °C. [6]</a:t>
            </a:r>
          </a:p>
          <a:p>
            <a:pPr marL="228600" indent="-228600" algn="l">
              <a:spcAft>
                <a:spcPts val="500"/>
              </a:spcAft>
              <a:buFont typeface="Arial"/>
              <a:buChar char="•"/>
            </a:pPr>
            <a:r>
              <a:rPr sz="1450" b="1" dirty="0">
                <a:solidFill>
                  <a:srgbClr val="232A30"/>
                </a:solidFill>
                <a:latin typeface="Aptos"/>
              </a:rPr>
              <a:t>Simulate </a:t>
            </a:r>
            <a:r>
              <a:rPr sz="1450" b="0" dirty="0">
                <a:solidFill>
                  <a:srgbClr val="232A30"/>
                </a:solidFill>
                <a:latin typeface="Aptos"/>
              </a:rPr>
              <a:t>the engine load rising from 30 % to 70 % in MATLAB, with and without the PID. [8]</a:t>
            </a:r>
          </a:p>
          <a:p>
            <a:pPr marL="228600" indent="-228600" algn="l">
              <a:spcAft>
                <a:spcPts val="500"/>
              </a:spcAft>
              <a:buFont typeface="Arial"/>
              <a:buChar char="•"/>
            </a:pPr>
            <a:r>
              <a:rPr sz="1450" b="1" dirty="0">
                <a:solidFill>
                  <a:srgbClr val="232A30"/>
                </a:solidFill>
                <a:latin typeface="Aptos"/>
              </a:rPr>
              <a:t>Compare </a:t>
            </a:r>
            <a:r>
              <a:rPr sz="1450" b="0" dirty="0">
                <a:solidFill>
                  <a:srgbClr val="232A30"/>
                </a:solidFill>
                <a:latin typeface="Aptos"/>
              </a:rPr>
              <a:t>no PID and PID on peak temperature, steady-state offset and settling 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66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2700" b="1">
                <a:solidFill>
                  <a:srgbClr val="1F3652"/>
                </a:solidFill>
                <a:latin typeface="Aptos"/>
              </a:rPr>
              <a:t>2. Background and Related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607040" cy="1828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900" b="0">
                <a:solidFill>
                  <a:srgbClr val="5C6976"/>
                </a:solidFill>
                <a:latin typeface="Aptos"/>
              </a:rPr>
              <a:t>CONTROL SYSTEMS COURSE PROJECT  |  PID THERMAL CONTROL FOR HEAVY-DUTY TRUCKS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37376"/>
            <a:ext cx="502920" cy="2286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r"/>
            <a:r>
              <a:rPr sz="1000" b="0">
                <a:solidFill>
                  <a:srgbClr val="5C6976"/>
                </a:solidFill>
                <a:latin typeface="Aptos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440180"/>
            <a:ext cx="10515600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algn="just">
              <a:spcAft>
                <a:spcPts val="700"/>
              </a:spcAft>
              <a:buFont typeface="Arial"/>
              <a:buChar char="•"/>
            </a:pPr>
            <a:r>
              <a:rPr sz="1500" b="1" dirty="0">
                <a:solidFill>
                  <a:srgbClr val="232A30"/>
                </a:solidFill>
                <a:latin typeface="Aptos"/>
              </a:rPr>
              <a:t>Today's truck cooling is purely mechanical:</a:t>
            </a:r>
          </a:p>
          <a:p>
            <a:pPr marL="228600" indent="-228600" algn="just">
              <a:spcAft>
                <a:spcPts val="700"/>
              </a:spcAft>
              <a:buFont typeface="Arial"/>
              <a:buChar char="•"/>
            </a:pPr>
            <a:r>
              <a:rPr sz="1500" b="1" dirty="0">
                <a:solidFill>
                  <a:srgbClr val="232A30"/>
                </a:solidFill>
                <a:latin typeface="Aptos"/>
              </a:rPr>
              <a:t>Wax thermostat: </a:t>
            </a:r>
            <a:r>
              <a:rPr sz="1500" b="0" dirty="0">
                <a:solidFill>
                  <a:srgbClr val="232A30"/>
                </a:solidFill>
                <a:latin typeface="Aptos"/>
              </a:rPr>
              <a:t>opens gradually from 82 to 95 °C, so it acts like a P-only controller. It settles near 84 °C and never reaches 90 °C. [3]</a:t>
            </a:r>
          </a:p>
          <a:p>
            <a:pPr marL="228600" indent="-228600" algn="just">
              <a:spcAft>
                <a:spcPts val="700"/>
              </a:spcAft>
              <a:buFont typeface="Arial"/>
              <a:buChar char="•"/>
            </a:pPr>
            <a:r>
              <a:rPr sz="1500" b="1" dirty="0">
                <a:solidFill>
                  <a:srgbClr val="232A30"/>
                </a:solidFill>
                <a:latin typeface="Aptos"/>
              </a:rPr>
              <a:t>On/off fan clutch: </a:t>
            </a:r>
            <a:r>
              <a:rPr sz="1500" b="0" dirty="0">
                <a:solidFill>
                  <a:srgbClr val="232A30"/>
                </a:solidFill>
                <a:latin typeface="Aptos"/>
              </a:rPr>
              <a:t>fully on at 96 °C, off at 90 °C. This bang-bang control makes the temperature swing. [2]</a:t>
            </a:r>
          </a:p>
          <a:p>
            <a:pPr marL="228600" indent="-228600" algn="just">
              <a:spcAft>
                <a:spcPts val="700"/>
              </a:spcAft>
              <a:buFont typeface="Arial"/>
              <a:buChar char="•"/>
            </a:pPr>
            <a:r>
              <a:rPr sz="1500" b="1" dirty="0">
                <a:solidFill>
                  <a:srgbClr val="232A30"/>
                </a:solidFill>
                <a:latin typeface="Aptos"/>
              </a:rPr>
              <a:t>Belt-driven pump: </a:t>
            </a:r>
            <a:r>
              <a:rPr sz="1500" b="0" dirty="0">
                <a:solidFill>
                  <a:srgbClr val="232A30"/>
                </a:solidFill>
                <a:latin typeface="Aptos"/>
              </a:rPr>
              <a:t>follows engine speed, not cooling demand, so it wastes energy when little cooling is needed. [3]</a:t>
            </a:r>
          </a:p>
          <a:p>
            <a:pPr marL="228600" indent="-228600" algn="just">
              <a:spcAft>
                <a:spcPts val="700"/>
              </a:spcAft>
              <a:buFont typeface="Arial"/>
              <a:buChar char="•"/>
            </a:pPr>
            <a:r>
              <a:rPr sz="1500" b="1" dirty="0">
                <a:solidFill>
                  <a:srgbClr val="232A30"/>
                </a:solidFill>
                <a:latin typeface="Aptos"/>
              </a:rPr>
              <a:t>Control concept: </a:t>
            </a:r>
            <a:r>
              <a:rPr sz="1500" b="0" dirty="0">
                <a:solidFill>
                  <a:srgbClr val="232A30"/>
                </a:solidFill>
                <a:latin typeface="Aptos"/>
              </a:rPr>
              <a:t>a P controller needs an error to produce any output, so it always leaves a steady-state offset. The integral term removes it; the derivative term damps the peak. [7]</a:t>
            </a:r>
          </a:p>
          <a:p>
            <a:pPr marL="228600" indent="-228600" algn="just">
              <a:spcAft>
                <a:spcPts val="700"/>
              </a:spcAft>
              <a:buFont typeface="Arial"/>
              <a:buChar char="•"/>
            </a:pPr>
            <a:r>
              <a:rPr sz="1500" b="1" dirty="0">
                <a:solidFill>
                  <a:srgbClr val="232A30"/>
                </a:solidFill>
                <a:latin typeface="Aptos"/>
              </a:rPr>
              <a:t>This project: </a:t>
            </a:r>
            <a:r>
              <a:rPr sz="1500" b="0" dirty="0">
                <a:solidFill>
                  <a:srgbClr val="232A30"/>
                </a:solidFill>
                <a:latin typeface="Aptos"/>
              </a:rPr>
              <a:t>replaces the mechanical parts with one PID controller; in the model the PID drives an electric radiator fan (0–4.5 kg/s of air). [2], [3]</a:t>
            </a:r>
          </a:p>
          <a:p>
            <a:pPr marL="228600" indent="-228600" algn="just">
              <a:spcAft>
                <a:spcPts val="700"/>
              </a:spcAft>
              <a:buFont typeface="Arial"/>
              <a:buChar char="•"/>
            </a:pPr>
            <a:r>
              <a:rPr sz="1500" b="1" dirty="0">
                <a:solidFill>
                  <a:srgbClr val="232A30"/>
                </a:solidFill>
                <a:latin typeface="Aptos"/>
              </a:rPr>
              <a:t>Related studies: </a:t>
            </a:r>
            <a:r>
              <a:rPr sz="1500" b="0" dirty="0">
                <a:solidFill>
                  <a:srgbClr val="232A30"/>
                </a:solidFill>
                <a:latin typeface="Aptos"/>
              </a:rPr>
              <a:t>electronic PID/LQR engine cooling control [3]; radiator and fan sizing for trucks and buses [2]; lumped-mass coolant warm-up model [4].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66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447" y="402336"/>
            <a:ext cx="10972800" cy="5029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2700" b="1">
                <a:solidFill>
                  <a:srgbClr val="1F3652"/>
                </a:solidFill>
                <a:latin typeface="Aptos"/>
              </a:rPr>
              <a:t>3. System Model and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607040" cy="1828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900" b="0">
                <a:solidFill>
                  <a:srgbClr val="5C6976"/>
                </a:solidFill>
                <a:latin typeface="Aptos"/>
              </a:rPr>
              <a:t>CONTROL SYSTEMS COURSE PROJECT  |  PID THERMAL CONTROL FOR HEAVY-DUTY TRUCKS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37376"/>
            <a:ext cx="502920" cy="2286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r"/>
            <a:r>
              <a:rPr sz="1000" b="0">
                <a:solidFill>
                  <a:srgbClr val="5C6976"/>
                </a:solidFill>
                <a:latin typeface="Aptos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5212080" cy="4526280"/>
          </a:xfrm>
          <a:prstGeom prst="roundRect">
            <a:avLst/>
          </a:prstGeom>
          <a:solidFill>
            <a:srgbClr val="EFF4F8"/>
          </a:solidFill>
          <a:ln>
            <a:solidFill>
              <a:srgbClr val="D8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5568" y="1847088"/>
            <a:ext cx="4882896" cy="3200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600" b="1">
                <a:solidFill>
                  <a:srgbClr val="366991"/>
                </a:solidFill>
                <a:latin typeface="Aptos"/>
              </a:rPr>
              <a:t>SYSTEM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167128"/>
            <a:ext cx="4882896" cy="1973874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marL="228600" indent="-228600" algn="just">
              <a:spcAft>
                <a:spcPts val="450"/>
              </a:spcAft>
              <a:buFont typeface="Arial"/>
              <a:buChar char="•"/>
            </a:pPr>
            <a:r>
              <a:rPr sz="1350" b="1" dirty="0">
                <a:solidFill>
                  <a:srgbClr val="232A30"/>
                </a:solidFill>
                <a:latin typeface="Aptos"/>
              </a:rPr>
              <a:t>Input / output: </a:t>
            </a:r>
            <a:r>
              <a:rPr sz="1350" b="0" dirty="0">
                <a:solidFill>
                  <a:srgbClr val="232A30"/>
                </a:solidFill>
                <a:latin typeface="Aptos"/>
              </a:rPr>
              <a:t>fan air flow y (0–4.5 kg/s), engine load L (%) → coolant temperature T_c (°C)</a:t>
            </a:r>
          </a:p>
          <a:p>
            <a:pPr marL="228600" indent="-228600" algn="just">
              <a:spcAft>
                <a:spcPts val="450"/>
              </a:spcAft>
              <a:buFont typeface="Arial"/>
              <a:buChar char="•"/>
            </a:pPr>
            <a:r>
              <a:rPr sz="1350" b="1" dirty="0">
                <a:solidFill>
                  <a:srgbClr val="232A30"/>
                </a:solidFill>
                <a:latin typeface="Aptos"/>
              </a:rPr>
              <a:t>Fan path: </a:t>
            </a:r>
            <a:r>
              <a:rPr sz="1350" b="0" dirty="0">
                <a:solidFill>
                  <a:srgbClr val="232A30"/>
                </a:solidFill>
                <a:latin typeface="Aptos"/>
              </a:rPr>
              <a:t>G(s) = 38.1 / ((851s + 1)(11.3s + 1)) [1]–[5]</a:t>
            </a:r>
          </a:p>
          <a:p>
            <a:pPr marL="228600" indent="-228600" algn="just">
              <a:spcAft>
                <a:spcPts val="450"/>
              </a:spcAft>
              <a:buFont typeface="Arial"/>
              <a:buChar char="•"/>
            </a:pPr>
            <a:r>
              <a:rPr sz="1350" b="1" dirty="0">
                <a:solidFill>
                  <a:srgbClr val="232A30"/>
                </a:solidFill>
                <a:latin typeface="Aptos"/>
              </a:rPr>
              <a:t>Load path: </a:t>
            </a:r>
            <a:r>
              <a:rPr sz="1350" b="0" dirty="0">
                <a:solidFill>
                  <a:srgbClr val="232A30"/>
                </a:solidFill>
                <a:latin typeface="Aptos"/>
              </a:rPr>
              <a:t>Gd(s) = 2.0 / (851s + 1) [1], [2]</a:t>
            </a:r>
          </a:p>
          <a:p>
            <a:pPr marL="228600" indent="-228600" algn="just">
              <a:spcAft>
                <a:spcPts val="450"/>
              </a:spcAft>
              <a:buFont typeface="Arial"/>
              <a:buChar char="•"/>
            </a:pPr>
            <a:r>
              <a:rPr sz="1350" b="1" dirty="0">
                <a:solidFill>
                  <a:srgbClr val="232A30"/>
                </a:solidFill>
                <a:latin typeface="Aptos"/>
              </a:rPr>
              <a:t>Plant: </a:t>
            </a:r>
            <a:r>
              <a:rPr sz="1350" b="0" dirty="0" err="1">
                <a:solidFill>
                  <a:srgbClr val="232A30"/>
                </a:solidFill>
                <a:latin typeface="Aptos"/>
              </a:rPr>
              <a:t>T_c = 90 − G(s)·Δy + Gd(s)·ΔL, linearised around 90 °C, 30 % load, y0 = 1.58 kg/s</a:t>
            </a:r>
          </a:p>
          <a:p>
            <a:pPr marL="228600" indent="-228600" algn="just">
              <a:spcAft>
                <a:spcPts val="450"/>
              </a:spcAft>
              <a:buFont typeface="Arial"/>
              <a:buChar char="•"/>
            </a:pPr>
            <a:r>
              <a:rPr sz="1350" b="1" dirty="0">
                <a:solidFill>
                  <a:srgbClr val="232A30"/>
                </a:solidFill>
                <a:latin typeface="Aptos"/>
              </a:rPr>
              <a:t>Source: </a:t>
            </a:r>
            <a:r>
              <a:rPr sz="1350" b="0" dirty="0">
                <a:solidFill>
                  <a:srgbClr val="232A30"/>
                </a:solidFill>
                <a:latin typeface="Aptos"/>
              </a:rPr>
              <a:t>energy balance C·dT/dt = Q − ε·ṁ·c_p·(T − T_air) [3]; engine [1]; heat, flow and fan [2]; properties [5]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25880"/>
            <a:ext cx="5212080" cy="4526280"/>
          </a:xfrm>
          <a:prstGeom prst="roundRect">
            <a:avLst/>
          </a:prstGeom>
          <a:solidFill>
            <a:srgbClr val="EFF4F8"/>
          </a:solidFill>
          <a:ln>
            <a:solidFill>
              <a:srgbClr val="D8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28343" y="1815084"/>
            <a:ext cx="4882896" cy="3200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600" b="1" dirty="0">
                <a:solidFill>
                  <a:srgbClr val="366991"/>
                </a:solidFill>
                <a:latin typeface="Aptos"/>
              </a:rPr>
              <a:t>METHOD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2804" y="2212848"/>
            <a:ext cx="4882896" cy="1558375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marL="228600" indent="-228600" algn="just">
              <a:spcAft>
                <a:spcPts val="450"/>
              </a:spcAft>
              <a:buFont typeface="Arial"/>
              <a:buChar char="•"/>
            </a:pPr>
            <a:r>
              <a:rPr sz="1350" b="1" dirty="0">
                <a:solidFill>
                  <a:srgbClr val="232A30"/>
                </a:solidFill>
                <a:latin typeface="Aptos"/>
              </a:rPr>
              <a:t>Controller: </a:t>
            </a:r>
            <a:r>
              <a:rPr sz="1350" b="0" dirty="0">
                <a:solidFill>
                  <a:srgbClr val="232A30"/>
                </a:solidFill>
                <a:latin typeface="Aptos"/>
              </a:rPr>
              <a:t>e = </a:t>
            </a:r>
            <a:r>
              <a:rPr sz="1350" b="0" dirty="0" err="1">
                <a:solidFill>
                  <a:srgbClr val="232A30"/>
                </a:solidFill>
                <a:latin typeface="Aptos"/>
              </a:rPr>
              <a:t>T_c</a:t>
            </a:r>
            <a:r>
              <a:rPr sz="1350" b="0" dirty="0">
                <a:solidFill>
                  <a:srgbClr val="232A30"/>
                </a:solidFill>
                <a:latin typeface="Aptos"/>
              </a:rPr>
              <a:t> − 90 °C; y = </a:t>
            </a:r>
            <a:r>
              <a:rPr sz="1350" b="0" dirty="0" err="1">
                <a:solidFill>
                  <a:srgbClr val="232A30"/>
                </a:solidFill>
                <a:latin typeface="Aptos"/>
              </a:rPr>
              <a:t>Kp·e</a:t>
            </a:r>
            <a:r>
              <a:rPr sz="1350" b="0" dirty="0">
                <a:solidFill>
                  <a:srgbClr val="232A30"/>
                </a:solidFill>
                <a:latin typeface="Aptos"/>
              </a:rPr>
              <a:t> + Ki·∫e dt + </a:t>
            </a:r>
            <a:r>
              <a:rPr sz="1350" b="0" dirty="0" err="1">
                <a:solidFill>
                  <a:srgbClr val="232A30"/>
                </a:solidFill>
                <a:latin typeface="Aptos"/>
              </a:rPr>
              <a:t>Kd·de</a:t>
            </a:r>
            <a:r>
              <a:rPr sz="1350" b="0" dirty="0">
                <a:solidFill>
                  <a:srgbClr val="232A30"/>
                </a:solidFill>
                <a:latin typeface="Aptos"/>
              </a:rPr>
              <a:t>/dt [7]</a:t>
            </a:r>
          </a:p>
          <a:p>
            <a:pPr marL="228600" indent="-228600" algn="just">
              <a:spcAft>
                <a:spcPts val="450"/>
              </a:spcAft>
              <a:buFont typeface="Arial"/>
              <a:buChar char="•"/>
            </a:pPr>
            <a:r>
              <a:rPr sz="1350" b="1" dirty="0">
                <a:solidFill>
                  <a:srgbClr val="232A30"/>
                </a:solidFill>
                <a:latin typeface="Aptos"/>
              </a:rPr>
              <a:t>Tuning: </a:t>
            </a:r>
            <a:r>
              <a:rPr sz="1350" b="0" dirty="0">
                <a:solidFill>
                  <a:srgbClr val="232A30"/>
                </a:solidFill>
                <a:latin typeface="Aptos"/>
              </a:rPr>
              <a:t>SIMC rule: Kp = 2.48, Ki = 0.044, Kd = 22.4 [6]</a:t>
            </a:r>
          </a:p>
          <a:p>
            <a:pPr marL="228600" indent="-228600" algn="just">
              <a:spcAft>
                <a:spcPts val="450"/>
              </a:spcAft>
              <a:buFont typeface="Arial"/>
              <a:buChar char="•"/>
            </a:pPr>
            <a:r>
              <a:rPr sz="1350" b="1" dirty="0">
                <a:solidFill>
                  <a:srgbClr val="232A30"/>
                </a:solidFill>
                <a:latin typeface="Aptos"/>
              </a:rPr>
              <a:t>Additions: </a:t>
            </a:r>
            <a:r>
              <a:rPr sz="1350" b="0" dirty="0">
                <a:solidFill>
                  <a:srgbClr val="232A30"/>
                </a:solidFill>
                <a:latin typeface="Aptos"/>
              </a:rPr>
              <a:t>0.01 s derivative filter; pump fixed at 3.25 kg/s, so the PID drives the fan only [2]</a:t>
            </a:r>
          </a:p>
          <a:p>
            <a:pPr marL="228600" indent="-228600" algn="just">
              <a:spcAft>
                <a:spcPts val="450"/>
              </a:spcAft>
              <a:buFont typeface="Arial"/>
              <a:buChar char="•"/>
            </a:pPr>
            <a:r>
              <a:rPr sz="1350" b="1" dirty="0">
                <a:solidFill>
                  <a:srgbClr val="232A30"/>
                </a:solidFill>
                <a:latin typeface="Aptos"/>
              </a:rPr>
              <a:t>Tools: </a:t>
            </a:r>
            <a:r>
              <a:rPr sz="1350" b="0" dirty="0">
                <a:solidFill>
                  <a:srgbClr val="232A30"/>
                </a:solidFill>
                <a:latin typeface="Aptos"/>
              </a:rPr>
              <a:t>one MATLAB script: tf, feedback, lsim, pole [8]</a:t>
            </a:r>
          </a:p>
          <a:p>
            <a:pPr marL="228600" indent="-228600" algn="just">
              <a:spcAft>
                <a:spcPts val="450"/>
              </a:spcAft>
              <a:buFont typeface="Arial"/>
              <a:buChar char="•"/>
            </a:pPr>
            <a:r>
              <a:rPr sz="1350" b="1" dirty="0">
                <a:solidFill>
                  <a:srgbClr val="232A30"/>
                </a:solidFill>
                <a:latin typeface="Aptos"/>
              </a:rPr>
              <a:t>Tests: </a:t>
            </a:r>
            <a:r>
              <a:rPr sz="1350" b="0" dirty="0">
                <a:solidFill>
                  <a:srgbClr val="232A30"/>
                </a:solidFill>
                <a:latin typeface="Aptos"/>
              </a:rPr>
              <a:t>load 30 → 70 %, rising linearly over 60 s; no PID vs PID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961888"/>
            <a:ext cx="1051560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400" b="0">
                <a:solidFill>
                  <a:srgbClr val="5C6976"/>
                </a:solidFill>
                <a:latin typeface="Aptos"/>
              </a:rPr>
              <a:t>Block, coolant and oil are lumped as one mass (C = 720 kJ/K, 851 s lag); the coolant takes 11.3 s to go round the loop. [4]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66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2700" b="1">
                <a:solidFill>
                  <a:srgbClr val="1F3652"/>
                </a:solidFill>
                <a:latin typeface="Aptos"/>
              </a:rPr>
              <a:t>4. Block Diagram / Experimental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607040" cy="1828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900" b="0">
                <a:solidFill>
                  <a:srgbClr val="5C6976"/>
                </a:solidFill>
                <a:latin typeface="Aptos"/>
              </a:rPr>
              <a:t>CONTROL SYSTEMS COURSE PROJECT  |  PID THERMAL CONTROL FOR HEAVY-DUTY TRUCKS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37376"/>
            <a:ext cx="502920" cy="2286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r"/>
            <a:r>
              <a:rPr sz="1000" b="0">
                <a:solidFill>
                  <a:srgbClr val="5C6976"/>
                </a:solidFill>
                <a:latin typeface="Aptos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143000"/>
            <a:ext cx="10698480" cy="4572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700" b="0">
                <a:solidFill>
                  <a:srgbClr val="5C6976"/>
                </a:solidFill>
                <a:latin typeface="Aptos"/>
              </a:rPr>
              <a:t>A closed loop with negative feedback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50000"/>
            <a:ext cx="10332720" cy="11000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marL="228600" indent="-228600" algn="l">
              <a:spcAft>
                <a:spcPts val="400"/>
              </a:spcAft>
              <a:buFont typeface="Arial"/>
              <a:buChar char="•"/>
            </a:pPr>
            <a:r>
              <a:rPr sz="1400" b="1">
                <a:solidFill>
                  <a:srgbClr val="232A30"/>
                </a:solidFill>
                <a:latin typeface="Aptos"/>
              </a:rPr>
              <a:t>Error: </a:t>
            </a:r>
            <a:r>
              <a:rPr sz="1400" b="0">
                <a:solidFill>
                  <a:srgbClr val="232A30"/>
                </a:solidFill>
                <a:latin typeface="Aptos"/>
              </a:rPr>
              <a:t>e = T_c − 90 °C, so a hotter engine gives a positive error and more cooling. [7]</a:t>
            </a:r>
          </a:p>
          <a:p>
            <a:pPr marL="228600" indent="-228600" algn="l">
              <a:spcAft>
                <a:spcPts val="400"/>
              </a:spcAft>
              <a:buFont typeface="Arial"/>
              <a:buChar char="•"/>
            </a:pPr>
            <a:r>
              <a:rPr sz="1400" b="1">
                <a:solidFill>
                  <a:srgbClr val="232A30"/>
                </a:solidFill>
                <a:latin typeface="Aptos"/>
              </a:rPr>
              <a:t>Control action: </a:t>
            </a:r>
            <a:r>
              <a:rPr sz="1400" b="0">
                <a:solidFill>
                  <a:srgbClr val="232A30"/>
                </a:solidFill>
                <a:latin typeface="Aptos"/>
              </a:rPr>
              <a:t>the PID turns e into the fan air flow y = 1.58 kg/s + PID output (limit 4.5 kg/s). The pump runs at a fixed 3.25 kg/s. [2]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600000"/>
            <a:ext cx="10332720" cy="5029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400" b="0">
                <a:solidFill>
                  <a:srgbClr val="5C6976"/>
                </a:solidFill>
                <a:latin typeface="Aptos"/>
              </a:rPr>
              <a:t>Fig. 1. Closed-loop thermal control of the engine coolant temperature (simulation only, no hardware).</a:t>
            </a:r>
          </a:p>
        </p:txBody>
      </p:sp>
      <p:sp>
        <p:nvSpPr>
          <p:cNvPr id="101" name="Disturbance"/>
          <p:cNvSpPr txBox="1"/>
          <p:nvPr/>
        </p:nvSpPr>
        <p:spPr>
          <a:xfrm>
            <a:off x="7285000" y="1400000"/>
            <a:ext cx="4000000" cy="4572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200" b="0">
                <a:solidFill>
                  <a:srgbClr val="5C6976"/>
                </a:solidFill>
                <a:latin typeface="Aptos"/>
              </a:rPr>
              <a:t>Disturbances: engine load,</a:t>
            </a:r>
            <a:br/>
            <a:r>
              <a:rPr sz="1200" b="0">
                <a:solidFill>
                  <a:srgbClr val="5C6976"/>
                </a:solidFill>
                <a:latin typeface="Aptos"/>
              </a:rPr>
              <a:t>speed, outside temperature</a:t>
            </a:r>
          </a:p>
        </p:txBody>
      </p:sp>
      <p:sp>
        <p:nvSpPr>
          <p:cNvPr id="102" name="DistArrow"/>
          <p:cNvSpPr txBox="1"/>
          <p:nvPr/>
        </p:nvSpPr>
        <p:spPr>
          <a:xfrm>
            <a:off x="9079260" y="1820000"/>
            <a:ext cx="411480" cy="3657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2000" b="1">
                <a:solidFill>
                  <a:srgbClr val="366991"/>
                </a:solidFill>
                <a:latin typeface="Aptos"/>
              </a:rPr>
              <a:t>↓</a:t>
            </a:r>
          </a:p>
        </p:txBody>
      </p:sp>
      <p:sp>
        <p:nvSpPr>
          <p:cNvPr id="103" name="SetPoint"/>
          <p:cNvSpPr/>
          <p:nvPr/>
        </p:nvSpPr>
        <p:spPr>
          <a:xfrm>
            <a:off x="822960" y="2148840"/>
            <a:ext cx="1500000" cy="960120"/>
          </a:xfrm>
          <a:prstGeom prst="roundRect">
            <a:avLst/>
          </a:prstGeom>
          <a:solidFill>
            <a:srgbClr val="EFF4F8"/>
          </a:solidFill>
          <a:ln>
            <a:solidFill>
              <a:srgbClr val="36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F3652"/>
                </a:solidFill>
                <a:latin typeface="Aptos"/>
              </a:defRPr>
            </a:pPr>
            <a:r>
              <a:t>Set-point</a:t>
            </a:r>
            <a:br/>
            <a:r>
              <a:t>90 °C</a:t>
            </a:r>
          </a:p>
        </p:txBody>
      </p:sp>
      <p:sp>
        <p:nvSpPr>
          <p:cNvPr id="104" name="Arrow1"/>
          <p:cNvSpPr txBox="1"/>
          <p:nvPr/>
        </p:nvSpPr>
        <p:spPr>
          <a:xfrm>
            <a:off x="2322960" y="2404872"/>
            <a:ext cx="411480" cy="3657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2400" b="1">
                <a:solidFill>
                  <a:srgbClr val="366991"/>
                </a:solidFill>
                <a:latin typeface="Aptos"/>
              </a:rPr>
              <a:t>→</a:t>
            </a:r>
          </a:p>
        </p:txBody>
      </p:sp>
      <p:sp>
        <p:nvSpPr>
          <p:cNvPr id="105" name="Plus"/>
          <p:cNvSpPr txBox="1"/>
          <p:nvPr/>
        </p:nvSpPr>
        <p:spPr>
          <a:xfrm>
            <a:off x="2420000" y="2120000"/>
            <a:ext cx="300000" cy="3200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600" b="1">
                <a:solidFill>
                  <a:srgbClr val="1F3652"/>
                </a:solidFill>
                <a:latin typeface="Aptos"/>
              </a:rPr>
              <a:t>+</a:t>
            </a:r>
          </a:p>
        </p:txBody>
      </p:sp>
      <p:sp>
        <p:nvSpPr>
          <p:cNvPr id="106" name="SumJunction"/>
          <p:cNvSpPr/>
          <p:nvPr/>
        </p:nvSpPr>
        <p:spPr>
          <a:xfrm>
            <a:off x="2780000" y="2308860"/>
            <a:ext cx="640080" cy="640080"/>
          </a:xfrm>
          <a:prstGeom prst="ellipse">
            <a:avLst/>
          </a:prstGeom>
          <a:solidFill>
            <a:srgbClr val="EFF4F8"/>
          </a:solidFill>
          <a:ln>
            <a:solidFill>
              <a:srgbClr val="36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F3652"/>
                </a:solidFill>
                <a:latin typeface="Aptos"/>
              </a:defRPr>
            </a:pPr>
            <a:r>
              <a:t>Σ</a:t>
            </a:r>
          </a:p>
        </p:txBody>
      </p:sp>
      <p:sp>
        <p:nvSpPr>
          <p:cNvPr id="107" name="Minus"/>
          <p:cNvSpPr txBox="1"/>
          <p:nvPr/>
        </p:nvSpPr>
        <p:spPr>
          <a:xfrm>
            <a:off x="3400000" y="2900000"/>
            <a:ext cx="300000" cy="3200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600" b="1">
                <a:solidFill>
                  <a:srgbClr val="1F3652"/>
                </a:solidFill>
                <a:latin typeface="Aptos"/>
              </a:rPr>
              <a:t>−</a:t>
            </a:r>
          </a:p>
        </p:txBody>
      </p:sp>
      <p:sp>
        <p:nvSpPr>
          <p:cNvPr id="108" name="Arrow2"/>
          <p:cNvSpPr txBox="1"/>
          <p:nvPr/>
        </p:nvSpPr>
        <p:spPr>
          <a:xfrm>
            <a:off x="3420080" y="2404872"/>
            <a:ext cx="411480" cy="3657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2400" b="1">
                <a:solidFill>
                  <a:srgbClr val="366991"/>
                </a:solidFill>
                <a:latin typeface="Aptos"/>
              </a:rPr>
              <a:t>→</a:t>
            </a:r>
          </a:p>
        </p:txBody>
      </p:sp>
      <p:sp>
        <p:nvSpPr>
          <p:cNvPr id="109" name="SigE"/>
          <p:cNvSpPr txBox="1"/>
          <p:nvPr/>
        </p:nvSpPr>
        <p:spPr>
          <a:xfrm>
            <a:off x="3420080" y="2160000"/>
            <a:ext cx="411480" cy="3000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400" b="0" i="1">
                <a:solidFill>
                  <a:srgbClr val="5C6976"/>
                </a:solidFill>
                <a:latin typeface="Aptos"/>
              </a:rPr>
              <a:t>e</a:t>
            </a:r>
          </a:p>
        </p:txBody>
      </p:sp>
      <p:sp>
        <p:nvSpPr>
          <p:cNvPr id="110" name="PID"/>
          <p:cNvSpPr/>
          <p:nvPr/>
        </p:nvSpPr>
        <p:spPr>
          <a:xfrm>
            <a:off x="3850000" y="2148840"/>
            <a:ext cx="1650000" cy="960120"/>
          </a:xfrm>
          <a:prstGeom prst="roundRect">
            <a:avLst/>
          </a:prstGeom>
          <a:solidFill>
            <a:srgbClr val="EFF4F8"/>
          </a:solidFill>
          <a:ln>
            <a:solidFill>
              <a:srgbClr val="36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F3652"/>
                </a:solidFill>
                <a:latin typeface="Aptos"/>
              </a:defRPr>
            </a:pPr>
            <a:r>
              <a:t>PID</a:t>
            </a:r>
            <a:br/>
            <a:r>
              <a:t>controller</a:t>
            </a:r>
          </a:p>
        </p:txBody>
      </p:sp>
      <p:sp>
        <p:nvSpPr>
          <p:cNvPr id="111" name="Arrow3"/>
          <p:cNvSpPr txBox="1"/>
          <p:nvPr/>
        </p:nvSpPr>
        <p:spPr>
          <a:xfrm>
            <a:off x="5500000" y="2404872"/>
            <a:ext cx="411480" cy="3657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2400" b="1">
                <a:solidFill>
                  <a:srgbClr val="366991"/>
                </a:solidFill>
                <a:latin typeface="Aptos"/>
              </a:rPr>
              <a:t>→</a:t>
            </a:r>
          </a:p>
        </p:txBody>
      </p:sp>
      <p:sp>
        <p:nvSpPr>
          <p:cNvPr id="112" name="SigY"/>
          <p:cNvSpPr txBox="1"/>
          <p:nvPr/>
        </p:nvSpPr>
        <p:spPr>
          <a:xfrm>
            <a:off x="5500000" y="2160000"/>
            <a:ext cx="411480" cy="3000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400" b="0" i="1">
                <a:solidFill>
                  <a:srgbClr val="5C6976"/>
                </a:solidFill>
                <a:latin typeface="Aptos"/>
              </a:rPr>
              <a:t>y</a:t>
            </a:r>
          </a:p>
        </p:txBody>
      </p:sp>
      <p:sp>
        <p:nvSpPr>
          <p:cNvPr id="113" name="SplitRange"/>
          <p:cNvSpPr/>
          <p:nvPr/>
        </p:nvSpPr>
        <p:spPr>
          <a:xfrm>
            <a:off x="5930000" y="2148840"/>
            <a:ext cx="1900000" cy="960120"/>
          </a:xfrm>
          <a:prstGeom prst="roundRect">
            <a:avLst/>
          </a:prstGeom>
          <a:solidFill>
            <a:srgbClr val="EFF4F8"/>
          </a:solidFill>
          <a:ln>
            <a:solidFill>
              <a:srgbClr val="36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F3652"/>
                </a:solidFill>
                <a:latin typeface="Aptos"/>
              </a:defRPr>
            </a:pPr>
            <a:r>
              <a:t>Electric fan</a:t>
            </a:r>
            <a:br/>
            <a:r>
              <a:t>air flow 0–4.5 kg/s</a:t>
            </a:r>
          </a:p>
        </p:txBody>
      </p:sp>
      <p:sp>
        <p:nvSpPr>
          <p:cNvPr id="114" name="Arrow4"/>
          <p:cNvSpPr txBox="1"/>
          <p:nvPr/>
        </p:nvSpPr>
        <p:spPr>
          <a:xfrm>
            <a:off x="7830000" y="2404872"/>
            <a:ext cx="411480" cy="3657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2400" b="1">
                <a:solidFill>
                  <a:srgbClr val="366991"/>
                </a:solidFill>
                <a:latin typeface="Aptos"/>
              </a:rPr>
              <a:t>→</a:t>
            </a:r>
          </a:p>
        </p:txBody>
      </p:sp>
      <p:sp>
        <p:nvSpPr>
          <p:cNvPr id="115" name="SigU"/>
          <p:cNvSpPr txBox="1"/>
          <p:nvPr/>
        </p:nvSpPr>
        <p:spPr>
          <a:xfrm>
            <a:off x="7830000" y="2160000"/>
            <a:ext cx="411480" cy="3000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400" b="0" i="1">
                <a:solidFill>
                  <a:srgbClr val="5C6976"/>
                </a:solidFill>
                <a:latin typeface="Aptos"/>
              </a:rPr>
              <a:t>u</a:t>
            </a:r>
          </a:p>
        </p:txBody>
      </p:sp>
      <p:sp>
        <p:nvSpPr>
          <p:cNvPr id="116" name="Plant"/>
          <p:cNvSpPr/>
          <p:nvPr/>
        </p:nvSpPr>
        <p:spPr>
          <a:xfrm>
            <a:off x="8260000" y="2148840"/>
            <a:ext cx="2050000" cy="960120"/>
          </a:xfrm>
          <a:prstGeom prst="roundRect">
            <a:avLst/>
          </a:prstGeom>
          <a:solidFill>
            <a:srgbClr val="EFF4F8"/>
          </a:solidFill>
          <a:ln>
            <a:solidFill>
              <a:srgbClr val="36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F3652"/>
                </a:solidFill>
                <a:latin typeface="Aptos"/>
              </a:defRPr>
            </a:pPr>
            <a:r>
              <a:t>Engine + cooling</a:t>
            </a:r>
            <a:br/>
            <a:r>
              <a:t>system (the plant)</a:t>
            </a:r>
          </a:p>
        </p:txBody>
      </p:sp>
      <p:sp>
        <p:nvSpPr>
          <p:cNvPr id="117" name="Arrow5"/>
          <p:cNvSpPr txBox="1"/>
          <p:nvPr/>
        </p:nvSpPr>
        <p:spPr>
          <a:xfrm>
            <a:off x="10310000" y="2404872"/>
            <a:ext cx="411480" cy="3657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2400" b="1">
                <a:solidFill>
                  <a:srgbClr val="366991"/>
                </a:solidFill>
                <a:latin typeface="Aptos"/>
              </a:rPr>
              <a:t>→</a:t>
            </a:r>
          </a:p>
        </p:txBody>
      </p:sp>
      <p:sp>
        <p:nvSpPr>
          <p:cNvPr id="118" name="Output"/>
          <p:cNvSpPr txBox="1"/>
          <p:nvPr/>
        </p:nvSpPr>
        <p:spPr>
          <a:xfrm>
            <a:off x="10700000" y="2330000"/>
            <a:ext cx="1150000" cy="5200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600" b="1">
                <a:solidFill>
                  <a:srgbClr val="1F3652"/>
                </a:solidFill>
                <a:latin typeface="Aptos"/>
              </a:rPr>
              <a:t>T_c</a:t>
            </a:r>
            <a:br/>
            <a:r>
              <a:rPr sz="1200" b="0">
                <a:solidFill>
                  <a:srgbClr val="5C6976"/>
                </a:solidFill>
                <a:latin typeface="Aptos"/>
              </a:rPr>
              <a:t>coolant temp</a:t>
            </a:r>
          </a:p>
        </p:txBody>
      </p:sp>
      <p:sp>
        <p:nvSpPr>
          <p:cNvPr id="119" name="FbDown"/>
          <p:cNvSpPr/>
          <p:nvPr/>
        </p:nvSpPr>
        <p:spPr>
          <a:xfrm>
            <a:off x="10504310" y="2760000"/>
            <a:ext cx="22860" cy="890000"/>
          </a:xfrm>
          <a:prstGeom prst="rect">
            <a:avLst/>
          </a:prstGeom>
          <a:solidFill>
            <a:srgbClr val="3669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FbBottom"/>
          <p:cNvSpPr/>
          <p:nvPr/>
        </p:nvSpPr>
        <p:spPr>
          <a:xfrm>
            <a:off x="3088610" y="3627140"/>
            <a:ext cx="7438560" cy="22860"/>
          </a:xfrm>
          <a:prstGeom prst="rect">
            <a:avLst/>
          </a:prstGeom>
          <a:solidFill>
            <a:srgbClr val="3669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FbUp"/>
          <p:cNvSpPr/>
          <p:nvPr/>
        </p:nvSpPr>
        <p:spPr>
          <a:xfrm>
            <a:off x="3088610" y="2948940"/>
            <a:ext cx="22860" cy="678200"/>
          </a:xfrm>
          <a:prstGeom prst="rect">
            <a:avLst/>
          </a:prstGeom>
          <a:solidFill>
            <a:srgbClr val="3669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FbArrow"/>
          <p:cNvSpPr txBox="1"/>
          <p:nvPr/>
        </p:nvSpPr>
        <p:spPr>
          <a:xfrm>
            <a:off x="2894300" y="2968000"/>
            <a:ext cx="411480" cy="3657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2400" b="1">
                <a:solidFill>
                  <a:srgbClr val="366991"/>
                </a:solidFill>
                <a:latin typeface="Aptos"/>
              </a:rPr>
              <a:t>↑</a:t>
            </a:r>
          </a:p>
        </p:txBody>
      </p:sp>
      <p:sp>
        <p:nvSpPr>
          <p:cNvPr id="123" name="FbLabel"/>
          <p:cNvSpPr txBox="1"/>
          <p:nvPr/>
        </p:nvSpPr>
        <p:spPr>
          <a:xfrm>
            <a:off x="2147960" y="3680000"/>
            <a:ext cx="8000000" cy="4572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200" b="0">
                <a:solidFill>
                  <a:srgbClr val="5C6976"/>
                </a:solidFill>
                <a:latin typeface="Aptos"/>
              </a:rPr>
              <a:t>measured by a temperature sensor (feedback)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66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2700" b="1">
                <a:solidFill>
                  <a:srgbClr val="1F3652"/>
                </a:solidFill>
                <a:latin typeface="Aptos"/>
              </a:rPr>
              <a:t>5. Experimental / Simulation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607040" cy="1828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900" b="0">
                <a:solidFill>
                  <a:srgbClr val="5C6976"/>
                </a:solidFill>
                <a:latin typeface="Aptos"/>
              </a:rPr>
              <a:t>CONTROL SYSTEMS COURSE PROJECT  |  PID THERMAL CONTROL FOR HEAVY-DUTY TRUCKS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37376"/>
            <a:ext cx="502920" cy="2286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r"/>
            <a:r>
              <a:rPr sz="1000" b="0">
                <a:solidFill>
                  <a:srgbClr val="5C6976"/>
                </a:solidFill>
                <a:latin typeface="Aptos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2618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algn="just">
              <a:spcAft>
                <a:spcPts val="700"/>
              </a:spcAft>
              <a:buFont typeface="Arial"/>
              <a:buChar char="•"/>
            </a:pPr>
            <a:r>
              <a:rPr sz="1500" b="1" dirty="0">
                <a:solidFill>
                  <a:srgbClr val="232A30"/>
                </a:solidFill>
                <a:latin typeface="Aptos"/>
              </a:rPr>
              <a:t>Software: </a:t>
            </a:r>
            <a:r>
              <a:rPr sz="1500" b="0" dirty="0">
                <a:solidFill>
                  <a:srgbClr val="232A30"/>
                </a:solidFill>
                <a:latin typeface="Aptos"/>
              </a:rPr>
              <a:t>MATLAB script (</a:t>
            </a:r>
            <a:r>
              <a:rPr sz="1500" b="0" dirty="0" err="1">
                <a:solidFill>
                  <a:srgbClr val="232A30"/>
                </a:solidFill>
                <a:latin typeface="Aptos"/>
              </a:rPr>
              <a:t>pid_truck_cooling.m</a:t>
            </a:r>
            <a:r>
              <a:rPr sz="1500" b="0" dirty="0">
                <a:solidFill>
                  <a:srgbClr val="232A30"/>
                </a:solidFill>
                <a:latin typeface="Aptos"/>
              </a:rPr>
              <a:t>). Simulation only; no hardware or sensors were used.</a:t>
            </a:r>
          </a:p>
          <a:p>
            <a:pPr marL="228600" indent="-228600" algn="just">
              <a:spcAft>
                <a:spcPts val="700"/>
              </a:spcAft>
              <a:buFont typeface="Arial"/>
              <a:buChar char="•"/>
            </a:pPr>
            <a:r>
              <a:rPr sz="1500" b="1" dirty="0">
                <a:solidFill>
                  <a:srgbClr val="232A30"/>
                </a:solidFill>
                <a:latin typeface="Aptos"/>
              </a:rPr>
              <a:t>MATLAB: </a:t>
            </a:r>
            <a:r>
              <a:rPr sz="1500" b="0" dirty="0">
                <a:solidFill>
                  <a:srgbClr val="232A30"/>
                </a:solidFill>
                <a:latin typeface="Aptos"/>
              </a:rPr>
              <a:t>plant and PID built as transfer functions; feedback() closes the loop; pole() confirms all closed-loop poles lie in the left half-plane, so the loop is stable. [7]</a:t>
            </a:r>
          </a:p>
          <a:p>
            <a:pPr marL="228600" indent="-228600" algn="just">
              <a:spcAft>
                <a:spcPts val="700"/>
              </a:spcAft>
              <a:buFont typeface="Arial"/>
              <a:buChar char="•"/>
            </a:pPr>
            <a:r>
              <a:rPr sz="1500" b="1" dirty="0">
                <a:solidFill>
                  <a:srgbClr val="232A30"/>
                </a:solidFill>
                <a:latin typeface="Aptos"/>
              </a:rPr>
              <a:t>Load input: </a:t>
            </a:r>
            <a:r>
              <a:rPr sz="1500" b="0" dirty="0">
                <a:solidFill>
                  <a:srgbClr val="232A30"/>
                </a:solidFill>
                <a:latin typeface="Aptos"/>
              </a:rPr>
              <a:t>30 % for 20 s, then rising linearly to 70 % over 60 s; simulated with lsim() for 30 minutes.</a:t>
            </a:r>
          </a:p>
          <a:p>
            <a:pPr marL="228600" indent="-228600" algn="just">
              <a:spcAft>
                <a:spcPts val="700"/>
              </a:spcAft>
              <a:buFont typeface="Arial"/>
              <a:buChar char="•"/>
            </a:pPr>
            <a:r>
              <a:rPr sz="1500" b="1" dirty="0">
                <a:solidFill>
                  <a:srgbClr val="232A30"/>
                </a:solidFill>
                <a:latin typeface="Aptos"/>
              </a:rPr>
              <a:t>Two cases: </a:t>
            </a:r>
            <a:r>
              <a:rPr sz="1500" b="0" dirty="0">
                <a:solidFill>
                  <a:srgbClr val="232A30"/>
                </a:solidFill>
                <a:latin typeface="Aptos"/>
              </a:rPr>
              <a:t>no PID (load → temperature = Gd) and with PID (Gd / (1 + C·G)); settling = time to stay within ±0.1 K of 90 °C.</a:t>
            </a:r>
          </a:p>
          <a:p>
            <a:pPr marL="228600" indent="-228600" algn="just">
              <a:spcAft>
                <a:spcPts val="700"/>
              </a:spcAft>
              <a:buFont typeface="Arial"/>
              <a:buChar char="•"/>
            </a:pPr>
            <a:r>
              <a:rPr sz="1500" b="1" dirty="0">
                <a:solidFill>
                  <a:srgbClr val="232A30"/>
                </a:solidFill>
                <a:latin typeface="Aptos"/>
              </a:rPr>
              <a:t>Plant numbers: </a:t>
            </a:r>
            <a:r>
              <a:rPr sz="1500" b="0" dirty="0">
                <a:solidFill>
                  <a:srgbClr val="232A30"/>
                </a:solidFill>
                <a:latin typeface="Aptos"/>
              </a:rPr>
              <a:t>C = 720 kJ/K, ε = 0.533, τc = 851 s, τr = 11.3 s, K_fan = 38.1 K per kg/s, K_load = 2.0 K per %, all calculated in the script from [1], [2], [5].</a:t>
            </a:r>
          </a:p>
          <a:p>
            <a:pPr marL="228600" indent="-228600" algn="just">
              <a:spcAft>
                <a:spcPts val="700"/>
              </a:spcAft>
              <a:buFont typeface="Arial"/>
              <a:buChar char="•"/>
            </a:pPr>
            <a:r>
              <a:rPr sz="1500" b="1" dirty="0">
                <a:solidFill>
                  <a:srgbClr val="232A30"/>
                </a:solidFill>
                <a:latin typeface="Aptos"/>
              </a:rPr>
              <a:t>Gains: </a:t>
            </a:r>
            <a:r>
              <a:rPr sz="1500" b="0" dirty="0" err="1">
                <a:solidFill>
                  <a:srgbClr val="232A30"/>
                </a:solidFill>
                <a:latin typeface="Aptos"/>
              </a:rPr>
              <a:t>Kp = 2.48, Ki = 0.044, Kd = 22.4 (SIMC: Kc = 1.98, τI = 45 s, τD = 11.3 s). [6]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66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2700" b="1">
                <a:solidFill>
                  <a:srgbClr val="1F3652"/>
                </a:solidFill>
                <a:latin typeface="Aptos"/>
              </a:rPr>
              <a:t>6. Results: No PID vs PID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607040" cy="1828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900" b="0">
                <a:solidFill>
                  <a:srgbClr val="5C6976"/>
                </a:solidFill>
                <a:latin typeface="Aptos"/>
              </a:rPr>
              <a:t>CONTROL SYSTEMS COURSE PROJECT  |  PID THERMAL CONTROL FOR HEAVY-DUTY TRUCKS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37376"/>
            <a:ext cx="502920" cy="2286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r"/>
            <a:r>
              <a:rPr sz="1000" b="0">
                <a:solidFill>
                  <a:srgbClr val="5C6976"/>
                </a:solidFill>
                <a:latin typeface="Aptos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5212080" cy="4526280"/>
          </a:xfrm>
          <a:prstGeom prst="roundRect">
            <a:avLst/>
          </a:prstGeom>
          <a:solidFill>
            <a:srgbClr val="EFF4F8"/>
          </a:solidFill>
          <a:ln>
            <a:solidFill>
              <a:srgbClr val="D8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856231"/>
            <a:ext cx="4882896" cy="3200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600" b="1" dirty="0">
                <a:solidFill>
                  <a:srgbClr val="366991"/>
                </a:solidFill>
                <a:latin typeface="Aptos"/>
              </a:rPr>
              <a:t>LOAD 30 → 70 %, 30 MINUTES</a:t>
            </a:r>
          </a:p>
        </p:txBody>
      </p:sp>
      <p:sp>
        <p:nvSpPr>
          <p:cNvPr id="80" name="Cap"/>
          <p:cNvSpPr txBox="1"/>
          <p:nvPr/>
        </p:nvSpPr>
        <p:spPr>
          <a:xfrm>
            <a:off x="896112" y="4722790"/>
            <a:ext cx="4882896" cy="3200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100" b="0" dirty="0">
                <a:solidFill>
                  <a:srgbClr val="5C6976"/>
                </a:solidFill>
                <a:latin typeface="Aptos"/>
              </a:rPr>
              <a:t>Fig. 2. Coolant temperature with no PID and with PID; engine load on the right axis (MATLAB).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325880"/>
            <a:ext cx="5212080" cy="4526280"/>
          </a:xfrm>
          <a:prstGeom prst="roundRect">
            <a:avLst/>
          </a:prstGeom>
          <a:solidFill>
            <a:srgbClr val="EFF4F8"/>
          </a:solidFill>
          <a:ln>
            <a:solidFill>
              <a:srgbClr val="D8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26235" y="1786595"/>
            <a:ext cx="4882896" cy="3200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600" b="1" dirty="0">
                <a:solidFill>
                  <a:srgbClr val="366991"/>
                </a:solidFill>
                <a:latin typeface="Aptos"/>
              </a:rPr>
              <a:t>EXPLAIN THE RESULT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9672" y="2207611"/>
            <a:ext cx="4882896" cy="16250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marL="228600" indent="-228600" algn="just">
              <a:spcAft>
                <a:spcPts val="600"/>
              </a:spcAft>
              <a:buFont typeface="Arial"/>
              <a:buChar char="•"/>
            </a:pPr>
            <a:r>
              <a:rPr sz="1450" b="1" dirty="0">
                <a:solidFill>
                  <a:srgbClr val="232A30"/>
                </a:solidFill>
                <a:latin typeface="Aptos"/>
              </a:rPr>
              <a:t>No PID </a:t>
            </a:r>
            <a:r>
              <a:rPr sz="1450" b="0" dirty="0">
                <a:solidFill>
                  <a:srgbClr val="232A30"/>
                </a:solidFill>
                <a:latin typeface="Aptos"/>
              </a:rPr>
              <a:t>passes the 105 °C limit after about 4 minutes and reaches 160 °C after 30 minutes.</a:t>
            </a:r>
          </a:p>
          <a:p>
            <a:pPr marL="228600" indent="-228600" algn="just">
              <a:spcAft>
                <a:spcPts val="600"/>
              </a:spcAft>
              <a:buFont typeface="Arial"/>
              <a:buChar char="•"/>
            </a:pPr>
            <a:r>
              <a:rPr sz="1450" b="1" dirty="0">
                <a:solidFill>
                  <a:srgbClr val="232A30"/>
                </a:solidFill>
                <a:latin typeface="Aptos"/>
              </a:rPr>
              <a:t>Why </a:t>
            </a:r>
            <a:r>
              <a:rPr sz="1450" b="0" dirty="0">
                <a:solidFill>
                  <a:srgbClr val="232A30"/>
                </a:solidFill>
                <a:latin typeface="Aptos"/>
              </a:rPr>
              <a:t>the extra 68 kW of engine heat is not removed; it would only level off at 170 °C.</a:t>
            </a:r>
          </a:p>
          <a:p>
            <a:pPr marL="228600" indent="-228600" algn="just">
              <a:spcAft>
                <a:spcPts val="600"/>
              </a:spcAft>
              <a:buFont typeface="Arial"/>
              <a:buChar char="•"/>
            </a:pPr>
            <a:r>
              <a:rPr sz="1450" b="1" dirty="0">
                <a:solidFill>
                  <a:srgbClr val="232A30"/>
                </a:solidFill>
                <a:latin typeface="Aptos"/>
              </a:rPr>
              <a:t>PID </a:t>
            </a:r>
            <a:r>
              <a:rPr sz="1450" b="0" dirty="0">
                <a:solidFill>
                  <a:srgbClr val="232A30"/>
                </a:solidFill>
                <a:latin typeface="Aptos"/>
              </a:rPr>
              <a:t>holds the coolant at 90 °C for the whole 30 minutes.</a:t>
            </a:r>
          </a:p>
          <a:p>
            <a:pPr marL="228600" indent="-228600" algn="just">
              <a:spcAft>
                <a:spcPts val="600"/>
              </a:spcAft>
              <a:buFont typeface="Arial"/>
              <a:buChar char="•"/>
            </a:pPr>
            <a:r>
              <a:rPr sz="1450" b="1" dirty="0">
                <a:solidFill>
                  <a:srgbClr val="232A30"/>
                </a:solidFill>
                <a:latin typeface="Aptos"/>
              </a:rPr>
              <a:t>Objective met: </a:t>
            </a:r>
            <a:r>
              <a:rPr sz="1450" b="0" dirty="0">
                <a:solidFill>
                  <a:srgbClr val="232A30"/>
                </a:solidFill>
                <a:latin typeface="Aptos"/>
              </a:rPr>
              <a:t>the PID keeps the engine well below the 105 °C limit at all times.</a:t>
            </a:r>
          </a:p>
        </p:txBody>
      </p:sp>
      <p:pic>
        <p:nvPicPr>
          <p:cNvPr id="12" name="Picture 11" descr="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222853"/>
            <a:ext cx="4882896" cy="24427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66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2700" b="1">
                <a:solidFill>
                  <a:srgbClr val="1F3652"/>
                </a:solidFill>
                <a:latin typeface="Aptos"/>
              </a:rPr>
              <a:t>6. Results: Zoom on the Load Rise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607040" cy="1828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900" b="0">
                <a:solidFill>
                  <a:srgbClr val="5C6976"/>
                </a:solidFill>
                <a:latin typeface="Aptos"/>
              </a:rPr>
              <a:t>CONTROL SYSTEMS COURSE PROJECT  |  PID THERMAL CONTROL FOR HEAVY-DUTY TRUCKS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37376"/>
            <a:ext cx="502920" cy="2286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r"/>
            <a:r>
              <a:rPr sz="1000" b="0">
                <a:solidFill>
                  <a:srgbClr val="5C6976"/>
                </a:solidFill>
                <a:latin typeface="Aptos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1709" y="1325880"/>
            <a:ext cx="5212080" cy="4526280"/>
          </a:xfrm>
          <a:prstGeom prst="roundRect">
            <a:avLst/>
          </a:prstGeom>
          <a:solidFill>
            <a:srgbClr val="EFF4F8"/>
          </a:solidFill>
          <a:ln>
            <a:solidFill>
              <a:srgbClr val="D8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1185" y="1820088"/>
            <a:ext cx="4882896" cy="3200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600" b="1" dirty="0">
                <a:solidFill>
                  <a:srgbClr val="366991"/>
                </a:solidFill>
                <a:latin typeface="Aptos"/>
              </a:rPr>
              <a:t>FIRST 200 SECONDS</a:t>
            </a:r>
          </a:p>
        </p:txBody>
      </p:sp>
      <p:sp>
        <p:nvSpPr>
          <p:cNvPr id="80" name="Cap"/>
          <p:cNvSpPr txBox="1"/>
          <p:nvPr/>
        </p:nvSpPr>
        <p:spPr>
          <a:xfrm>
            <a:off x="1091185" y="4684263"/>
            <a:ext cx="4882896" cy="3200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100" b="0" dirty="0">
                <a:solidFill>
                  <a:srgbClr val="5C6976"/>
                </a:solidFill>
                <a:latin typeface="Aptos"/>
              </a:rPr>
              <a:t>Fig. 3. Zoom on the first 200 s, while the load rises from 30 to 70 % (MATLAB).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8212" y="1414821"/>
            <a:ext cx="5212080" cy="4526280"/>
          </a:xfrm>
          <a:prstGeom prst="roundRect">
            <a:avLst/>
          </a:prstGeom>
          <a:solidFill>
            <a:srgbClr val="EFF4F8"/>
          </a:solidFill>
          <a:ln>
            <a:solidFill>
              <a:srgbClr val="D8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6684264" y="1820088"/>
            <a:ext cx="4882896" cy="3200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600" b="1" dirty="0">
                <a:solidFill>
                  <a:srgbClr val="366991"/>
                </a:solidFill>
                <a:latin typeface="Aptos"/>
              </a:rPr>
              <a:t>EXPLAIN THE RESULT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2804" y="2173737"/>
            <a:ext cx="4882896" cy="38862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marL="228600" indent="-228600" algn="l">
              <a:spcAft>
                <a:spcPts val="600"/>
              </a:spcAft>
              <a:buFont typeface="Arial"/>
              <a:buChar char="•"/>
            </a:pPr>
            <a:r>
              <a:rPr sz="1450" b="1" dirty="0">
                <a:solidFill>
                  <a:srgbClr val="232A30"/>
                </a:solidFill>
                <a:latin typeface="Aptos"/>
              </a:rPr>
              <a:t>Test: </a:t>
            </a:r>
            <a:r>
              <a:rPr sz="1450" b="0" dirty="0">
                <a:solidFill>
                  <a:srgbClr val="232A30"/>
                </a:solidFill>
                <a:latin typeface="Aptos"/>
              </a:rPr>
              <a:t>load rises linearly from 30 to 70 % between 20 s and 80 s, like a truck starting up a hill.</a:t>
            </a:r>
          </a:p>
          <a:p>
            <a:pPr marL="228600" indent="-228600" algn="l">
              <a:spcAft>
                <a:spcPts val="600"/>
              </a:spcAft>
              <a:buFont typeface="Arial"/>
              <a:buChar char="•"/>
            </a:pPr>
            <a:r>
              <a:rPr sz="1450" b="1" dirty="0">
                <a:solidFill>
                  <a:srgbClr val="232A30"/>
                </a:solidFill>
                <a:latin typeface="Aptos"/>
              </a:rPr>
              <a:t>No PID </a:t>
            </a:r>
            <a:r>
              <a:rPr sz="1450" b="0" dirty="0">
                <a:solidFill>
                  <a:srgbClr val="232A30"/>
                </a:solidFill>
                <a:latin typeface="Aptos"/>
              </a:rPr>
              <a:t>leaves the graph (above 93 °C) at about 85 s and keeps rising.</a:t>
            </a:r>
          </a:p>
          <a:p>
            <a:pPr marL="228600" indent="-228600" algn="l">
              <a:spcAft>
                <a:spcPts val="600"/>
              </a:spcAft>
              <a:buFont typeface="Arial"/>
              <a:buChar char="•"/>
            </a:pPr>
            <a:r>
              <a:rPr sz="1450" b="1" dirty="0">
                <a:solidFill>
                  <a:srgbClr val="232A30"/>
                </a:solidFill>
                <a:latin typeface="Aptos"/>
              </a:rPr>
              <a:t>PID </a:t>
            </a:r>
            <a:r>
              <a:rPr sz="1450" b="0" dirty="0">
                <a:solidFill>
                  <a:srgbClr val="232A30"/>
                </a:solidFill>
                <a:latin typeface="Aptos"/>
              </a:rPr>
              <a:t>peaks at 90.60 °C at about 85 s, just after the load stops rising.</a:t>
            </a:r>
          </a:p>
          <a:p>
            <a:pPr marL="228600" indent="-228600" algn="l">
              <a:spcAft>
                <a:spcPts val="600"/>
              </a:spcAft>
              <a:buFont typeface="Arial"/>
              <a:buChar char="•"/>
            </a:pPr>
            <a:r>
              <a:rPr sz="1450" b="1" dirty="0">
                <a:solidFill>
                  <a:srgbClr val="232A30"/>
                </a:solidFill>
                <a:latin typeface="Aptos"/>
              </a:rPr>
              <a:t>Recovery: </a:t>
            </a:r>
            <a:r>
              <a:rPr sz="1450" b="0" dirty="0">
                <a:solidFill>
                  <a:srgbClr val="232A30"/>
                </a:solidFill>
                <a:latin typeface="Aptos"/>
              </a:rPr>
              <a:t>back within 0.1 K of 90 °C at 159 s. The fan rises from 1.58 to 3.7 kg/s (peak 3.96), below its 4.5 kg/s limit.</a:t>
            </a:r>
          </a:p>
        </p:txBody>
      </p:sp>
      <p:pic>
        <p:nvPicPr>
          <p:cNvPr id="12" name="Picture 11" descr="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560" y="2173737"/>
            <a:ext cx="3430000" cy="247691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66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2700" b="1">
                <a:solidFill>
                  <a:srgbClr val="1F3652"/>
                </a:solidFill>
                <a:latin typeface="Aptos"/>
              </a:rPr>
              <a:t>7. Performance Comparison and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607040" cy="1828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900" b="0">
                <a:solidFill>
                  <a:srgbClr val="5C6976"/>
                </a:solidFill>
                <a:latin typeface="Aptos"/>
              </a:rPr>
              <a:t>CONTROL SYSTEMS COURSE PROJECT  |  PID THERMAL CONTROL FOR HEAVY-DUTY TRUCKS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37376"/>
            <a:ext cx="502920" cy="2286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r"/>
            <a:r>
              <a:rPr sz="1000" b="0">
                <a:solidFill>
                  <a:srgbClr val="5C6976"/>
                </a:solidFill>
                <a:latin typeface="Aptos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34440"/>
            <a:ext cx="10515600" cy="5029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800" b="0">
                <a:solidFill>
                  <a:srgbClr val="5C6976"/>
                </a:solidFill>
                <a:latin typeface="Aptos"/>
              </a:rPr>
              <a:t>Same plant and load: no PID vs PID</a:t>
            </a:r>
          </a:p>
        </p:txBody>
      </p:sp>
      <p:sp>
        <p:nvSpPr>
          <p:cNvPr id="81" name="TblNote"/>
          <p:cNvSpPr txBox="1"/>
          <p:nvPr/>
        </p:nvSpPr>
        <p:spPr>
          <a:xfrm>
            <a:off x="822960" y="4330000"/>
            <a:ext cx="10515600" cy="5029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100" b="0">
                <a:solidFill>
                  <a:srgbClr val="5C6976"/>
                </a:solidFill>
                <a:latin typeface="Aptos"/>
              </a:rPr>
              <a:t>* No PID never settles: it keeps rising towards 170 °C (90 + 40 × 2.0). Settling: time to stay within ±0.1 K of 90 °C.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965960"/>
          <a:ext cx="1051560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6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6312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76312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53721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Controller</a:t>
                      </a:r>
                    </a:p>
                  </a:txBody>
                  <a:tcPr marL="73152" marR="73152" marT="54864" marB="54864">
                    <a:solidFill>
                      <a:srgbClr val="1F36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Peak rise</a:t>
                      </a:r>
                    </a:p>
                  </a:txBody>
                  <a:tcPr marL="73152" marR="73152" marT="54864" marB="54864">
                    <a:solidFill>
                      <a:srgbClr val="1F36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After 30 min</a:t>
                      </a:r>
                    </a:p>
                  </a:txBody>
                  <a:tcPr marL="73152" marR="73152" marT="54864" marB="54864">
                    <a:solidFill>
                      <a:srgbClr val="1F36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Passes 105 °C</a:t>
                      </a:r>
                    </a:p>
                  </a:txBody>
                  <a:tcPr marL="73152" marR="73152" marT="54864" marB="54864">
                    <a:solidFill>
                      <a:srgbClr val="1F36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Settling (±0.1 K)</a:t>
                      </a:r>
                    </a:p>
                  </a:txBody>
                  <a:tcPr marL="73152" marR="73152" marT="54864" marB="54864">
                    <a:solidFill>
                      <a:srgbClr val="1F36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Offset</a:t>
                      </a:r>
                    </a:p>
                  </a:txBody>
                  <a:tcPr marL="73152" marR="73152" marT="54864" marB="54864">
                    <a:solidFill>
                      <a:srgbClr val="1F36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A30"/>
                          </a:solidFill>
                          <a:latin typeface="Aptos"/>
                        </a:rPr>
                        <a:t>No PID</a:t>
                      </a:r>
                    </a:p>
                  </a:txBody>
                  <a:tcPr marL="73152" marR="73152" marT="54864" marB="54864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A30"/>
                          </a:solidFill>
                          <a:latin typeface="Aptos"/>
                        </a:rPr>
                        <a:t>69.8 K</a:t>
                      </a:r>
                    </a:p>
                  </a:txBody>
                  <a:tcPr marL="73152" marR="73152" marT="54864" marB="54864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A30"/>
                          </a:solidFill>
                          <a:latin typeface="Aptos"/>
                        </a:rPr>
                        <a:t>159.8 °C</a:t>
                      </a:r>
                    </a:p>
                  </a:txBody>
                  <a:tcPr marL="73152" marR="73152" marT="54864" marB="54864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A30"/>
                          </a:solidFill>
                          <a:latin typeface="Aptos"/>
                        </a:rPr>
                        <a:t>after 227 s</a:t>
                      </a:r>
                    </a:p>
                  </a:txBody>
                  <a:tcPr marL="73152" marR="73152" marT="54864" marB="54864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A30"/>
                          </a:solidFill>
                          <a:latin typeface="Aptos"/>
                        </a:rPr>
                        <a:t>never*</a:t>
                      </a:r>
                    </a:p>
                  </a:txBody>
                  <a:tcPr marL="73152" marR="73152" marT="54864" marB="54864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A30"/>
                          </a:solidFill>
                          <a:latin typeface="Aptos"/>
                        </a:rPr>
                        <a:t>69.8 K</a:t>
                      </a:r>
                    </a:p>
                  </a:txBody>
                  <a:tcPr marL="73152" marR="73152" marT="54864" marB="54864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32A30"/>
                          </a:solidFill>
                          <a:latin typeface="Aptos"/>
                        </a:rPr>
                        <a:t>PID</a:t>
                      </a:r>
                    </a:p>
                  </a:txBody>
                  <a:tcPr marL="73152" marR="73152" marT="54864" marB="54864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32A30"/>
                          </a:solidFill>
                          <a:latin typeface="Aptos"/>
                        </a:rPr>
                        <a:t>0.60 K</a:t>
                      </a:r>
                    </a:p>
                  </a:txBody>
                  <a:tcPr marL="73152" marR="73152" marT="54864" marB="54864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32A30"/>
                          </a:solidFill>
                          <a:latin typeface="Aptos"/>
                        </a:rPr>
                        <a:t>90.00 °C</a:t>
                      </a:r>
                    </a:p>
                  </a:txBody>
                  <a:tcPr marL="73152" marR="73152" marT="54864" marB="54864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32A30"/>
                          </a:solidFill>
                          <a:latin typeface="Aptos"/>
                        </a:rPr>
                        <a:t>never</a:t>
                      </a:r>
                    </a:p>
                  </a:txBody>
                  <a:tcPr marL="73152" marR="73152" marT="54864" marB="54864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32A30"/>
                          </a:solidFill>
                          <a:latin typeface="Aptos"/>
                        </a:rPr>
                        <a:t>159 s</a:t>
                      </a:r>
                    </a:p>
                  </a:txBody>
                  <a:tcPr marL="73152" marR="73152" marT="54864" marB="54864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32A30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73152" marR="73152" marT="54864" marB="54864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68680" y="4800000"/>
            <a:ext cx="10424160" cy="9144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marL="228600" indent="-228600" algn="l">
              <a:spcAft>
                <a:spcPts val="600"/>
              </a:spcAft>
              <a:buFont typeface="Arial"/>
              <a:buChar char="•"/>
            </a:pPr>
            <a:r>
              <a:rPr sz="1450" b="1">
                <a:solidFill>
                  <a:srgbClr val="232A30"/>
                </a:solidFill>
                <a:latin typeface="Aptos"/>
              </a:rPr>
              <a:t>The PID removes the offset </a:t>
            </a:r>
            <a:r>
              <a:rPr sz="1450" b="0">
                <a:solidFill>
                  <a:srgbClr val="232A30"/>
                </a:solidFill>
                <a:latin typeface="Aptos"/>
              </a:rPr>
              <a:t>(0 K vs 69.8 K with no PID) and keeps the peak to 0.60 K. </a:t>
            </a:r>
            <a:r>
              <a:rPr sz="1450" b="1">
                <a:solidFill>
                  <a:srgbClr val="232A30"/>
                </a:solidFill>
                <a:latin typeface="Aptos"/>
              </a:rPr>
              <a:t>Fan effort: </a:t>
            </a:r>
            <a:r>
              <a:rPr sz="1450" b="0">
                <a:solidFill>
                  <a:srgbClr val="232A30"/>
                </a:solidFill>
                <a:latin typeface="Aptos"/>
              </a:rPr>
              <a:t>the fan air flow rises from 1.58 to 3.7 kg/s, within its 4.5 kg/s limit. [2]</a:t>
            </a:r>
          </a:p>
          <a:p>
            <a:pPr marL="228600" indent="-228600" algn="l">
              <a:spcAft>
                <a:spcPts val="600"/>
              </a:spcAft>
              <a:buFont typeface="Arial"/>
              <a:buChar char="•"/>
            </a:pPr>
            <a:r>
              <a:rPr sz="1450" b="1">
                <a:solidFill>
                  <a:srgbClr val="232A30"/>
                </a:solidFill>
                <a:latin typeface="Aptos"/>
              </a:rPr>
              <a:t>Limitations: </a:t>
            </a:r>
            <a:r>
              <a:rPr sz="1450" b="0">
                <a:solidFill>
                  <a:srgbClr val="232A30"/>
                </a:solidFill>
                <a:latin typeface="Aptos"/>
              </a:rPr>
              <a:t>linear one-mass model; data from different published sources (truck engine, bus radiator); 60 s load ramp chosen by us; simulation only.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66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2700" b="1">
                <a:solidFill>
                  <a:srgbClr val="1F3652"/>
                </a:solidFill>
                <a:latin typeface="Aptos"/>
              </a:rPr>
              <a:t>8. Conclusion and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607040" cy="1828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900" b="0">
                <a:solidFill>
                  <a:srgbClr val="5C6976"/>
                </a:solidFill>
                <a:latin typeface="Aptos"/>
              </a:rPr>
              <a:t>CONTROL SYSTEMS COURSE PROJECT  |  PID THERMAL CONTROL FOR HEAVY-DUTY TRUCKS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37376"/>
            <a:ext cx="502920" cy="2286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r"/>
            <a:r>
              <a:rPr sz="1000" b="0">
                <a:solidFill>
                  <a:srgbClr val="5C6976"/>
                </a:solidFill>
                <a:latin typeface="Apto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12080" cy="4297680"/>
          </a:xfrm>
          <a:prstGeom prst="roundRect">
            <a:avLst/>
          </a:prstGeom>
          <a:solidFill>
            <a:srgbClr val="EFF4F8"/>
          </a:solidFill>
          <a:ln>
            <a:solidFill>
              <a:srgbClr val="D8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97864" y="1851660"/>
            <a:ext cx="4882896" cy="3200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600" b="1" dirty="0">
                <a:solidFill>
                  <a:srgbClr val="366991"/>
                </a:solidFill>
                <a:latin typeface="Aptos"/>
              </a:rP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282952"/>
            <a:ext cx="4882896" cy="36576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marL="228600" indent="-228600" algn="l">
              <a:spcAft>
                <a:spcPts val="600"/>
              </a:spcAft>
              <a:buFont typeface="Arial"/>
              <a:buChar char="•"/>
            </a:pPr>
            <a:r>
              <a:rPr sz="1400" b="0" dirty="0">
                <a:solidFill>
                  <a:srgbClr val="232A30"/>
                </a:solidFill>
                <a:latin typeface="Aptos"/>
              </a:rPr>
              <a:t>Modelled the cooling system with two transfer functions built only from published data, and tuned the PID with the SIMC rule.</a:t>
            </a:r>
          </a:p>
          <a:p>
            <a:pPr marL="228600" indent="-228600" algn="l">
              <a:spcAft>
                <a:spcPts val="600"/>
              </a:spcAft>
              <a:buFont typeface="Arial"/>
              <a:buChar char="•"/>
            </a:pPr>
            <a:r>
              <a:rPr sz="1400" b="0" dirty="0">
                <a:solidFill>
                  <a:srgbClr val="232A30"/>
                </a:solidFill>
                <a:latin typeface="Aptos"/>
              </a:rPr>
              <a:t>Load 30 → 70 % in 60 s: with the PID the coolant peaks at 90.60 °C and returns to 90 °C with zero offset (within 0.1 K at 159 s).</a:t>
            </a:r>
          </a:p>
          <a:p>
            <a:pPr marL="228600" indent="-228600" algn="l">
              <a:spcAft>
                <a:spcPts val="600"/>
              </a:spcAft>
              <a:buFont typeface="Arial"/>
              <a:buChar char="•"/>
            </a:pPr>
            <a:r>
              <a:rPr sz="1400" b="0" dirty="0">
                <a:solidFill>
                  <a:srgbClr val="232A30"/>
                </a:solidFill>
                <a:latin typeface="Aptos"/>
              </a:rPr>
              <a:t>With no PID the engine passes 105 °C after about 4 minutes and reaches 160 °C after 30 minutes.</a:t>
            </a:r>
          </a:p>
          <a:p>
            <a:pPr marL="228600" indent="-228600" algn="l">
              <a:spcAft>
                <a:spcPts val="600"/>
              </a:spcAft>
              <a:buFont typeface="Arial"/>
              <a:buChar char="•"/>
            </a:pPr>
            <a:r>
              <a:rPr sz="1400" b="0" dirty="0">
                <a:solidFill>
                  <a:srgbClr val="232A30"/>
                </a:solidFill>
                <a:latin typeface="Aptos"/>
              </a:rPr>
              <a:t>Scope: linear model, simulation only, data from published sources.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4297680"/>
          </a:xfrm>
          <a:prstGeom prst="roundRect">
            <a:avLst/>
          </a:prstGeom>
          <a:solidFill>
            <a:srgbClr val="EFF4F8"/>
          </a:solidFill>
          <a:ln>
            <a:solidFill>
              <a:srgbClr val="D8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84264" y="1871003"/>
            <a:ext cx="4882896" cy="3200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600" b="1" dirty="0">
                <a:solidFill>
                  <a:srgbClr val="366991"/>
                </a:solidFill>
                <a:latin typeface="Aptos"/>
              </a:rPr>
              <a:t>FUTURE 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2804" y="2282952"/>
            <a:ext cx="4882896" cy="36576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marL="228600" indent="-228600" algn="l">
              <a:spcAft>
                <a:spcPts val="700"/>
              </a:spcAft>
              <a:buFont typeface="Arial"/>
              <a:buChar char="•"/>
            </a:pPr>
            <a:r>
              <a:rPr sz="1450" b="0">
                <a:solidFill>
                  <a:srgbClr val="232A30"/>
                </a:solidFill>
                <a:latin typeface="Aptos"/>
              </a:rPr>
              <a:t>Add the radiator and oil temperatures and the valve, pump and fan split range to the model.</a:t>
            </a:r>
          </a:p>
          <a:p>
            <a:pPr marL="228600" indent="-228600" algn="l">
              <a:spcAft>
                <a:spcPts val="700"/>
              </a:spcAft>
              <a:buFont typeface="Arial"/>
              <a:buChar char="•"/>
            </a:pPr>
            <a:r>
              <a:rPr sz="1450" b="0">
                <a:solidFill>
                  <a:srgbClr val="232A30"/>
                </a:solidFill>
                <a:latin typeface="Aptos"/>
              </a:rPr>
              <a:t>Validate the model with measurements from a real engine.</a:t>
            </a:r>
          </a:p>
          <a:p>
            <a:pPr marL="228600" indent="-228600" algn="l">
              <a:spcAft>
                <a:spcPts val="700"/>
              </a:spcAft>
              <a:buFont typeface="Arial"/>
              <a:buChar char="•"/>
            </a:pPr>
            <a:r>
              <a:rPr sz="1450" b="0">
                <a:solidFill>
                  <a:srgbClr val="232A30"/>
                </a:solidFill>
                <a:latin typeface="Aptos"/>
              </a:rPr>
              <a:t>Try a predictive controller (MPC) that uses the road ahead to save fan energy.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66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2700" b="1">
                <a:solidFill>
                  <a:srgbClr val="1F3652"/>
                </a:solidFill>
                <a:latin typeface="Aptos"/>
              </a:rPr>
              <a:t>9. MATLAB Program (1/3)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607040" cy="1828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900" b="0">
                <a:solidFill>
                  <a:srgbClr val="5C6976"/>
                </a:solidFill>
                <a:latin typeface="Aptos"/>
              </a:rPr>
              <a:t>CONTROL SYSTEMS COURSE PROJECT  |  PID THERMAL CONTROL FOR HEAVY-DUTY TRUCKS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37376"/>
            <a:ext cx="502920" cy="2286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r"/>
            <a:r>
              <a:rPr sz="1000" b="0">
                <a:solidFill>
                  <a:srgbClr val="5C6976"/>
                </a:solidFill>
                <a:latin typeface="Aptos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80160"/>
            <a:ext cx="10515600" cy="2618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%% PID Temperature Control of a Truck Engine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% How the coolant temperature changes when the engine load goes up,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% first with no controller, then with a PID controller.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% Sushanth Bibi (24BME0501), Ganishk Mohanraj (24BME0500)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%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% Sources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% [1] Volvo Trucks, Fact sheet D13C460 EU5SCR-M, 2010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% [2] G. S. Rosa et al., "Dimensioning procedure of coolant radiators for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%     trucks and buses", COBEM 2009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% [3] M. Mohamed et al., "Performance of electronically controlled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%     automotive engine cooling system using PID and LQR control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%     techniques", IOSR J. Engineering 8(6), 2018, pp. 16-25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% [4] A. Haury, J. Volkering, "Modelisation of the engine coolant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%     warming-up behavior", MSc thesis 2011:13, Chalmers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% [5] Engineering ToolBox, specific heat and density tables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% [6] S. Skogestad, "Simple analytic rules for model reduction and PID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%     controller tuning", J. Process Control 13 (2003) 291-309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 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clc;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clear;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close all;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 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%% Data from the sources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P     = 338;        % engine power [kW]                       [1]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m_eng = 1121;       % engine dry weight [kg]                  [1]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V_c   = 38;         % coolant volume [L]                      [1]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V_o   = 33;         % oil volume [L]                          [1]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cp_fe = 0.46;       % cast iron [kJ/kg K]                     [5]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rho_w = 0.96531;    % water at 90 °C [kg/L]                   [5]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cp_w  = 4.2053;     % water at 90 °C [kJ/kg K]                [5]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rho_o = 0.900;      % lubricating oil [kg/L]                  [5]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cp_o  = 1.67;       % mineral oil [kJ/kg K]                   [5]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cp_a  = 1.006;      % air [kJ/kg K]                           [5]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beta  = 0.5;        % heat to coolant / engine power (0.45-0.55) [2]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m_w   = 3.25;       % coolant flow [kg/s]                     [2]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T_w   = 100;        % radiator rating: water in [°C]          [2]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T_a   = 30;         % radiator rating: air in [°C]            [2]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% Fan air flow = where system curve meets fan curve, Fig. 6 of [2]: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%   system: 25.105x^2 + 76.084x - 3.7131,   fan: -1.9147x^2 - 457.51x + 2945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mf_max = max(roots([25.105+1.9147, 76.084+457.51, -3.7131-2945]));   % = 4.50 kg/s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 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%% Transfer function numbers from the energy balance [3]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% Block + coolant + oil as one mass [4]: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%   C_th*dT/dt = Q_engine - eff*m_fan*cp_a*(T - T_a)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66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2700" b="1">
                <a:solidFill>
                  <a:srgbClr val="1F3652"/>
                </a:solidFill>
                <a:latin typeface="Aptos"/>
              </a:rPr>
              <a:t>9. MATLAB Program (2/3)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607040" cy="1828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900" b="0">
                <a:solidFill>
                  <a:srgbClr val="5C6976"/>
                </a:solidFill>
                <a:latin typeface="Aptos"/>
              </a:rPr>
              <a:t>CONTROL SYSTEMS COURSE PROJECT  |  PID THERMAL CONTROL FOR HEAVY-DUTY TRUCKS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37376"/>
            <a:ext cx="502920" cy="2286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r"/>
            <a:r>
              <a:rPr sz="1000" b="0">
                <a:solidFill>
                  <a:srgbClr val="5C6976"/>
                </a:solidFill>
                <a:latin typeface="Aptos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80160"/>
            <a:ext cx="10515600" cy="2618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C_th  = m_eng*cp_fe + V_c*rho_w*cp_w + V_o*rho_o*cp_o;   % heat capacity [kJ/K]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eff   = beta*P/(mf_max*cp_a*(T_w - T_a));               % radiator effectiveness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H     = beta*P*0.30/(90 - T_a);                         % heat removed per K at 90 °C, 30 % load [kW/K]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tau_c = C_th/H;                                         % engine time constant [s]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tau_r = V_c*rho_w/m_w;                                  % coolant loop time [s]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K_fan = eff*cp_a*(90 - T_a)/H;                          % K per kg/s of fan air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K_load = beta*P/100/H;                                  % K per % load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 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%% Plant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% Fan path:  fan air flow [kg/s] -&gt; coolant temperature [K]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num = K_fan;                        % = 38.1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den = conv([tau_c 1],[tau_r 1]);    % (851s+1)(11.3s+1)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G = tf(num, den)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 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% Load path: engine load [%] -&gt; coolant temperature [K]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numd = K_load;                      % = 2.0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dend = [tau_c 1];                   % (851s+1)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Gd = tf(numd, dend)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 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%% PID controller (SIMC tuning rule [6])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Kc   = tau_c/(K_fan*tau_r);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tauI = min(tau_c, 4*tau_r);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tauD = tau_r;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Kp = Kc*(1 + tauD/tauI)             % = 2.48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Ki = Kp/(tauI + tauD)               % = 0.044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Kd = Kp*tauI*tauD/(tauI + tauD)     % = 22.4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C = tf(Kp, 1) + tf(Ki, [1 0]) + tf([Kd 0], [0.01 1]);   % Kp + Ki/s + Kd*s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 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%% Engine load: 30 % for 20 s, then rises linearly to 70 % over 60 s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t = (0:0.5:1800)';              % 30 minutes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t_ramp = 60;                    % time for the load to rise [s]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dL = 40*min(max(t - 20, 0)/t_ramp, 1);   % change in load from 30 % [%]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load_pct = 30 + dL;             % engine load [%]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 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% Without PID: load -&gt; temperature = Gd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T_noPID = lsim(Gd, dL, t);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 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% With PID: load -&gt; temperature = Gd / (1 + C*G)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D = Gd * feedback(1, C*G);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T_PID = lsim(D, dL, t);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 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%% Figure 1: 30 minutes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figure;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yyaxis left;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66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2700" b="1">
                <a:solidFill>
                  <a:srgbClr val="1F3652"/>
                </a:solidFill>
                <a:latin typeface="Aptos"/>
              </a:rPr>
              <a:t>9. MATLAB Program (3/3)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607040" cy="1828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900" b="0">
                <a:solidFill>
                  <a:srgbClr val="5C6976"/>
                </a:solidFill>
                <a:latin typeface="Aptos"/>
              </a:rPr>
              <a:t>CONTROL SYSTEMS COURSE PROJECT  |  PID THERMAL CONTROL FOR HEAVY-DUTY TRUCKS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37376"/>
            <a:ext cx="502920" cy="2286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r"/>
            <a:r>
              <a:rPr sz="1000" b="0">
                <a:solidFill>
                  <a:srgbClr val="5C6976"/>
                </a:solidFill>
                <a:latin typeface="Aptos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80160"/>
            <a:ext cx="10515600" cy="2618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plot(t, 90 + T_noPID, 'r-', t, 90 + T_PID, 'b-', 'LineWidth', 2);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hold on;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plot(t, 90*ones(size(t)), 'k--', t, 105*ones(size(t)), 'm:');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ylabel('Coolant temperature (°C)');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ylim([80 180]);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yyaxis right;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plot(t, load_pct, 'g-', 'LineWidth', 1.5);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ylabel('Engine load (%)');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ylim([0 100]);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grid on;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xlim([0 1800]);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title('No PID vs PID');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xlabel('Time (s)');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legend('No PID', 'With PID', 'Set-point 90 °C', 'Limit 105 °C', 'Engine load', 'Location', 'east');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 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%% Figure 2: zoom on the load increase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figure;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yyaxis left;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plot(t, 90 + T_noPID, 'r-', t, 90 + T_PID, 'b-', 'LineWidth', 2.5);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hold on;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plot(t, 90*ones(size(t)), 'k--');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ylabel('Coolant temperature (°C)');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ylim([89.8 93]);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yyaxis right;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plot(t, load_pct, 'g-', 'LineWidth', 1.5);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ylabel('Engine load (%)');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ylim([0 100]);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grid on;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xlim([0 200]);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title('Zoom: while the load goes up');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xlabel('Time (s)');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legend('No PID', 'With PID', 'Set-point 90 °C', 'Engine load', 'Location', 'east');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 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%% Results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disp(['No PID:   temperature after 30 min = ', num2str(90 + T_noPID(end), '%5.1f'), ' °C']);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disp(['With PID: highest temperature      = ', num2str(90 + max(T_PID), '%5.2f'), ' °C']);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disp(['With PID: temperature after 30 min = ', num2str(90 + T_PID(end), '%5.2f'), ' °C']);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poles = pole(feedback(C*G, 1))   % all negative real parts -&gt; stable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 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% Inference: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% Without a PID, the extra load keeps heating the engine: it passes the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% 105 °C limit after about 4 minutes and keeps rising. With the PID, the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% temperature rises by only 0.6 °C while the load goes up, and is back at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 dirty="0">
                <a:solidFill>
                  <a:srgbClr val="232A30"/>
                </a:solidFill>
                <a:latin typeface="Courier New"/>
              </a:rPr>
              <a:t>% exactly 90 °C about 80 s after the load stops rising.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66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2700" b="1">
                <a:solidFill>
                  <a:srgbClr val="1F3652"/>
                </a:solidFill>
                <a:latin typeface="Aptos"/>
              </a:rPr>
              <a:t>10. References and Acknowledgment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607040" cy="1828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900" b="0">
                <a:solidFill>
                  <a:srgbClr val="5C6976"/>
                </a:solidFill>
                <a:latin typeface="Aptos"/>
              </a:rPr>
              <a:t>CONTROL SYSTEMS COURSE PROJECT  |  PID THERMAL CONTROL FOR HEAVY-DUTY TRUCKS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37376"/>
            <a:ext cx="502920" cy="2286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r"/>
            <a:r>
              <a:rPr sz="1000" b="0">
                <a:solidFill>
                  <a:srgbClr val="5C6976"/>
                </a:solidFill>
                <a:latin typeface="Aptos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5212080" cy="4526280"/>
          </a:xfrm>
          <a:prstGeom prst="roundRect">
            <a:avLst/>
          </a:prstGeom>
          <a:solidFill>
            <a:srgbClr val="EFF4F8"/>
          </a:solidFill>
          <a:ln>
            <a:solidFill>
              <a:srgbClr val="D8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0704" y="1938528"/>
            <a:ext cx="4882896" cy="3200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600" b="1" dirty="0">
                <a:solidFill>
                  <a:srgbClr val="366991"/>
                </a:solidFill>
                <a:latin typeface="Aptos"/>
              </a:rPr>
              <a:t>REFERENCES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1635" y="2276856"/>
            <a:ext cx="4882896" cy="3761543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en-IN" sz="1200" b="0" dirty="0">
                <a:solidFill>
                  <a:srgbClr val="232A30"/>
                </a:solidFill>
                <a:latin typeface="Aptos"/>
              </a:rPr>
              <a:t>[1] Volvo Trucks, “Fact sheet D13C460 EU5SCR-M,” 2010.</a:t>
            </a:r>
          </a:p>
          <a:p>
            <a:pPr algn="l">
              <a:spcAft>
                <a:spcPts val="400"/>
              </a:spcAft>
            </a:pPr>
            <a:r>
              <a:rPr lang="en-IN" sz="1200" b="0" dirty="0">
                <a:solidFill>
                  <a:srgbClr val="232A30"/>
                </a:solidFill>
                <a:latin typeface="Aptos"/>
              </a:rPr>
              <a:t>[2] G. S. Rosa et al., “Dimensioning procedure of coolant radiators for trucks and buses,” COBEM, 2009.</a:t>
            </a:r>
          </a:p>
          <a:p>
            <a:pPr algn="l">
              <a:spcAft>
                <a:spcPts val="400"/>
              </a:spcAft>
            </a:pPr>
            <a:r>
              <a:rPr lang="en-IN" sz="1200" b="0" dirty="0">
                <a:solidFill>
                  <a:srgbClr val="232A30"/>
                </a:solidFill>
                <a:latin typeface="Aptos"/>
              </a:rPr>
              <a:t>[3] M. Mohamed et al., “Performance of electronically controlled automotive engine cooling system using PID and LQR control techniques,” IOSR J. Engineering, vol. 8, no. 6, pp. 16–25, 2018.</a:t>
            </a:r>
          </a:p>
          <a:p>
            <a:pPr algn="l">
              <a:spcAft>
                <a:spcPts val="400"/>
              </a:spcAft>
            </a:pPr>
            <a:r>
              <a:rPr lang="en-IN" sz="1200" b="0" dirty="0">
                <a:solidFill>
                  <a:srgbClr val="232A30"/>
                </a:solidFill>
                <a:latin typeface="Aptos"/>
              </a:rPr>
              <a:t>[4] A. Haury and J. Volkering, “Modelisation of the engine coolant warming-up behavior,” MSc thesis 2011:13, Chalmers.</a:t>
            </a:r>
          </a:p>
          <a:p>
            <a:pPr algn="l">
              <a:spcAft>
                <a:spcPts val="400"/>
              </a:spcAft>
            </a:pPr>
            <a:r>
              <a:rPr lang="en-IN" sz="1200" b="0" dirty="0">
                <a:solidFill>
                  <a:srgbClr val="232A30"/>
                </a:solidFill>
                <a:latin typeface="Aptos"/>
              </a:rPr>
              <a:t>[5] Engineering ToolBox, property tables (specific heat, density).</a:t>
            </a:r>
          </a:p>
          <a:p>
            <a:pPr algn="l">
              <a:spcAft>
                <a:spcPts val="400"/>
              </a:spcAft>
            </a:pPr>
            <a:r>
              <a:rPr lang="en-IN" sz="1200" b="0" dirty="0">
                <a:solidFill>
                  <a:srgbClr val="232A30"/>
                </a:solidFill>
                <a:latin typeface="Aptos"/>
              </a:rPr>
              <a:t>[6] S. Skogestad, “Simple analytic rules for model reduction and PID controller tuning,” J. Process Control, vol. 13, pp. 291–309, 2003.</a:t>
            </a:r>
          </a:p>
          <a:p>
            <a:pPr algn="l">
              <a:spcAft>
                <a:spcPts val="400"/>
              </a:spcAft>
            </a:pPr>
            <a:r>
              <a:rPr lang="en-IN" sz="1200" b="0" dirty="0">
                <a:solidFill>
                  <a:srgbClr val="232A30"/>
                </a:solidFill>
                <a:latin typeface="Aptos"/>
              </a:rPr>
              <a:t>[7] N. S. Nise, Control Systems Engineering.</a:t>
            </a:r>
          </a:p>
          <a:p>
            <a:pPr algn="l">
              <a:spcAft>
                <a:spcPts val="400"/>
              </a:spcAft>
            </a:pPr>
            <a:r>
              <a:rPr lang="en-IN" sz="1200" b="0" dirty="0">
                <a:solidFill>
                  <a:srgbClr val="232A30"/>
                </a:solidFill>
                <a:latin typeface="Aptos"/>
              </a:rPr>
              <a:t>[8] MathWorks, MATLAB Control System Toolbox documentation (tf, feedback, lsim, pole).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25880"/>
            <a:ext cx="5212080" cy="4526280"/>
          </a:xfrm>
          <a:prstGeom prst="roundRect">
            <a:avLst/>
          </a:prstGeom>
          <a:solidFill>
            <a:srgbClr val="EFF4F8"/>
          </a:solidFill>
          <a:ln>
            <a:solidFill>
              <a:srgbClr val="D8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84264" y="1910040"/>
            <a:ext cx="4882896" cy="3200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600" b="1" dirty="0">
                <a:solidFill>
                  <a:srgbClr val="366991"/>
                </a:solidFill>
                <a:latin typeface="Aptos"/>
              </a:rPr>
              <a:t>ACKNOWLEDGMENT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7376" y="2240280"/>
            <a:ext cx="4882896" cy="1350626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marL="228600" indent="-228600" algn="l">
              <a:spcAft>
                <a:spcPts val="700"/>
              </a:spcAft>
              <a:buFont typeface="Arial"/>
              <a:buChar char="•"/>
            </a:pPr>
            <a:r>
              <a:rPr sz="1450" b="0" dirty="0">
                <a:solidFill>
                  <a:srgbClr val="232A30"/>
                </a:solidFill>
                <a:latin typeface="Aptos"/>
              </a:rPr>
              <a:t>[Project guide</a:t>
            </a:r>
            <a:r>
              <a:rPr lang="en-US" sz="1450" b="0" dirty="0">
                <a:solidFill>
                  <a:srgbClr val="232A30"/>
                </a:solidFill>
                <a:latin typeface="Aptos"/>
              </a:rPr>
              <a:t> : The authors acknowledge the guidance provided by Dr. Geetha M.</a:t>
            </a:r>
            <a:endParaRPr sz="1450" b="0" dirty="0">
              <a:solidFill>
                <a:srgbClr val="232A30"/>
              </a:solidFill>
              <a:latin typeface="Aptos"/>
            </a:endParaRPr>
          </a:p>
          <a:p>
            <a:pPr marL="228600" indent="-228600" algn="l">
              <a:spcAft>
                <a:spcPts val="700"/>
              </a:spcAft>
              <a:buFont typeface="Arial"/>
              <a:buChar char="•"/>
            </a:pPr>
            <a:r>
              <a:rPr sz="1450" b="0" dirty="0">
                <a:solidFill>
                  <a:srgbClr val="232A30"/>
                </a:solidFill>
                <a:latin typeface="Aptos"/>
              </a:rPr>
              <a:t>Code: </a:t>
            </a:r>
            <a:r>
              <a:rPr sz="1450" b="0" dirty="0" err="1">
                <a:solidFill>
                  <a:srgbClr val="232A30"/>
                </a:solidFill>
                <a:latin typeface="Aptos"/>
              </a:rPr>
              <a:t>pid_truck_cooling.m</a:t>
            </a:r>
            <a:r>
              <a:rPr sz="1450" b="0" dirty="0">
                <a:solidFill>
                  <a:srgbClr val="232A30"/>
                </a:solidFill>
                <a:latin typeface="Aptos"/>
              </a:rPr>
              <a:t> (MATLAB), listed in full in Section 9.</a:t>
            </a:r>
          </a:p>
          <a:p>
            <a:pPr marL="228600" indent="-228600" algn="l">
              <a:spcAft>
                <a:spcPts val="700"/>
              </a:spcAft>
              <a:buFont typeface="Arial"/>
              <a:buChar char="•"/>
            </a:pPr>
            <a:r>
              <a:rPr sz="1450" b="0" dirty="0">
                <a:solidFill>
                  <a:srgbClr val="232A30"/>
                </a:solidFill>
                <a:latin typeface="Aptos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1897</Words>
  <Application>Microsoft Office PowerPoint</Application>
  <PresentationFormat>Widescreen</PresentationFormat>
  <Paragraphs>147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Ganishk Mohanraj</cp:lastModifiedBy>
  <cp:revision>5</cp:revision>
  <dcterms:created xsi:type="dcterms:W3CDTF">2013-01-27T09:14:16Z</dcterms:created>
  <dcterms:modified xsi:type="dcterms:W3CDTF">2026-10-15T08:45:58Z</dcterms:modified>
  <cp:category/>
</cp:coreProperties>
</file>