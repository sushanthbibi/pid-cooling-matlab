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Simulink and designed a PID controller that keeps the engine at 90 °C, then compared it with the cooling system trucks use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and simplify it to two transfer functions, one for the cooling command and one for the engine load. Second, design a PID controller with a derivative filter, an output limit and anti-windup. Third, simulate two classic tests in MATLAB, a set-point step and a load step, and build the same loop in Simulink. Fourth, compare P only, PI and PID using offset, peak and settling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Following the Chalmers thesis by Haury and Volkering, we lump the engine block, the coolant and the oil into one mass with one temperature, T_c, the one we control. Using the Volvo D13 data, that mass has a heat capacity of 720 kJ per kelvin, which gives a long lag of about 851 seconds. The radiator is not a separate temperature: the coolant takes 38 litres divided by 3.25 kg per second, about 11.3 seconds, to go round the loop, and we model that as a short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 energy balance from Mohamed et al., IOSR 2018: heat capacity times the rate of temperature change equals the heat from the engine minus the heat the fan removes, where the fan heat is effectiveness times air flow times air specific heat times the temperature difference. Every number comes from a source. The engine is the Volvo D13: 338 kW, 1121 kg, 38 litres of coolant and 33 litres of oil. With textbook specific heats, block plus coolant plus oil gives 720 kJ per kelvin. From the COBEM 2009 truck and bus paper, half of the engine power goes into the coolant, so 1 % load is 1.69 kW; the radiator is rated at 100 °C water and 30 °C air; the coolant flow is 3.25 kg per second; and the fan can move 4.5 kg per second of air. At 90 °C and 30 % load the fan needs 1.58 kg per second, which removes 0.845 kW per kelvin. The time constant is 720 divided by 0.845, which is 851 seconds. The gains come out as 38 K per kg per second of fan air and 2.0 K per percent of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textbook PID needs three additions on a real system. First, split range: in a full system one PID output is shared across valve, pump and fan in order of energy cost. In our model the pump runs at the fixed 3.25 kg per second from the COBEM paper and the PID drives the fan only, between 0 and 4.5 kg per second of air. Second, anti-windup: when the fan is at its limit, the integral stops adding up; in Simulink this is the clamping option of the PID block. Third, a filter on the derivative so sensor noise does not make the fan jitter; we use Simulink's default filter coefficient N = 100. The gains come from the SIMC tuning rule by Skogestad, 2003. Skogestad recommends a closed-loop time constant equal to the delay for tight control, so we use the 11.3-second loop time. The rule gives Kc = 851 / (38.1 × 11.3) = 1.98, integral time 4 × 11.3 = 45 seconds and derivative time 11.3 seconds. In parallel form that is Kp 2.48, Ki 0.044 and Kd 22.4, in kg/s of fan air per kelvin.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in one file, pid_truck_cooling.m, split into sections. The first section lists every published number with a reference tag in square brackets. The next section calculates the heat capacity, time constants and gains from those numbers with the energy balance, and the PID gains with the SIMC rule, so no number is typed in without a source. Then the plant transfer functions are defined with num, den and tf, and the three controllers P, PI and PID. feedback() closes the loop, and pole() prints the closed-loop poles: all of them are in the left half of the s-plane, so all three loops are stable. Experiment 1 is a set-point step analysed with step() and stepinfo(). Experiment 2 is a load step, where we find the settling time by walking backwards from the end of the response, the same method as in the time-domain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same loop by hand in Simulink. The Step block gives the set-point, 90 °C, stepping to 95 °C at 1200 seconds. The Sum block subtracts the set-point from the coolant temperature to get the error. The PID Controller block has the same SIMC gains as the MATLAB code, Simulink's default filter coefficient of 100, output limits and clamping anti-windup. The limits are minus 1.58 and 2.92 because the block outputs the change from the normal fan flow of 1.58 kg per second, so the real fan flow stays between 0 and 4.5. The fan transfer function has a minus sign because more air lowers the temperature. A second Step adds 40 % engine load at 600 seconds through Gd(s). The plant output is 90 plus the two effects, and it is fed back to the error block. The Scope shows the temperature and the fan air flow. [Add a screenshot of the model and the Scope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test, the one that matters most for a truck. At time zero the engine load jumps from 30 to 70 percent, as if the truck hits a hill, which adds 68 kW of heat to the coolant. P only settles about 0.8 degrees too hot and stays there: that is the steady-state offset the final value theorem predicts, 40 × 2.0 / (1 + 2.48 × 38.1). It is also why today's wax thermostat, which is a mechanical P controller, never reaches its target. Adding the integral term brings the temperature back to exactly 90 °C in under two minutes. Adding the derivative term cuts the peak from 1.10 to 0.77 K, about 30 % lower. Settling time here is the time to stay within ±0.1 K. During this test the PID raises the fan air flow from 1.58 to about 3.7 kg per second, peaking at 4.0, still below the fan's limit of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test: we change the target from 90 to 95 °C and compare P only, PI and PID, using step() and stepinfo() in MATLAB. P only stops 0.05 K short of 95 °C: a small steady-state offset, small because the plant gain is large. PI removes the offset but overshoots by 41 %. The full PID removes the offset and cuts the overshoot to 12.6 %, settling within 2 % in about 121 seconds. The closed-loop poles printed by pole() all have negative real parts, so all three loops are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PID holds the engine at 90 °C with no steady-state offset. A P-only controller, which is how today's wax thermostat behaves, stays about 0.8 degrees too hot after a load step, and adding D cuts the temperature peak by about 30 %. The limitations: our model is linear, treats the engine as one lumped mass and only controls the fan. All numbers come from published sources, but from different engines and studies, not from our own tests. The next steps are measuring a real engine, adding the radiator and oil temperatures and the full split range, and then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Every number in the code has a reference tag: the engine data from the Volvo D13 fact sheet, the heat rejection, radiator and fan data from the COBEM 2009 truck and bus paper, the model equations from Mohamed et al. 2018, the lumped-mass idea from a Chalmers thesis, material properties from Engineering ToolBox, and the PID gains from Skogestad's SIMC rule. Why is D useful here? It reacts to how fast the temperature is rising, so it acts early and cuts the peak by 30 %. Is the model validated? Not against our own engine tests; the data comes from different published sources. Why e = T_c minus T_ref? The fan removes heat, so hotter must give more air. Why does a P controller leave an offset? It needs a non-zero error to produce a non-zero output; the integral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 &amp; Simulink</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filter, output limit and anti-windup</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Set-point and load steps in MATLAB, same loop in Simulink</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 only vs PI vs PID: offset, peak and settling time</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Coolant takes 11.3 s to go round the loop: a short lag.</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Lumped with the block and coolant into one heat capacity (Chalmers, 2011).</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Block, coolant and oil act as one mass with an 851 s lag. The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38.1 / ((851s + 1)(11.3s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Fan path: 1 kg/s more fan air lowers T_c by 38 K, through the loop delay and the engine lag</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2.0 / (851s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2.0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at 90 °C, 30 % load and 30 °C air, where the fan air flow is y0 = 1.58 kg/s</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Data: Volvo D13 fact sheet, COBEM 2009, IOSR 2018, Chalmers 2011, Engineering ToolBox (slide 15)</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Three additions make it work on a real system</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Our model drives the fan only (0–4.5 kg/s of air). Full split range: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Anti-windup</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When the actuators are already at their limit, the integral stops adding up. Without it, I grows huge and the temperature overshoots.</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Simulink's default filter (N = 100) on the D term, so sensor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SIMC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2.48</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0.044</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22.4</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N = 100</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section by section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 parameters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Published data → C, τ and K by energy balance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gains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from the SIMC tuning rule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Controllers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PI and PID built as 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 poles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feedback() for set-point and load; pole() checks 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Set-point step 90 → 95 °C with step() and stepinfo()</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step 30 → 70 %: peak, offset and settling time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same loop, built in Simulink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90669"/>
          <a:ext cx="10553700" cy="3234333"/>
        </p:xfrm>
        <a:graphic>
          <a:graphicData uri="http://schemas.openxmlformats.org/drawingml/2006/table">
            <a:tbl>
              <a:tblPr/>
              <a:tblGrid>
                <a:gridCol w="3588258"/>
                <a:gridCol w="6965442"/>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Role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Set-point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90 °C, steps to 95 °C at 1200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Sum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Error e = T_c − T_ref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2.476, I 0.0439, D 22.35, N 100; limits −1.58 to 2.92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Fcn 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Fan path: −38.09 / (9611s² + 862.8s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Transfer Fcn Gd(s)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+40 % at 600 s through 2.0 / (851.5s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Constant + Sum (+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 90 + cooling effect + load effect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Bias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Fan air flow y = 1.58 + PID output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Mux → Scope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with the set-point, and the fan air flow</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5253602"/>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Default solver, 30-minute run · built by hand</a:t>
            </a:r>
            <a:endParaRPr lang="en-US" sz="1200" dirty="0"/>
          </a:p>
        </p:txBody>
      </p:sp>
      <p:sp>
        <p:nvSpPr>
          <p:cNvPr id="6" name="Text 3"/>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2 · LOAD STEP 30 % → 70 %</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I removes the offset, D trims the peak</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Ctrl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only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1.18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39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0.84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1.10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112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0.77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104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P alone needs an error to produce output, so it settles </a:t>
            </a:r>
            <a:r>
              <a:rPr lang="en-US" sz="1400" b="1" dirty="0">
                <a:solidFill>
                  <a:srgbClr val="4A5568"/>
                </a:solidFill>
                <a:latin typeface="Arial" pitchFamily="34" charset="0"/>
                <a:ea typeface="Arial" pitchFamily="34" charset="-122"/>
                <a:cs typeface="Arial" pitchFamily="34" charset="-120"/>
              </a:rPr>
              <a:t>0.8 K too hot</a:t>
            </a:r>
            <a:r>
              <a:rPr lang="en-US" sz="1400" dirty="0">
                <a:solidFill>
                  <a:srgbClr val="4A5568"/>
                </a:solidFill>
                <a:latin typeface="Arial" pitchFamily="34" charset="0"/>
                <a:ea typeface="Arial" pitchFamily="34" charset="-122"/>
                <a:cs typeface="Arial" pitchFamily="34" charset="-120"/>
              </a:rPr>
              <a:t>. Adding I brings it back to exactly 90 °C. Adding D cuts the peak by about 30 %.</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1 · SET-POINT 90 → 95 °C</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temperature follows a new set-point</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Tracking</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reaches 95 °C with 12.6 % overshoot and settles in about 121 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P only</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Stops 0.05 K short. PI removes that but overshoots 41 %.</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holds 90 °C with zero offset. P only, like today's wax thermostat, stays 0.8 K too hot. D cuts the peak by about 30 %.</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one lumped mass, fan only. Data from published sources (slide 15), not our own tests.</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Data sources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338 kW, 1121 kg, 38 L coolant, 33 L oil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Volvo D13C460 engine fact sheet (2010)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Q = 0.5·P, 3.25 kg/s, 100/30 °C, fan 4.5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Rosa et al., COBEM 2009 (trucks and buses)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C·dT/dt = Q_in − ε·m_f·c_p·(T − T_air)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Mohamed et al., IOSR J. Eng. 8(6), 2018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Block + coolant + oil as one mass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Haury &amp; Volkering, Chalmers thesis, 2011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c_p and density of iron, water, oil, 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Engineering ToolBox property tables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(τ_cl = loop delay)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 = 100; final value theorem</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Simulink PID default; Nise, Control Systems Eng.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15</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