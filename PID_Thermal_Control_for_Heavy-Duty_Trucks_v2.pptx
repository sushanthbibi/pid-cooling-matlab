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9" r:id="rId15"/>
    <p:sldId id="267" r:id="rId13"/>
    <p:sldId id="273" r:id="rId19"/>
    <p:sldId id="275" r:id="rId26"/>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5"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One line: "Our project is about controlling the temperature of a heavy-duty truck engine. We modelled the engine's cooling system in MATLAB and showed how a PID controller keeps the engine at 90 °C when the load goes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cooling system's job is to keep the engine in a narrow band. Too hot and the engine is damaged. Too cold and the oil is thick, friction rises and the truck burns more fuel. The sweet spot is about 90 °C, and that is the set-point our controller will hold. The question is: how well does today's cooling system hold it, and can a PID controller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system has three mechanical parts. The wax thermostat opens in proportion to temperature, which makes it a proportional-only controller, and a P controller always leaves a steady-state offset: it settles around 84 °C instead of 90. The fan clutch is on/off, which causes temperature swings. The pump is belt-driven and just follows engine speed. Our goal is to replace all three with electric actuators driven by one PID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has four steps. First, model the cooling system: we start from the energy balance in a published paper and get two transfer functions, one for the fan and one for the engine load. Second, design a PID controller, with the gains calculated by the SIMC tuning rule. Third, simulate one test in MATLAB: the engine load jumps from 30 to 70 percent. Fourth, compare what happens to the temperature without a controller and with the 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control system. We measure the coolant temperature T_c and subtract it from the 90 °C set-point at the summing junction. That gives the error e. The PID turns the error into one output y. The split-range block turns y into three actuator commands u: valve, pump and fan. These act on the engine and cooling system, which we call the plant. Disturbances such as engine load and outside temperature also act on the plant, and we cannot control them. The sensor feeds T_c back, closing the loop. This is negative feedback: if the engine gets hotter, the controller cools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cooling system has three temperatures: the engine coolant T_c, the radiator coolant T_r and the oil T_o. Following the Chalmers thesis by Haury and Volkering, we lump the engine block, the coolant and the oil into one mass with one temperature, T_c, the one we control. Using the Volvo D13 data, that mass has a heat capacity of 720 kJ per kelvin, which gives a long lag of about 851 seconds. The radiator is not a separate temperature: the coolant takes 38 litres divided by 3.25 kg per second, about 11.3 seconds, to go round the loop, and we model that as a short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the energy balance from Mohamed et al., IOSR 2018: heat capacity times the rate of temperature change equals the heat from the engine minus the heat the fan removes, where the fan heat is effectiveness times air flow times air specific heat times the temperature difference. Every number comes from a source. The engine is the Volvo D13: 338 kW, 1121 kg, 38 litres of coolant and 33 litres of oil. With textbook specific heats, block plus coolant plus oil gives 720 kJ per kelvin. From the COBEM 2009 truck and bus paper, half of the engine power goes into the coolant, so 1 % load is 1.69 kW; the radiator is rated at 100 °C water and 30 °C air; the coolant flow is 3.25 kg per second; and the fan can move 4.5 kg per second of air. At 90 °C and 30 % load the fan needs 1.58 kg per second, which removes 0.845 kW per kelvin. The time constant is 720 divided by 0.845, which is 851 seconds. The gains come out as 38 K per kg per second of fan air and 2.0 K per percent of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is the coolant temperature minus 90 °C. We use T_c minus T_ref, not the other way round, because our actuators remove heat: hotter means a positive error, which means more cooling. The PID output is the sum of three terms. P is proportional to the present error. It reacts fast, but a P controller always leaves an offset, because it needs some error to produce any output. I integrates past error, so it keeps pushing until the error is exactly zero; that removes the offset. D looks at how fast the error is changing, so it acts early and damps the peak. In the MATLAB code the PID is built by adding three transfer functions: Kp, Ki over s, and Kd s over 10 s plus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about our PID. First, in a full system one PID output would be shared across valve, pump and fan; in our model the pump runs at a fixed 3.25 kg per second and the PID drives the fan only, between 0 and 4.5 kg per second of air. Second, the gains come from the SIMC tuning rule by Skogestad, 2003, which calculates them from the plant's time constants and gain: Kp 2.48, Ki 0.044 and Kd 22.4, in kg/s of fan air per kelvin. Third, the derivative term has a small 0.01-second filter so it does not amplify sensor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MATLAB code is one short file, pid_truck_cooling.m. It takes every number from the sources, calculates the two plant transfer functions with num, den and tf, and the PID gains with the SIMC rule. The engine load is a ramp: 30 percent for 20 seconds, then rising linearly to 70 percent over 60 seconds. lsim runs that load through the plant twice, first with no controller and then with the PID closed by feedback. Two graphs show the temperature with and without the PID, with the engine load on the right-hand axis. pole() checks that all closed-loop poles are negative, so the loop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zoom in on the first 200 seconds. The green line is the engine load, rising from 30 to 70 percent between 20 and 80 seconds. The red line with no PID climbs faster and faster and leaves the graph at about 85 seconds. The blue line with the PID rises only 0.60 K while the load is going up, because the PID increases the fan air flow as soon as the temperature starts to rise. Once the load stops rising, the integral term brings the temperature back to exactly 90 °C; it is within 0.1 K at 159 seconds. In the table, no control gives a 70 K rise after 30 minutes; the PID gives 0.60 K and no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main result. The green line, on the right-hand axis, is the engine load: it rises linearly from 30 to 70 percent over one minute, like the truck starting up a hill. That adds 68 kW of heat to the coolant. The red line is the engine with no PID: nothing removes the extra heat, so the temperature passes the 105 °C limit after about four minutes and is at 160 °C after half an hour. The blue line is the same engine with our PID controlling the fan: it stays at 90 °C the whole time. The next slide zooms in on the first 200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with no controller, a load step from 30 to 70 percent would push the engine towards 170 °C. With the PID, the temperature rises by less than 1 K and returns to exactly 90 °C in under two minutes. The limitations: our model is linear, treats the engine as one lumped mass and only controls the fan, and its numbers come from published sources rather than our own tests. The next steps are measuring a real engine, adding the radiator and oil temperatures, and trying a predictive controller, MPC, which uses the road ahead to plan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Where do the numbers come from? Every number comes from the sources on slide 14: the engine from the Volvo D13 fact sheet, the heat and radiator data from the COBEM 2009 truck and bus paper, the model equations from Mohamed et al. 2018, and the PID gains from Skogestad's SIMC rule. Why does the engine overheat without control? The extra heat from the higher load has nowhere to go. How does the PID fix it? It increases the fan air flow as soon as the temperature rises, and the integral term keeps pushing until the temperature is exactly 90 °C again. Is the loop stable? Yes, all closed-loop poles have negative real parts. Is the model validated? Not against our own engine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2.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0A26E"/>
                </a:solidFill>
                <a:latin typeface="Arial" pitchFamily="34" charset="0"/>
                <a:ea typeface="Arial" pitchFamily="34" charset="-122"/>
                <a:cs typeface="Arial" pitchFamily="34" charset="-120"/>
              </a:rPr>
              <a:t>CONTROL SYSTEMS</a:t>
            </a:r>
            <a:endParaRPr lang="en-US" sz="1400" dirty="0"/>
          </a:p>
        </p:txBody>
      </p:sp>
      <p:sp>
        <p:nvSpPr>
          <p:cNvPr id="4" name="Text 2"/>
          <p:cNvSpPr/>
          <p:nvPr>
            <p:ph type="title"/>
          </p:nvPr>
        </p:nvSpPr>
        <p:spPr>
          <a:xfrm>
            <a:off x="812800" y="2241087"/>
            <a:ext cx="10883392"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PID Thermal Control for</a:t>
            </a:r>
            <a:endParaRPr lang="en-US" sz="4800" dirty="0"/>
          </a:p>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Heavy-Duty Trucks</a:t>
            </a:r>
            <a:endParaRPr lang="en-US" sz="4800" dirty="0"/>
          </a:p>
        </p:txBody>
      </p:sp>
      <p:sp>
        <p:nvSpPr>
          <p:cNvPr id="5" name="Text 3"/>
          <p:cNvSpPr/>
          <p:nvPr/>
        </p:nvSpPr>
        <p:spPr>
          <a:xfrm>
            <a:off x="812800" y="3760986"/>
            <a:ext cx="10883392" cy="642607"/>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Keeping the engine at 90 °C with a feedback controller</a:t>
            </a:r>
            <a:endParaRPr lang="en-US" sz="1800" dirty="0"/>
          </a:p>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modelled and simulated in MATLAB</a:t>
            </a:r>
            <a:endParaRPr lang="en-US" sz="1800" dirty="0"/>
          </a:p>
        </p:txBody>
      </p:sp>
      <p:sp>
        <p:nvSpPr>
          <p:cNvPr id="6" name="Text 4"/>
          <p:cNvSpPr/>
          <p:nvPr/>
        </p:nvSpPr>
        <p:spPr>
          <a:xfrm>
            <a:off x="812800" y="5557540"/>
            <a:ext cx="132195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Sushanth Bibi</a:t>
            </a:r>
            <a:endParaRPr lang="en-US" sz="1400" dirty="0"/>
          </a:p>
        </p:txBody>
      </p:sp>
      <p:sp>
        <p:nvSpPr>
          <p:cNvPr id="7" name="Text 5"/>
          <p:cNvSpPr/>
          <p:nvPr/>
        </p:nvSpPr>
        <p:spPr>
          <a:xfrm>
            <a:off x="812800" y="5831847"/>
            <a:ext cx="1152426"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24BME0501</a:t>
            </a:r>
            <a:endParaRPr lang="en-US" sz="1200" dirty="0"/>
          </a:p>
        </p:txBody>
      </p:sp>
      <p:sp>
        <p:nvSpPr>
          <p:cNvPr id="8" name="Text 6"/>
          <p:cNvSpPr/>
          <p:nvPr/>
        </p:nvSpPr>
        <p:spPr>
          <a:xfrm>
            <a:off x="2320826" y="5557540"/>
            <a:ext cx="17316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Ganishk Mohanraj</a:t>
            </a:r>
            <a:endParaRPr lang="en-US" sz="1400" dirty="0"/>
          </a:p>
        </p:txBody>
      </p:sp>
      <p:sp>
        <p:nvSpPr>
          <p:cNvPr id="9" name="Text 7"/>
          <p:cNvSpPr/>
          <p:nvPr/>
        </p:nvSpPr>
        <p:spPr>
          <a:xfrm>
            <a:off x="2320826" y="5831847"/>
            <a:ext cx="1493804"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An engine has to stay in a narrow temperature band</a:t>
            </a:r>
            <a:endParaRPr lang="en-US" sz="3200" dirty="0"/>
          </a:p>
        </p:txBody>
      </p:sp>
      <p:sp>
        <p:nvSpPr>
          <p:cNvPr id="4" name="Shape 2"/>
          <p:cNvSpPr/>
          <p:nvPr/>
        </p:nvSpPr>
        <p:spPr>
          <a:xfrm>
            <a:off x="815975" y="1958942"/>
            <a:ext cx="3380317" cy="3879883"/>
          </a:xfrm>
          <a:prstGeom prst="roundRect">
            <a:avLst>
              <a:gd name="adj" fmla="val 2912"/>
            </a:avLst>
          </a:prstGeom>
          <a:solidFill>
            <a:srgbClr val="FDFCF9"/>
          </a:solidFill>
          <a:ln w="6350">
            <a:solidFill>
              <a:srgbClr val="E2DED3"/>
            </a:solidFill>
            <a:prstDash val="solid"/>
          </a:ln>
        </p:spPr>
      </p:sp>
      <p:sp>
        <p:nvSpPr>
          <p:cNvPr id="5" name="Shape 3"/>
          <p:cNvSpPr/>
          <p:nvPr/>
        </p:nvSpPr>
        <p:spPr>
          <a:xfrm>
            <a:off x="1123950" y="2266917"/>
            <a:ext cx="609600" cy="63500"/>
          </a:xfrm>
          <a:prstGeom prst="roundRect">
            <a:avLst>
              <a:gd name="adj" fmla="val 50000"/>
            </a:avLst>
          </a:prstGeom>
          <a:solidFill>
            <a:srgbClr val="C0392B"/>
          </a:solidFill>
          <a:ln/>
        </p:spPr>
      </p:sp>
      <p:sp>
        <p:nvSpPr>
          <p:cNvPr id="6" name="Text 4"/>
          <p:cNvSpPr/>
          <p:nvPr/>
        </p:nvSpPr>
        <p:spPr>
          <a:xfrm>
            <a:off x="1123950"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hot</a:t>
            </a:r>
            <a:endParaRPr lang="en-US" sz="2200" dirty="0"/>
          </a:p>
        </p:txBody>
      </p:sp>
      <p:sp>
        <p:nvSpPr>
          <p:cNvPr id="7" name="Text 5"/>
          <p:cNvSpPr/>
          <p:nvPr/>
        </p:nvSpPr>
        <p:spPr>
          <a:xfrm>
            <a:off x="1123950"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01F"/>
                </a:solidFill>
                <a:latin typeface="Arial" pitchFamily="34" charset="0"/>
                <a:ea typeface="Arial" pitchFamily="34" charset="-122"/>
                <a:cs typeface="Arial" pitchFamily="34" charset="-120"/>
              </a:rPr>
              <a:t>above 105 °C</a:t>
            </a:r>
            <a:endParaRPr lang="en-US" sz="1500" dirty="0"/>
          </a:p>
        </p:txBody>
      </p:sp>
      <p:sp>
        <p:nvSpPr>
          <p:cNvPr id="8" name="Text 6"/>
          <p:cNvSpPr/>
          <p:nvPr/>
        </p:nvSpPr>
        <p:spPr>
          <a:xfrm>
            <a:off x="1123950"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Coolant boils, the oil breaks down, engine parts get damaged.</a:t>
            </a:r>
            <a:endParaRPr lang="en-US" sz="1400" dirty="0"/>
          </a:p>
        </p:txBody>
      </p:sp>
      <p:sp>
        <p:nvSpPr>
          <p:cNvPr id="9" name="Shape 7"/>
          <p:cNvSpPr/>
          <p:nvPr/>
        </p:nvSpPr>
        <p:spPr>
          <a:xfrm>
            <a:off x="4405842" y="1958942"/>
            <a:ext cx="3380317" cy="3879883"/>
          </a:xfrm>
          <a:prstGeom prst="roundRect">
            <a:avLst>
              <a:gd name="adj" fmla="val 2912"/>
            </a:avLst>
          </a:prstGeom>
          <a:solidFill>
            <a:srgbClr val="15233B"/>
          </a:solidFill>
          <a:ln w="6350">
            <a:solidFill>
              <a:srgbClr val="15233B"/>
            </a:solidFill>
            <a:prstDash val="solid"/>
          </a:ln>
        </p:spPr>
      </p:sp>
      <p:sp>
        <p:nvSpPr>
          <p:cNvPr id="10" name="Shape 8"/>
          <p:cNvSpPr/>
          <p:nvPr/>
        </p:nvSpPr>
        <p:spPr>
          <a:xfrm>
            <a:off x="4713817" y="2266917"/>
            <a:ext cx="609600" cy="63500"/>
          </a:xfrm>
          <a:prstGeom prst="roundRect">
            <a:avLst>
              <a:gd name="adj" fmla="val 50000"/>
            </a:avLst>
          </a:prstGeom>
          <a:solidFill>
            <a:srgbClr val="F0A26E"/>
          </a:solidFill>
          <a:ln/>
        </p:spPr>
      </p:sp>
      <p:sp>
        <p:nvSpPr>
          <p:cNvPr id="11" name="Text 9"/>
          <p:cNvSpPr/>
          <p:nvPr/>
        </p:nvSpPr>
        <p:spPr>
          <a:xfrm>
            <a:off x="4713817"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1"/>
                </a:solidFill>
                <a:latin typeface="Arial" pitchFamily="34" charset="0"/>
                <a:ea typeface="Arial" pitchFamily="34" charset="-122"/>
                <a:cs typeface="Arial" pitchFamily="34" charset="-120"/>
              </a:rPr>
              <a:t>Just right</a:t>
            </a:r>
            <a:endParaRPr lang="en-US" sz="2200" dirty="0"/>
          </a:p>
        </p:txBody>
      </p:sp>
      <p:sp>
        <p:nvSpPr>
          <p:cNvPr id="12" name="Text 10"/>
          <p:cNvSpPr/>
          <p:nvPr/>
        </p:nvSpPr>
        <p:spPr>
          <a:xfrm>
            <a:off x="4713817"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0A26E"/>
                </a:solidFill>
                <a:latin typeface="Arial" pitchFamily="34" charset="0"/>
                <a:ea typeface="Arial" pitchFamily="34" charset="-122"/>
                <a:cs typeface="Arial" pitchFamily="34" charset="-120"/>
              </a:rPr>
              <a:t>about 90 °C</a:t>
            </a:r>
            <a:endParaRPr lang="en-US" sz="1500" dirty="0"/>
          </a:p>
        </p:txBody>
      </p:sp>
      <p:sp>
        <p:nvSpPr>
          <p:cNvPr id="13" name="Text 11"/>
          <p:cNvSpPr/>
          <p:nvPr/>
        </p:nvSpPr>
        <p:spPr>
          <a:xfrm>
            <a:off x="4713817"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D5DEEA"/>
                </a:solidFill>
                <a:latin typeface="Arial" pitchFamily="34" charset="0"/>
                <a:ea typeface="Arial" pitchFamily="34" charset="-122"/>
                <a:cs typeface="Arial" pitchFamily="34" charset="-120"/>
              </a:rPr>
              <a:t>Thin oil, low friction, good efficiency. This is our set-point.</a:t>
            </a:r>
            <a:endParaRPr lang="en-US" sz="1400" dirty="0"/>
          </a:p>
        </p:txBody>
      </p:sp>
      <p:sp>
        <p:nvSpPr>
          <p:cNvPr id="14" name="Shape 12"/>
          <p:cNvSpPr/>
          <p:nvPr/>
        </p:nvSpPr>
        <p:spPr>
          <a:xfrm>
            <a:off x="7995709" y="1958942"/>
            <a:ext cx="3380317" cy="3879883"/>
          </a:xfrm>
          <a:prstGeom prst="roundRect">
            <a:avLst>
              <a:gd name="adj" fmla="val 2912"/>
            </a:avLst>
          </a:prstGeom>
          <a:solidFill>
            <a:srgbClr val="FDFCF9"/>
          </a:solidFill>
          <a:ln w="6350">
            <a:solidFill>
              <a:srgbClr val="E2DED3"/>
            </a:solidFill>
            <a:prstDash val="solid"/>
          </a:ln>
        </p:spPr>
      </p:sp>
      <p:sp>
        <p:nvSpPr>
          <p:cNvPr id="15" name="Shape 13"/>
          <p:cNvSpPr/>
          <p:nvPr/>
        </p:nvSpPr>
        <p:spPr>
          <a:xfrm>
            <a:off x="8303684" y="2266917"/>
            <a:ext cx="609600" cy="63500"/>
          </a:xfrm>
          <a:prstGeom prst="roundRect">
            <a:avLst>
              <a:gd name="adj" fmla="val 50000"/>
            </a:avLst>
          </a:prstGeom>
          <a:solidFill>
            <a:srgbClr val="2B6CB0"/>
          </a:solidFill>
          <a:ln/>
        </p:spPr>
      </p:sp>
      <p:sp>
        <p:nvSpPr>
          <p:cNvPr id="16" name="Text 14"/>
          <p:cNvSpPr/>
          <p:nvPr/>
        </p:nvSpPr>
        <p:spPr>
          <a:xfrm>
            <a:off x="8303684"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cold</a:t>
            </a:r>
            <a:endParaRPr lang="en-US" sz="2200" dirty="0"/>
          </a:p>
        </p:txBody>
      </p:sp>
      <p:sp>
        <p:nvSpPr>
          <p:cNvPr id="17" name="Text 15"/>
          <p:cNvSpPr/>
          <p:nvPr/>
        </p:nvSpPr>
        <p:spPr>
          <a:xfrm>
            <a:off x="8303684"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B6CB0"/>
                </a:solidFill>
                <a:latin typeface="Arial" pitchFamily="34" charset="0"/>
                <a:ea typeface="Arial" pitchFamily="34" charset="-122"/>
                <a:cs typeface="Arial" pitchFamily="34" charset="-120"/>
              </a:rPr>
              <a:t>below 80 °C</a:t>
            </a:r>
            <a:endParaRPr lang="en-US" sz="1500" dirty="0"/>
          </a:p>
        </p:txBody>
      </p:sp>
      <p:sp>
        <p:nvSpPr>
          <p:cNvPr id="18" name="Text 16"/>
          <p:cNvSpPr/>
          <p:nvPr/>
        </p:nvSpPr>
        <p:spPr>
          <a:xfrm>
            <a:off x="8303684" y="3313378"/>
            <a:ext cx="284729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Thick oil, more friction, so the engine burns more fuel and emits more CO₂.</a:t>
            </a:r>
            <a:endParaRPr lang="en-US" sz="1400" dirty="0"/>
          </a:p>
        </p:txBody>
      </p:sp>
      <p:sp>
        <p:nvSpPr>
          <p:cNvPr id="19" name="Text 17"/>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TODAY'S TRUCKS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conventional cooling system is purely mechanical</a:t>
            </a:r>
            <a:endParaRPr lang="en-US" sz="3200" dirty="0"/>
          </a:p>
        </p:txBody>
      </p:sp>
      <p:sp>
        <p:nvSpPr>
          <p:cNvPr id="4" name="Shape 2"/>
          <p:cNvSpPr/>
          <p:nvPr/>
        </p:nvSpPr>
        <p:spPr>
          <a:xfrm>
            <a:off x="815975" y="1908142"/>
            <a:ext cx="3380317" cy="1921470"/>
          </a:xfrm>
          <a:prstGeom prst="roundRect">
            <a:avLst>
              <a:gd name="adj" fmla="val 5122"/>
            </a:avLst>
          </a:prstGeom>
          <a:solidFill>
            <a:srgbClr val="FDFCF9"/>
          </a:solidFill>
          <a:ln w="6350">
            <a:solidFill>
              <a:srgbClr val="E2DED3"/>
            </a:solidFill>
            <a:prstDash val="solid"/>
          </a:ln>
        </p:spPr>
      </p:sp>
      <p:sp>
        <p:nvSpPr>
          <p:cNvPr id="5" name="Text 3"/>
          <p:cNvSpPr/>
          <p:nvPr/>
        </p:nvSpPr>
        <p:spPr>
          <a:xfrm>
            <a:off x="1073150"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Wax thermostat</a:t>
            </a:r>
            <a:endParaRPr lang="en-US" sz="1800" dirty="0"/>
          </a:p>
        </p:txBody>
      </p:sp>
      <p:sp>
        <p:nvSpPr>
          <p:cNvPr id="6" name="Text 4"/>
          <p:cNvSpPr/>
          <p:nvPr/>
        </p:nvSpPr>
        <p:spPr>
          <a:xfrm>
            <a:off x="1073150" y="2541225"/>
            <a:ext cx="2951946" cy="1056614"/>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Opens gradually from 82 to 95 °C. It acts like a </a:t>
            </a:r>
            <a:r>
              <a:rPr lang="en-US" sz="1400" b="1" dirty="0">
                <a:solidFill>
                  <a:srgbClr val="4A5568"/>
                </a:solidFill>
                <a:latin typeface="Arial" pitchFamily="34" charset="0"/>
                <a:ea typeface="Arial" pitchFamily="34" charset="-122"/>
                <a:cs typeface="Arial" pitchFamily="34" charset="-120"/>
              </a:rPr>
              <a:t>P-only controller</a:t>
            </a:r>
            <a:r>
              <a:rPr lang="en-US" sz="1400" dirty="0">
                <a:solidFill>
                  <a:srgbClr val="4A5568"/>
                </a:solidFill>
                <a:latin typeface="Arial" pitchFamily="34" charset="0"/>
                <a:ea typeface="Arial" pitchFamily="34" charset="-122"/>
                <a:cs typeface="Arial" pitchFamily="34" charset="-120"/>
              </a:rPr>
              <a:t>, so it settles near 84 °C and never reaches 90 °C.</a:t>
            </a:r>
            <a:endParaRPr lang="en-US" sz="1400" dirty="0"/>
          </a:p>
        </p:txBody>
      </p:sp>
      <p:sp>
        <p:nvSpPr>
          <p:cNvPr id="7" name="Shape 5"/>
          <p:cNvSpPr/>
          <p:nvPr/>
        </p:nvSpPr>
        <p:spPr>
          <a:xfrm>
            <a:off x="4405842" y="1908142"/>
            <a:ext cx="3380317" cy="1921470"/>
          </a:xfrm>
          <a:prstGeom prst="roundRect">
            <a:avLst>
              <a:gd name="adj" fmla="val 5122"/>
            </a:avLst>
          </a:prstGeom>
          <a:solidFill>
            <a:srgbClr val="FDFCF9"/>
          </a:solidFill>
          <a:ln w="6350">
            <a:solidFill>
              <a:srgbClr val="E2DED3"/>
            </a:solidFill>
            <a:prstDash val="solid"/>
          </a:ln>
        </p:spPr>
      </p:sp>
      <p:sp>
        <p:nvSpPr>
          <p:cNvPr id="8" name="Text 6"/>
          <p:cNvSpPr/>
          <p:nvPr/>
        </p:nvSpPr>
        <p:spPr>
          <a:xfrm>
            <a:off x="4663017"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On/off fan clutch</a:t>
            </a:r>
            <a:endParaRPr lang="en-US" sz="1800" dirty="0"/>
          </a:p>
        </p:txBody>
      </p:sp>
      <p:sp>
        <p:nvSpPr>
          <p:cNvPr id="9" name="Text 7"/>
          <p:cNvSpPr/>
          <p:nvPr/>
        </p:nvSpPr>
        <p:spPr>
          <a:xfrm>
            <a:off x="4663017"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Switches fully on at 96 °C and off at 90 °C. This </a:t>
            </a:r>
            <a:r>
              <a:rPr lang="en-US" sz="1400" b="1" dirty="0">
                <a:solidFill>
                  <a:srgbClr val="4A5568"/>
                </a:solidFill>
                <a:latin typeface="Arial" pitchFamily="34" charset="0"/>
                <a:ea typeface="Arial" pitchFamily="34" charset="-122"/>
                <a:cs typeface="Arial" pitchFamily="34" charset="-120"/>
              </a:rPr>
              <a:t>bang-bang control</a:t>
            </a:r>
            <a:r>
              <a:rPr lang="en-US" sz="1400" dirty="0">
                <a:solidFill>
                  <a:srgbClr val="4A5568"/>
                </a:solidFill>
                <a:latin typeface="Arial" pitchFamily="34" charset="0"/>
                <a:ea typeface="Arial" pitchFamily="34" charset="-122"/>
                <a:cs typeface="Arial" pitchFamily="34" charset="-120"/>
              </a:rPr>
              <a:t> makes the temperature swing.</a:t>
            </a:r>
            <a:endParaRPr lang="en-US" sz="1400" dirty="0"/>
          </a:p>
        </p:txBody>
      </p:sp>
      <p:sp>
        <p:nvSpPr>
          <p:cNvPr id="10" name="Shape 8"/>
          <p:cNvSpPr/>
          <p:nvPr/>
        </p:nvSpPr>
        <p:spPr>
          <a:xfrm>
            <a:off x="7995709" y="1908142"/>
            <a:ext cx="3380317" cy="1921470"/>
          </a:xfrm>
          <a:prstGeom prst="roundRect">
            <a:avLst>
              <a:gd name="adj" fmla="val 5122"/>
            </a:avLst>
          </a:prstGeom>
          <a:solidFill>
            <a:srgbClr val="FDFCF9"/>
          </a:solidFill>
          <a:ln w="6350">
            <a:solidFill>
              <a:srgbClr val="E2DED3"/>
            </a:solidFill>
            <a:prstDash val="solid"/>
          </a:ln>
        </p:spPr>
      </p:sp>
      <p:sp>
        <p:nvSpPr>
          <p:cNvPr id="11" name="Text 9"/>
          <p:cNvSpPr/>
          <p:nvPr/>
        </p:nvSpPr>
        <p:spPr>
          <a:xfrm>
            <a:off x="8252884"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Belt-driven pump</a:t>
            </a:r>
            <a:endParaRPr lang="en-US" sz="1800" dirty="0"/>
          </a:p>
        </p:txBody>
      </p:sp>
      <p:sp>
        <p:nvSpPr>
          <p:cNvPr id="12" name="Text 10"/>
          <p:cNvSpPr/>
          <p:nvPr/>
        </p:nvSpPr>
        <p:spPr>
          <a:xfrm>
            <a:off x="8252884"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Spins with the engine, not with the cooling demand, so it wastes energy when little cooling is needed.</a:t>
            </a:r>
            <a:endParaRPr lang="en-US" sz="1400" dirty="0"/>
          </a:p>
        </p:txBody>
      </p:sp>
      <p:sp>
        <p:nvSpPr>
          <p:cNvPr id="13" name="Shape 11"/>
          <p:cNvSpPr/>
          <p:nvPr/>
        </p:nvSpPr>
        <p:spPr>
          <a:xfrm>
            <a:off x="812800" y="4188388"/>
            <a:ext cx="10566400" cy="863600"/>
          </a:xfrm>
          <a:prstGeom prst="roundRect">
            <a:avLst>
              <a:gd name="adj" fmla="val 11765"/>
            </a:avLst>
          </a:prstGeom>
          <a:solidFill>
            <a:srgbClr val="15233B"/>
          </a:solidFill>
          <a:ln/>
        </p:spPr>
      </p:sp>
      <p:pic>
        <p:nvPicPr>
          <p:cNvPr id="14" name="Image 0" descr="Lightbulb">    </p:cNvPr>
          <p:cNvPicPr>
            <a:picLocks noChangeAspect="1"/>
          </p:cNvPicPr>
          <p:nvPr/>
        </p:nvPicPr>
        <p:blipFill>
          <a:blip r:embed="rId1"/>
          <a:srcRect l="0" r="0" t="0" b="0"/>
          <a:stretch/>
        </p:blipFill>
        <p:spPr>
          <a:xfrm>
            <a:off x="1117600" y="4442388"/>
            <a:ext cx="355600" cy="355600"/>
          </a:xfrm>
          <a:prstGeom prst="rect">
            <a:avLst/>
          </a:prstGeom>
        </p:spPr>
      </p:pic>
      <p:sp>
        <p:nvSpPr>
          <p:cNvPr id="15" name="Text 12"/>
          <p:cNvSpPr/>
          <p:nvPr/>
        </p:nvSpPr>
        <p:spPr>
          <a:xfrm>
            <a:off x="1676400" y="4483035"/>
            <a:ext cx="9492615" cy="299707"/>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F6F5F1"/>
                </a:solidFill>
                <a:latin typeface="Arial" pitchFamily="34" charset="0"/>
                <a:ea typeface="Arial" pitchFamily="34" charset="-122"/>
                <a:cs typeface="Arial" pitchFamily="34" charset="-120"/>
              </a:rPr>
              <a:t>Our goal:</a:t>
            </a:r>
            <a:r>
              <a:rPr lang="en-US" sz="1600" dirty="0">
                <a:solidFill>
                  <a:srgbClr val="F6F5F1"/>
                </a:solidFill>
                <a:latin typeface="Arial" pitchFamily="34" charset="0"/>
                <a:ea typeface="Arial" pitchFamily="34" charset="-122"/>
                <a:cs typeface="Arial" pitchFamily="34" charset="-120"/>
              </a:rPr>
              <a:t> replace this with one PID controller that drives an electric valve, pump and fan.</a:t>
            </a:r>
            <a:endParaRPr lang="en-US" sz="1600" dirty="0"/>
          </a:p>
        </p:txBody>
      </p:sp>
      <p:sp>
        <p:nvSpPr>
          <p:cNvPr id="16" name="Text 13"/>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METHOD</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Four steps from physics to results</a:t>
            </a:r>
            <a:endParaRPr lang="en-US" sz="3200" dirty="0"/>
          </a:p>
        </p:txBody>
      </p:sp>
      <p:sp>
        <p:nvSpPr>
          <p:cNvPr id="4" name="Shape 2"/>
          <p:cNvSpPr/>
          <p:nvPr/>
        </p:nvSpPr>
        <p:spPr>
          <a:xfrm>
            <a:off x="815975" y="2009742"/>
            <a:ext cx="2520950" cy="2144977"/>
          </a:xfrm>
          <a:prstGeom prst="roundRect">
            <a:avLst>
              <a:gd name="adj" fmla="val 4589"/>
            </a:avLst>
          </a:prstGeom>
          <a:solidFill>
            <a:srgbClr val="FDFCF9"/>
          </a:solidFill>
          <a:ln w="6350">
            <a:solidFill>
              <a:srgbClr val="E2DED3"/>
            </a:solidFill>
            <a:prstDash val="solid"/>
          </a:ln>
        </p:spPr>
      </p:sp>
      <p:sp>
        <p:nvSpPr>
          <p:cNvPr id="5" name="Text 3"/>
          <p:cNvSpPr/>
          <p:nvPr/>
        </p:nvSpPr>
        <p:spPr>
          <a:xfrm>
            <a:off x="10731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1</a:t>
            </a:r>
            <a:endParaRPr lang="en-US" sz="3200" dirty="0"/>
          </a:p>
        </p:txBody>
      </p:sp>
      <p:sp>
        <p:nvSpPr>
          <p:cNvPr id="6" name="Text 4"/>
          <p:cNvSpPr/>
          <p:nvPr/>
        </p:nvSpPr>
        <p:spPr>
          <a:xfrm>
            <a:off x="10731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Model</a:t>
            </a:r>
            <a:endParaRPr lang="en-US" sz="1800" dirty="0"/>
          </a:p>
        </p:txBody>
      </p:sp>
      <p:sp>
        <p:nvSpPr>
          <p:cNvPr id="7" name="Text 5"/>
          <p:cNvSpPr/>
          <p:nvPr/>
        </p:nvSpPr>
        <p:spPr>
          <a:xfrm>
            <a:off x="10731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Energy balance simplified to two transfer functions</a:t>
            </a:r>
            <a:endParaRPr lang="en-US" sz="1400" dirty="0"/>
          </a:p>
        </p:txBody>
      </p:sp>
      <p:sp>
        <p:nvSpPr>
          <p:cNvPr id="8" name="Shape 6"/>
          <p:cNvSpPr/>
          <p:nvPr/>
        </p:nvSpPr>
        <p:spPr>
          <a:xfrm>
            <a:off x="3495675" y="2009742"/>
            <a:ext cx="2520950" cy="2144977"/>
          </a:xfrm>
          <a:prstGeom prst="roundRect">
            <a:avLst>
              <a:gd name="adj" fmla="val 4589"/>
            </a:avLst>
          </a:prstGeom>
          <a:solidFill>
            <a:srgbClr val="FDFCF9"/>
          </a:solidFill>
          <a:ln w="6350">
            <a:solidFill>
              <a:srgbClr val="E2DED3"/>
            </a:solidFill>
            <a:prstDash val="solid"/>
          </a:ln>
        </p:spPr>
      </p:sp>
      <p:sp>
        <p:nvSpPr>
          <p:cNvPr id="9" name="Text 7"/>
          <p:cNvSpPr/>
          <p:nvPr/>
        </p:nvSpPr>
        <p:spPr>
          <a:xfrm>
            <a:off x="37528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2</a:t>
            </a:r>
            <a:endParaRPr lang="en-US" sz="3200" dirty="0"/>
          </a:p>
        </p:txBody>
      </p:sp>
      <p:sp>
        <p:nvSpPr>
          <p:cNvPr id="10" name="Text 8"/>
          <p:cNvSpPr/>
          <p:nvPr/>
        </p:nvSpPr>
        <p:spPr>
          <a:xfrm>
            <a:off x="37528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Design</a:t>
            </a:r>
            <a:endParaRPr lang="en-US" sz="1800" dirty="0"/>
          </a:p>
        </p:txBody>
      </p:sp>
      <p:sp>
        <p:nvSpPr>
          <p:cNvPr id="11" name="Text 9"/>
          <p:cNvSpPr/>
          <p:nvPr/>
        </p:nvSpPr>
        <p:spPr>
          <a:xfrm>
            <a:off x="3752850" y="3150825"/>
            <a:ext cx="2066798"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PID with gains from the SIMC tuning rule</a:t>
            </a:r>
            <a:endParaRPr lang="en-US" sz="1400" dirty="0"/>
          </a:p>
        </p:txBody>
      </p:sp>
      <p:sp>
        <p:nvSpPr>
          <p:cNvPr id="12" name="Shape 10"/>
          <p:cNvSpPr/>
          <p:nvPr/>
        </p:nvSpPr>
        <p:spPr>
          <a:xfrm>
            <a:off x="6175375" y="2009742"/>
            <a:ext cx="2520950" cy="2144977"/>
          </a:xfrm>
          <a:prstGeom prst="roundRect">
            <a:avLst>
              <a:gd name="adj" fmla="val 4589"/>
            </a:avLst>
          </a:prstGeom>
          <a:solidFill>
            <a:srgbClr val="FDFCF9"/>
          </a:solidFill>
          <a:ln w="6350">
            <a:solidFill>
              <a:srgbClr val="E2DED3"/>
            </a:solidFill>
            <a:prstDash val="solid"/>
          </a:ln>
        </p:spPr>
      </p:sp>
      <p:sp>
        <p:nvSpPr>
          <p:cNvPr id="13" name="Text 11"/>
          <p:cNvSpPr/>
          <p:nvPr/>
        </p:nvSpPr>
        <p:spPr>
          <a:xfrm>
            <a:off x="64325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3</a:t>
            </a:r>
            <a:endParaRPr lang="en-US" sz="3200" dirty="0"/>
          </a:p>
        </p:txBody>
      </p:sp>
      <p:sp>
        <p:nvSpPr>
          <p:cNvPr id="14" name="Text 12"/>
          <p:cNvSpPr/>
          <p:nvPr/>
        </p:nvSpPr>
        <p:spPr>
          <a:xfrm>
            <a:off x="64325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Simulate</a:t>
            </a:r>
            <a:endParaRPr lang="en-US" sz="1800" dirty="0"/>
          </a:p>
        </p:txBody>
      </p:sp>
      <p:sp>
        <p:nvSpPr>
          <p:cNvPr id="15" name="Text 13"/>
          <p:cNvSpPr/>
          <p:nvPr/>
        </p:nvSpPr>
        <p:spPr>
          <a:xfrm>
            <a:off x="64325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Load rises 30 → 70 % in 60 s, with and without PID</a:t>
            </a:r>
            <a:endParaRPr lang="en-US" sz="1400" dirty="0"/>
          </a:p>
        </p:txBody>
      </p:sp>
      <p:sp>
        <p:nvSpPr>
          <p:cNvPr id="16" name="Shape 14"/>
          <p:cNvSpPr/>
          <p:nvPr/>
        </p:nvSpPr>
        <p:spPr>
          <a:xfrm>
            <a:off x="8855075" y="2009742"/>
            <a:ext cx="2520950" cy="2144977"/>
          </a:xfrm>
          <a:prstGeom prst="roundRect">
            <a:avLst>
              <a:gd name="adj" fmla="val 4589"/>
            </a:avLst>
          </a:prstGeom>
          <a:solidFill>
            <a:srgbClr val="FDFCF9"/>
          </a:solidFill>
          <a:ln w="6350">
            <a:solidFill>
              <a:srgbClr val="E2DED3"/>
            </a:solidFill>
            <a:prstDash val="solid"/>
          </a:ln>
        </p:spPr>
      </p:sp>
      <p:sp>
        <p:nvSpPr>
          <p:cNvPr id="17" name="Text 15"/>
          <p:cNvSpPr/>
          <p:nvPr/>
        </p:nvSpPr>
        <p:spPr>
          <a:xfrm>
            <a:off x="91122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4</a:t>
            </a:r>
            <a:endParaRPr lang="en-US" sz="3200" dirty="0"/>
          </a:p>
        </p:txBody>
      </p:sp>
      <p:sp>
        <p:nvSpPr>
          <p:cNvPr id="18" name="Text 16"/>
          <p:cNvSpPr/>
          <p:nvPr/>
        </p:nvSpPr>
        <p:spPr>
          <a:xfrm>
            <a:off x="91122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Compare</a:t>
            </a:r>
            <a:endParaRPr lang="en-US" sz="1800" dirty="0"/>
          </a:p>
        </p:txBody>
      </p:sp>
      <p:sp>
        <p:nvSpPr>
          <p:cNvPr id="19" name="Text 17"/>
          <p:cNvSpPr/>
          <p:nvPr/>
        </p:nvSpPr>
        <p:spPr>
          <a:xfrm>
            <a:off x="91122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No controller vs PID: how hot does the engine get?</a:t>
            </a:r>
            <a:endParaRPr lang="en-US" sz="1400" dirty="0"/>
          </a:p>
        </p:txBody>
      </p:sp>
      <p:sp>
        <p:nvSpPr>
          <p:cNvPr id="20" name="Text 1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SYSTEM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 closed loop with negative feedback</a:t>
            </a:r>
            <a:endParaRPr lang="en-US" sz="3200" dirty="0"/>
          </a:p>
        </p:txBody>
      </p:sp>
      <p:sp>
        <p:nvSpPr>
          <p:cNvPr id="4" name="Text 2"/>
          <p:cNvSpPr/>
          <p:nvPr/>
        </p:nvSpPr>
        <p:spPr>
          <a:xfrm>
            <a:off x="7511415" y="2095500"/>
            <a:ext cx="2223770" cy="42161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4A5568"/>
                </a:solidFill>
                <a:latin typeface="Arial" pitchFamily="34" charset="0"/>
                <a:ea typeface="Arial" pitchFamily="34" charset="-122"/>
                <a:cs typeface="Arial" pitchFamily="34" charset="-120"/>
              </a:rPr>
              <a:t>Disturbances: engine load, speed, outside temperature</a:t>
            </a:r>
            <a:endParaRPr lang="en-US" sz="1200" dirty="0"/>
          </a:p>
        </p:txBody>
      </p:sp>
      <p:pic>
        <p:nvPicPr>
          <p:cNvPr id="5" name="Image 0" descr="connector">    </p:cNvPr>
          <p:cNvPicPr>
            <a:picLocks noChangeAspect="1"/>
          </p:cNvPicPr>
          <p:nvPr/>
        </p:nvPicPr>
        <p:blipFill>
          <a:blip r:embed="rId1"/>
          <a:srcRect l="0" r="0" t="0" b="0"/>
          <a:stretch/>
        </p:blipFill>
        <p:spPr>
          <a:xfrm>
            <a:off x="8572500" y="2552700"/>
            <a:ext cx="101600" cy="609600"/>
          </a:xfrm>
          <a:prstGeom prst="rect">
            <a:avLst/>
          </a:prstGeom>
        </p:spPr>
      </p:pic>
      <p:sp>
        <p:nvSpPr>
          <p:cNvPr id="6" name="Shape 3"/>
          <p:cNvSpPr/>
          <p:nvPr/>
        </p:nvSpPr>
        <p:spPr>
          <a:xfrm>
            <a:off x="819150" y="3117850"/>
            <a:ext cx="1257300" cy="876300"/>
          </a:xfrm>
          <a:prstGeom prst="roundRect">
            <a:avLst>
              <a:gd name="adj" fmla="val 7971"/>
            </a:avLst>
          </a:prstGeom>
          <a:solidFill>
            <a:srgbClr val="FDFCF9"/>
          </a:solidFill>
          <a:ln w="12700">
            <a:solidFill>
              <a:srgbClr val="15233B"/>
            </a:solidFill>
            <a:prstDash val="solid"/>
          </a:ln>
        </p:spPr>
      </p:sp>
      <p:sp>
        <p:nvSpPr>
          <p:cNvPr id="7" name="Text 4"/>
          <p:cNvSpPr/>
          <p:nvPr/>
        </p:nvSpPr>
        <p:spPr>
          <a:xfrm>
            <a:off x="975284" y="3294394"/>
            <a:ext cx="94499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Set-point</a:t>
            </a:r>
            <a:endParaRPr lang="en-US" sz="1500" dirty="0"/>
          </a:p>
        </p:txBody>
      </p:sp>
      <p:sp>
        <p:nvSpPr>
          <p:cNvPr id="8" name="Text 5"/>
          <p:cNvSpPr/>
          <p:nvPr/>
        </p:nvSpPr>
        <p:spPr>
          <a:xfrm>
            <a:off x="1210389" y="3586494"/>
            <a:ext cx="474821" cy="256514"/>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A5568"/>
                </a:solidFill>
                <a:latin typeface="Arial" pitchFamily="34" charset="0"/>
                <a:ea typeface="Arial" pitchFamily="34" charset="-122"/>
                <a:cs typeface="Arial" pitchFamily="34" charset="-120"/>
              </a:rPr>
              <a:t>90 °C</a:t>
            </a:r>
            <a:endParaRPr lang="en-US" sz="1300" dirty="0"/>
          </a:p>
        </p:txBody>
      </p:sp>
      <p:pic>
        <p:nvPicPr>
          <p:cNvPr id="9" name="Image 1" descr="ellipse">    </p:cNvPr>
          <p:cNvPicPr>
            <a:picLocks noChangeAspect="1"/>
          </p:cNvPicPr>
          <p:nvPr/>
        </p:nvPicPr>
        <p:blipFill>
          <a:blip r:embed="rId2"/>
          <a:srcRect l="0" r="0" t="0" b="0"/>
          <a:stretch/>
        </p:blipFill>
        <p:spPr>
          <a:xfrm>
            <a:off x="2463800" y="3238500"/>
            <a:ext cx="635000" cy="635000"/>
          </a:xfrm>
          <a:prstGeom prst="rect">
            <a:avLst/>
          </a:prstGeom>
        </p:spPr>
      </p:pic>
      <p:sp>
        <p:nvSpPr>
          <p:cNvPr id="10" name="Text 6"/>
          <p:cNvSpPr/>
          <p:nvPr/>
        </p:nvSpPr>
        <p:spPr>
          <a:xfrm>
            <a:off x="2438400" y="3403600"/>
            <a:ext cx="68580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15233B"/>
                </a:solidFill>
                <a:latin typeface="Arial" pitchFamily="34" charset="0"/>
                <a:ea typeface="Arial" pitchFamily="34" charset="-122"/>
                <a:cs typeface="Arial" pitchFamily="34" charset="-120"/>
              </a:rPr>
              <a:t>Σ</a:t>
            </a:r>
            <a:endParaRPr lang="en-US" sz="2000" dirty="0"/>
          </a:p>
        </p:txBody>
      </p:sp>
      <p:sp>
        <p:nvSpPr>
          <p:cNvPr id="11" name="Text 7"/>
          <p:cNvSpPr/>
          <p:nvPr/>
        </p:nvSpPr>
        <p:spPr>
          <a:xfrm>
            <a:off x="2184400" y="31750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2" name="Text 8"/>
          <p:cNvSpPr/>
          <p:nvPr/>
        </p:nvSpPr>
        <p:spPr>
          <a:xfrm>
            <a:off x="2870200" y="38862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3" name="Shape 9"/>
          <p:cNvSpPr/>
          <p:nvPr/>
        </p:nvSpPr>
        <p:spPr>
          <a:xfrm>
            <a:off x="3486150" y="3117850"/>
            <a:ext cx="1511300" cy="876300"/>
          </a:xfrm>
          <a:prstGeom prst="roundRect">
            <a:avLst>
              <a:gd name="adj" fmla="val 7971"/>
            </a:avLst>
          </a:prstGeom>
          <a:solidFill>
            <a:srgbClr val="15233B"/>
          </a:solidFill>
          <a:ln w="12700">
            <a:solidFill>
              <a:srgbClr val="15233B"/>
            </a:solidFill>
            <a:prstDash val="solid"/>
          </a:ln>
        </p:spPr>
      </p:sp>
      <p:sp>
        <p:nvSpPr>
          <p:cNvPr id="14" name="Text 10"/>
          <p:cNvSpPr/>
          <p:nvPr/>
        </p:nvSpPr>
        <p:spPr>
          <a:xfrm>
            <a:off x="4037052" y="3285499"/>
            <a:ext cx="409496" cy="327653"/>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F6F5F1"/>
                </a:solidFill>
                <a:latin typeface="Arial" pitchFamily="34" charset="0"/>
                <a:ea typeface="Arial" pitchFamily="34" charset="-122"/>
                <a:cs typeface="Arial" pitchFamily="34" charset="-120"/>
              </a:rPr>
              <a:t>PID</a:t>
            </a:r>
            <a:endParaRPr lang="en-US" sz="1700" dirty="0"/>
          </a:p>
        </p:txBody>
      </p:sp>
      <p:sp>
        <p:nvSpPr>
          <p:cNvPr id="15" name="Text 11"/>
          <p:cNvSpPr/>
          <p:nvPr/>
        </p:nvSpPr>
        <p:spPr>
          <a:xfrm>
            <a:off x="3855168" y="3613150"/>
            <a:ext cx="773232"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5DEEA"/>
                </a:solidFill>
                <a:latin typeface="Arial" pitchFamily="34" charset="0"/>
                <a:ea typeface="Arial" pitchFamily="34" charset="-122"/>
                <a:cs typeface="Arial" pitchFamily="34" charset="-120"/>
              </a:rPr>
              <a:t>controller</a:t>
            </a:r>
            <a:endParaRPr lang="en-US" sz="1200" dirty="0"/>
          </a:p>
        </p:txBody>
      </p:sp>
      <p:sp>
        <p:nvSpPr>
          <p:cNvPr id="16" name="Shape 12"/>
          <p:cNvSpPr/>
          <p:nvPr/>
        </p:nvSpPr>
        <p:spPr>
          <a:xfrm>
            <a:off x="5391150" y="3117850"/>
            <a:ext cx="1892300" cy="876300"/>
          </a:xfrm>
          <a:prstGeom prst="roundRect">
            <a:avLst>
              <a:gd name="adj" fmla="val 7971"/>
            </a:avLst>
          </a:prstGeom>
          <a:solidFill>
            <a:srgbClr val="FDFCF9"/>
          </a:solidFill>
          <a:ln w="12700">
            <a:solidFill>
              <a:srgbClr val="15233B"/>
            </a:solidFill>
            <a:prstDash val="solid"/>
          </a:ln>
        </p:spPr>
      </p:sp>
      <p:sp>
        <p:nvSpPr>
          <p:cNvPr id="17" name="Text 13"/>
          <p:cNvSpPr/>
          <p:nvPr/>
        </p:nvSpPr>
        <p:spPr>
          <a:xfrm>
            <a:off x="5786084" y="3303259"/>
            <a:ext cx="11024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Split range</a:t>
            </a:r>
            <a:endParaRPr lang="en-US" sz="1500" dirty="0"/>
          </a:p>
        </p:txBody>
      </p:sp>
      <p:sp>
        <p:nvSpPr>
          <p:cNvPr id="18" name="Text 14"/>
          <p:cNvSpPr/>
          <p:nvPr/>
        </p:nvSpPr>
        <p:spPr>
          <a:xfrm>
            <a:off x="5625667" y="3595359"/>
            <a:ext cx="1423233"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valve · pump · fan</a:t>
            </a:r>
            <a:endParaRPr lang="en-US" sz="1200" dirty="0"/>
          </a:p>
        </p:txBody>
      </p:sp>
      <p:sp>
        <p:nvSpPr>
          <p:cNvPr id="19" name="Shape 15"/>
          <p:cNvSpPr/>
          <p:nvPr/>
        </p:nvSpPr>
        <p:spPr>
          <a:xfrm>
            <a:off x="7677150" y="3117850"/>
            <a:ext cx="2019300" cy="876300"/>
          </a:xfrm>
          <a:prstGeom prst="roundRect">
            <a:avLst>
              <a:gd name="adj" fmla="val 7971"/>
            </a:avLst>
          </a:prstGeom>
          <a:solidFill>
            <a:srgbClr val="FBEADF"/>
          </a:solidFill>
          <a:ln w="12700">
            <a:solidFill>
              <a:srgbClr val="E07A3A"/>
            </a:solidFill>
            <a:prstDash val="solid"/>
          </a:ln>
        </p:spPr>
      </p:sp>
      <p:sp>
        <p:nvSpPr>
          <p:cNvPr id="20" name="Text 16"/>
          <p:cNvSpPr/>
          <p:nvPr/>
        </p:nvSpPr>
        <p:spPr>
          <a:xfrm>
            <a:off x="7841536" y="3303259"/>
            <a:ext cx="169052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Engine + cooling</a:t>
            </a:r>
            <a:endParaRPr lang="en-US" sz="1500" dirty="0"/>
          </a:p>
        </p:txBody>
      </p:sp>
      <p:sp>
        <p:nvSpPr>
          <p:cNvPr id="21" name="Text 17"/>
          <p:cNvSpPr/>
          <p:nvPr/>
        </p:nvSpPr>
        <p:spPr>
          <a:xfrm>
            <a:off x="7949565" y="3595359"/>
            <a:ext cx="147447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system (the plant)</a:t>
            </a:r>
            <a:endParaRPr lang="en-US" sz="1200" dirty="0"/>
          </a:p>
        </p:txBody>
      </p:sp>
      <p:sp>
        <p:nvSpPr>
          <p:cNvPr id="22" name="Text 18"/>
          <p:cNvSpPr/>
          <p:nvPr/>
        </p:nvSpPr>
        <p:spPr>
          <a:xfrm>
            <a:off x="10083800" y="3282950"/>
            <a:ext cx="1346200"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01F"/>
                </a:solidFill>
                <a:latin typeface="Arial" pitchFamily="34" charset="0"/>
                <a:ea typeface="Arial" pitchFamily="34" charset="-122"/>
                <a:cs typeface="Arial" pitchFamily="34" charset="-120"/>
              </a:rPr>
              <a:t>T_c</a:t>
            </a:r>
            <a:endParaRPr lang="en-US" sz="1800" dirty="0"/>
          </a:p>
        </p:txBody>
      </p:sp>
      <p:sp>
        <p:nvSpPr>
          <p:cNvPr id="23" name="Text 19"/>
          <p:cNvSpPr/>
          <p:nvPr/>
        </p:nvSpPr>
        <p:spPr>
          <a:xfrm>
            <a:off x="10083800" y="3615665"/>
            <a:ext cx="1346200"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coolant temp</a:t>
            </a:r>
            <a:endParaRPr lang="en-US" sz="1200" dirty="0"/>
          </a:p>
        </p:txBody>
      </p:sp>
      <p:pic>
        <p:nvPicPr>
          <p:cNvPr id="24" name="Image 2" descr="connector">    </p:cNvPr>
          <p:cNvPicPr>
            <a:picLocks noChangeAspect="1"/>
          </p:cNvPicPr>
          <p:nvPr/>
        </p:nvPicPr>
        <p:blipFill>
          <a:blip r:embed="rId3"/>
          <a:srcRect l="0" r="0" t="0" b="0"/>
          <a:stretch/>
        </p:blipFill>
        <p:spPr>
          <a:xfrm>
            <a:off x="2032000" y="3505200"/>
            <a:ext cx="482600" cy="101600"/>
          </a:xfrm>
          <a:prstGeom prst="rect">
            <a:avLst/>
          </a:prstGeom>
        </p:spPr>
      </p:pic>
      <p:pic>
        <p:nvPicPr>
          <p:cNvPr id="25" name="Image 3" descr="connector">    </p:cNvPr>
          <p:cNvPicPr>
            <a:picLocks noChangeAspect="1"/>
          </p:cNvPicPr>
          <p:nvPr/>
        </p:nvPicPr>
        <p:blipFill>
          <a:blip r:embed="rId4"/>
          <a:srcRect l="0" r="0" t="0" b="0"/>
          <a:stretch/>
        </p:blipFill>
        <p:spPr>
          <a:xfrm>
            <a:off x="3048000" y="3505200"/>
            <a:ext cx="482600" cy="101600"/>
          </a:xfrm>
          <a:prstGeom prst="rect">
            <a:avLst/>
          </a:prstGeom>
        </p:spPr>
      </p:pic>
      <p:pic>
        <p:nvPicPr>
          <p:cNvPr id="26" name="Image 4" descr="connector">    </p:cNvPr>
          <p:cNvPicPr>
            <a:picLocks noChangeAspect="1"/>
          </p:cNvPicPr>
          <p:nvPr/>
        </p:nvPicPr>
        <p:blipFill>
          <a:blip r:embed="rId5"/>
          <a:srcRect l="0" r="0" t="0" b="0"/>
          <a:stretch/>
        </p:blipFill>
        <p:spPr>
          <a:xfrm>
            <a:off x="4953000" y="3505200"/>
            <a:ext cx="482600" cy="101600"/>
          </a:xfrm>
          <a:prstGeom prst="rect">
            <a:avLst/>
          </a:prstGeom>
        </p:spPr>
      </p:pic>
      <p:pic>
        <p:nvPicPr>
          <p:cNvPr id="27" name="Image 5" descr="connector">    </p:cNvPr>
          <p:cNvPicPr>
            <a:picLocks noChangeAspect="1"/>
          </p:cNvPicPr>
          <p:nvPr/>
        </p:nvPicPr>
        <p:blipFill>
          <a:blip r:embed="rId6"/>
          <a:srcRect l="0" r="0" t="0" b="0"/>
          <a:stretch/>
        </p:blipFill>
        <p:spPr>
          <a:xfrm>
            <a:off x="7239000" y="3505200"/>
            <a:ext cx="482600" cy="101600"/>
          </a:xfrm>
          <a:prstGeom prst="rect">
            <a:avLst/>
          </a:prstGeom>
        </p:spPr>
      </p:pic>
      <p:pic>
        <p:nvPicPr>
          <p:cNvPr id="28" name="Image 6" descr="connector">    </p:cNvPr>
          <p:cNvPicPr>
            <a:picLocks noChangeAspect="1"/>
          </p:cNvPicPr>
          <p:nvPr/>
        </p:nvPicPr>
        <p:blipFill>
          <a:blip r:embed="rId7"/>
          <a:srcRect l="0" r="0" t="0" b="0"/>
          <a:stretch/>
        </p:blipFill>
        <p:spPr>
          <a:xfrm>
            <a:off x="9652000" y="3505200"/>
            <a:ext cx="482600" cy="101600"/>
          </a:xfrm>
          <a:prstGeom prst="rect">
            <a:avLst/>
          </a:prstGeom>
        </p:spPr>
      </p:pic>
      <p:sp>
        <p:nvSpPr>
          <p:cNvPr id="29" name="Text 20"/>
          <p:cNvSpPr/>
          <p:nvPr/>
        </p:nvSpPr>
        <p:spPr>
          <a:xfrm>
            <a:off x="31877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e</a:t>
            </a:r>
            <a:endParaRPr lang="en-US" sz="1300" dirty="0"/>
          </a:p>
        </p:txBody>
      </p:sp>
      <p:sp>
        <p:nvSpPr>
          <p:cNvPr id="30" name="Text 21"/>
          <p:cNvSpPr/>
          <p:nvPr/>
        </p:nvSpPr>
        <p:spPr>
          <a:xfrm>
            <a:off x="5105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y</a:t>
            </a:r>
            <a:endParaRPr lang="en-US" sz="1300" dirty="0"/>
          </a:p>
        </p:txBody>
      </p:sp>
      <p:sp>
        <p:nvSpPr>
          <p:cNvPr id="31" name="Text 22"/>
          <p:cNvSpPr/>
          <p:nvPr/>
        </p:nvSpPr>
        <p:spPr>
          <a:xfrm>
            <a:off x="7391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u</a:t>
            </a:r>
            <a:endParaRPr lang="en-US" sz="1300" dirty="0"/>
          </a:p>
        </p:txBody>
      </p:sp>
      <p:pic>
        <p:nvPicPr>
          <p:cNvPr id="32" name="Image 7" descr="connector">    </p:cNvPr>
          <p:cNvPicPr>
            <a:picLocks noChangeAspect="1"/>
          </p:cNvPicPr>
          <p:nvPr/>
        </p:nvPicPr>
        <p:blipFill>
          <a:blip r:embed="rId8"/>
          <a:srcRect l="0" r="0" t="0" b="0"/>
          <a:stretch/>
        </p:blipFill>
        <p:spPr>
          <a:xfrm>
            <a:off x="9855200" y="3505200"/>
            <a:ext cx="101600" cy="1625600"/>
          </a:xfrm>
          <a:prstGeom prst="rect">
            <a:avLst/>
          </a:prstGeom>
        </p:spPr>
      </p:pic>
      <p:pic>
        <p:nvPicPr>
          <p:cNvPr id="33" name="Image 8" descr="connector">    </p:cNvPr>
          <p:cNvPicPr>
            <a:picLocks noChangeAspect="1"/>
          </p:cNvPicPr>
          <p:nvPr/>
        </p:nvPicPr>
        <p:blipFill>
          <a:blip r:embed="rId9"/>
          <a:srcRect l="0" r="0" t="0" b="0"/>
          <a:stretch/>
        </p:blipFill>
        <p:spPr>
          <a:xfrm>
            <a:off x="2730500" y="5029200"/>
            <a:ext cx="7226300" cy="101600"/>
          </a:xfrm>
          <a:prstGeom prst="rect">
            <a:avLst/>
          </a:prstGeom>
        </p:spPr>
      </p:pic>
      <p:pic>
        <p:nvPicPr>
          <p:cNvPr id="34" name="Image 9" descr="connector">    </p:cNvPr>
          <p:cNvPicPr>
            <a:picLocks noChangeAspect="1"/>
          </p:cNvPicPr>
          <p:nvPr/>
        </p:nvPicPr>
        <p:blipFill>
          <a:blip r:embed="rId10"/>
          <a:srcRect l="0" r="0" t="0" b="0"/>
          <a:stretch/>
        </p:blipFill>
        <p:spPr>
          <a:xfrm>
            <a:off x="2730500" y="3835400"/>
            <a:ext cx="101600" cy="1295400"/>
          </a:xfrm>
          <a:prstGeom prst="rect">
            <a:avLst/>
          </a:prstGeom>
        </p:spPr>
      </p:pic>
      <p:sp>
        <p:nvSpPr>
          <p:cNvPr id="35" name="Text 23"/>
          <p:cNvSpPr/>
          <p:nvPr/>
        </p:nvSpPr>
        <p:spPr>
          <a:xfrm>
            <a:off x="4126230" y="5181600"/>
            <a:ext cx="444754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501F"/>
                </a:solidFill>
                <a:latin typeface="Arial" pitchFamily="34" charset="0"/>
                <a:ea typeface="Arial" pitchFamily="34" charset="-122"/>
                <a:cs typeface="Arial" pitchFamily="34" charset="-120"/>
              </a:rPr>
              <a:t>measured by a temperature sensor (feedback)</a:t>
            </a:r>
            <a:endParaRPr lang="en-US" sz="1200" dirty="0"/>
          </a:p>
        </p:txBody>
      </p:sp>
      <p:sp>
        <p:nvSpPr>
          <p:cNvPr id="36" name="Text 2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STATES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One temperature is enough for a simple model</a:t>
            </a:r>
            <a:endParaRPr lang="en-US" sz="3200" dirty="0"/>
          </a:p>
        </p:txBody>
      </p:sp>
      <p:sp>
        <p:nvSpPr>
          <p:cNvPr id="4" name="Shape 2"/>
          <p:cNvSpPr/>
          <p:nvPr/>
        </p:nvSpPr>
        <p:spPr>
          <a:xfrm>
            <a:off x="815975" y="1857344"/>
            <a:ext cx="3380317" cy="2050355"/>
          </a:xfrm>
          <a:prstGeom prst="roundRect">
            <a:avLst>
              <a:gd name="adj" fmla="val 4800"/>
            </a:avLst>
          </a:prstGeom>
          <a:solidFill>
            <a:srgbClr val="15233B"/>
          </a:solidFill>
          <a:ln w="6350">
            <a:solidFill>
              <a:srgbClr val="15233B"/>
            </a:solidFill>
            <a:prstDash val="solid"/>
          </a:ln>
        </p:spPr>
      </p:sp>
      <p:sp>
        <p:nvSpPr>
          <p:cNvPr id="5" name="Text 3"/>
          <p:cNvSpPr/>
          <p:nvPr/>
        </p:nvSpPr>
        <p:spPr>
          <a:xfrm>
            <a:off x="1073150"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F0A26E"/>
                </a:solidFill>
                <a:latin typeface="Courier New" pitchFamily="49" charset="0"/>
                <a:ea typeface="Courier New" pitchFamily="49" charset="-122"/>
                <a:cs typeface="Courier New" pitchFamily="49" charset="-120"/>
              </a:rPr>
              <a:t>T_c</a:t>
            </a:r>
            <a:endParaRPr lang="en-US" sz="2800" dirty="0"/>
          </a:p>
        </p:txBody>
      </p:sp>
      <p:sp>
        <p:nvSpPr>
          <p:cNvPr id="6" name="Text 4"/>
          <p:cNvSpPr/>
          <p:nvPr/>
        </p:nvSpPr>
        <p:spPr>
          <a:xfrm>
            <a:off x="1073150"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5F1"/>
                </a:solidFill>
                <a:latin typeface="Arial" pitchFamily="34" charset="0"/>
                <a:ea typeface="Arial" pitchFamily="34" charset="-122"/>
                <a:cs typeface="Arial" pitchFamily="34" charset="-120"/>
              </a:rPr>
              <a:t>Engine coolant</a:t>
            </a:r>
            <a:endParaRPr lang="en-US" sz="1700" dirty="0"/>
          </a:p>
        </p:txBody>
      </p:sp>
      <p:sp>
        <p:nvSpPr>
          <p:cNvPr id="7" name="Text 5"/>
          <p:cNvSpPr/>
          <p:nvPr/>
        </p:nvSpPr>
        <p:spPr>
          <a:xfrm>
            <a:off x="1073150"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How hot the engine is. </a:t>
            </a:r>
            <a:r>
              <a:rPr lang="en-US" sz="1300" b="1" dirty="0">
                <a:solidFill>
                  <a:srgbClr val="D5DEEA"/>
                </a:solidFill>
                <a:latin typeface="Arial" pitchFamily="34" charset="0"/>
                <a:ea typeface="Arial" pitchFamily="34" charset="-122"/>
                <a:cs typeface="Arial" pitchFamily="34" charset="-120"/>
              </a:rPr>
              <a:t>The variable we control:</a:t>
            </a:r>
            <a:r>
              <a:rPr lang="en-US" sz="1300" dirty="0">
                <a:solidFill>
                  <a:srgbClr val="D5DEEA"/>
                </a:solidFill>
                <a:latin typeface="Arial" pitchFamily="34" charset="0"/>
                <a:ea typeface="Arial" pitchFamily="34" charset="-122"/>
                <a:cs typeface="Arial" pitchFamily="34" charset="-120"/>
              </a:rPr>
              <a:t> target 90 °C, limit 105 °C.</a:t>
            </a:r>
            <a:endParaRPr lang="en-US" sz="1300" dirty="0"/>
          </a:p>
        </p:txBody>
      </p:sp>
      <p:sp>
        <p:nvSpPr>
          <p:cNvPr id="8" name="Shape 6"/>
          <p:cNvSpPr/>
          <p:nvPr/>
        </p:nvSpPr>
        <p:spPr>
          <a:xfrm>
            <a:off x="4405842" y="1857344"/>
            <a:ext cx="3380317" cy="2050355"/>
          </a:xfrm>
          <a:prstGeom prst="roundRect">
            <a:avLst>
              <a:gd name="adj" fmla="val 4800"/>
            </a:avLst>
          </a:prstGeom>
          <a:solidFill>
            <a:srgbClr val="FDFCF9"/>
          </a:solidFill>
          <a:ln w="6350">
            <a:solidFill>
              <a:srgbClr val="E2DED3"/>
            </a:solidFill>
            <a:prstDash val="solid"/>
          </a:ln>
        </p:spPr>
      </p:sp>
      <p:sp>
        <p:nvSpPr>
          <p:cNvPr id="9" name="Text 7"/>
          <p:cNvSpPr/>
          <p:nvPr/>
        </p:nvSpPr>
        <p:spPr>
          <a:xfrm>
            <a:off x="4663017"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2B6CB0"/>
                </a:solidFill>
                <a:latin typeface="Courier New" pitchFamily="49" charset="0"/>
                <a:ea typeface="Courier New" pitchFamily="49" charset="-122"/>
                <a:cs typeface="Courier New" pitchFamily="49" charset="-120"/>
              </a:rPr>
              <a:t>T_r</a:t>
            </a:r>
            <a:endParaRPr lang="en-US" sz="2800" dirty="0"/>
          </a:p>
        </p:txBody>
      </p:sp>
      <p:sp>
        <p:nvSpPr>
          <p:cNvPr id="10" name="Text 8"/>
          <p:cNvSpPr/>
          <p:nvPr/>
        </p:nvSpPr>
        <p:spPr>
          <a:xfrm>
            <a:off x="4663017"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Radiator</a:t>
            </a:r>
            <a:endParaRPr lang="en-US" sz="1700" dirty="0"/>
          </a:p>
        </p:txBody>
      </p:sp>
      <p:sp>
        <p:nvSpPr>
          <p:cNvPr id="11" name="Text 9"/>
          <p:cNvSpPr/>
          <p:nvPr/>
        </p:nvSpPr>
        <p:spPr>
          <a:xfrm>
            <a:off x="4663017" y="2932379"/>
            <a:ext cx="2951946" cy="74354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 a separate state. Coolant takes 11.3 s to go round the loop: a short lag.</a:t>
            </a:r>
            <a:endParaRPr lang="en-US" sz="1300" dirty="0"/>
          </a:p>
        </p:txBody>
      </p:sp>
      <p:sp>
        <p:nvSpPr>
          <p:cNvPr id="12" name="Shape 10"/>
          <p:cNvSpPr/>
          <p:nvPr/>
        </p:nvSpPr>
        <p:spPr>
          <a:xfrm>
            <a:off x="7995709" y="1857344"/>
            <a:ext cx="3380317" cy="2050355"/>
          </a:xfrm>
          <a:prstGeom prst="roundRect">
            <a:avLst>
              <a:gd name="adj" fmla="val 4800"/>
            </a:avLst>
          </a:prstGeom>
          <a:solidFill>
            <a:srgbClr val="FDFCF9"/>
          </a:solidFill>
          <a:ln w="6350">
            <a:solidFill>
              <a:srgbClr val="E2DED3"/>
            </a:solidFill>
            <a:prstDash val="solid"/>
          </a:ln>
        </p:spPr>
      </p:sp>
      <p:sp>
        <p:nvSpPr>
          <p:cNvPr id="13" name="Text 11"/>
          <p:cNvSpPr/>
          <p:nvPr/>
        </p:nvSpPr>
        <p:spPr>
          <a:xfrm>
            <a:off x="8252884"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B4501F"/>
                </a:solidFill>
                <a:latin typeface="Courier New" pitchFamily="49" charset="0"/>
                <a:ea typeface="Courier New" pitchFamily="49" charset="-122"/>
                <a:cs typeface="Courier New" pitchFamily="49" charset="-120"/>
              </a:rPr>
              <a:t>T_o</a:t>
            </a:r>
            <a:endParaRPr lang="en-US" sz="2800" dirty="0"/>
          </a:p>
        </p:txBody>
      </p:sp>
      <p:sp>
        <p:nvSpPr>
          <p:cNvPr id="14" name="Text 12"/>
          <p:cNvSpPr/>
          <p:nvPr/>
        </p:nvSpPr>
        <p:spPr>
          <a:xfrm>
            <a:off x="8252884"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Engine oil</a:t>
            </a:r>
            <a:endParaRPr lang="en-US" sz="1700" dirty="0"/>
          </a:p>
        </p:txBody>
      </p:sp>
      <p:sp>
        <p:nvSpPr>
          <p:cNvPr id="15" name="Text 13"/>
          <p:cNvSpPr/>
          <p:nvPr/>
        </p:nvSpPr>
        <p:spPr>
          <a:xfrm>
            <a:off x="8252884"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Lumped with the block and coolant into one heat capacity (Chalmers, 2011).</a:t>
            </a:r>
            <a:endParaRPr lang="en-US" sz="1300" dirty="0"/>
          </a:p>
        </p:txBody>
      </p:sp>
      <p:sp>
        <p:nvSpPr>
          <p:cNvPr id="16" name="Text 14"/>
          <p:cNvSpPr/>
          <p:nvPr/>
        </p:nvSpPr>
        <p:spPr>
          <a:xfrm>
            <a:off x="812800" y="4215674"/>
            <a:ext cx="1088339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Heat path: </a:t>
            </a:r>
            <a:r>
              <a:rPr lang="en-US" sz="1400" b="1" dirty="0">
                <a:solidFill>
                  <a:srgbClr val="4A5568"/>
                </a:solidFill>
                <a:latin typeface="Arial" pitchFamily="34" charset="0"/>
                <a:ea typeface="Arial" pitchFamily="34" charset="-122"/>
                <a:cs typeface="Arial" pitchFamily="34" charset="-120"/>
              </a:rPr>
              <a:t>engine → coolant (T_c) → radiator (T_r) → outside air</a:t>
            </a:r>
            <a:r>
              <a:rPr lang="en-US" sz="1400" dirty="0">
                <a:solidFill>
                  <a:srgbClr val="4A5568"/>
                </a:solidFill>
                <a:latin typeface="Arial" pitchFamily="34" charset="0"/>
                <a:ea typeface="Arial" pitchFamily="34" charset="-122"/>
                <a:cs typeface="Arial" pitchFamily="34" charset="-120"/>
              </a:rPr>
              <a:t>. Block, coolant and oil act as one mass with an 851 s lag. The output is </a:t>
            </a:r>
            <a:r>
              <a:rPr lang="en-US" sz="1400" dirty="0">
                <a:solidFill>
                  <a:srgbClr val="B4501F"/>
                </a:solidFill>
                <a:latin typeface="Arial" pitchFamily="34" charset="0"/>
                <a:ea typeface="Arial" pitchFamily="34" charset="-122"/>
                <a:cs typeface="Arial" pitchFamily="34" charset="-120"/>
              </a:rPr>
              <a:t>T_c</a:t>
            </a:r>
            <a:r>
              <a:rPr lang="en-US" sz="1400" dirty="0">
                <a:solidFill>
                  <a:srgbClr val="4A5568"/>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PLANT MODEL</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Two transfer functions describe the plant</a:t>
            </a:r>
            <a:endParaRPr lang="en-US" sz="3200" dirty="0"/>
          </a:p>
        </p:txBody>
      </p:sp>
      <p:sp>
        <p:nvSpPr>
          <p:cNvPr id="4" name="Shape 2"/>
          <p:cNvSpPr/>
          <p:nvPr/>
        </p:nvSpPr>
        <p:spPr>
          <a:xfrm>
            <a:off x="815975" y="1806544"/>
            <a:ext cx="10560050" cy="923264"/>
          </a:xfrm>
          <a:prstGeom prst="roundRect">
            <a:avLst>
              <a:gd name="adj" fmla="val 10661"/>
            </a:avLst>
          </a:prstGeom>
          <a:solidFill>
            <a:srgbClr val="FDFCF9"/>
          </a:solidFill>
          <a:ln w="6350">
            <a:solidFill>
              <a:srgbClr val="E2DED3"/>
            </a:solidFill>
            <a:prstDash val="solid"/>
          </a:ln>
        </p:spPr>
      </p:sp>
      <p:sp>
        <p:nvSpPr>
          <p:cNvPr id="5" name="Text 3"/>
          <p:cNvSpPr/>
          <p:nvPr/>
        </p:nvSpPr>
        <p:spPr>
          <a:xfrm>
            <a:off x="1073150" y="1987519"/>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G(s)  = 38.1 / ((851s + 1)(11.3s + 1))</a:t>
            </a:r>
            <a:endParaRPr lang="en-US" sz="1500" dirty="0"/>
          </a:p>
        </p:txBody>
      </p:sp>
      <p:sp>
        <p:nvSpPr>
          <p:cNvPr id="6" name="Text 4"/>
          <p:cNvSpPr/>
          <p:nvPr/>
        </p:nvSpPr>
        <p:spPr>
          <a:xfrm>
            <a:off x="1073150" y="2317719"/>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Fan path: 1 kg/s more fan air lowers T_c by 38 K, through the loop delay and the engine lag</a:t>
            </a:r>
            <a:endParaRPr lang="en-US" sz="1300" dirty="0"/>
          </a:p>
        </p:txBody>
      </p:sp>
      <p:sp>
        <p:nvSpPr>
          <p:cNvPr id="7" name="Shape 5"/>
          <p:cNvSpPr/>
          <p:nvPr/>
        </p:nvSpPr>
        <p:spPr>
          <a:xfrm>
            <a:off x="815975" y="2863155"/>
            <a:ext cx="10560050" cy="923264"/>
          </a:xfrm>
          <a:prstGeom prst="roundRect">
            <a:avLst>
              <a:gd name="adj" fmla="val 10661"/>
            </a:avLst>
          </a:prstGeom>
          <a:solidFill>
            <a:srgbClr val="FDFCF9"/>
          </a:solidFill>
          <a:ln w="6350">
            <a:solidFill>
              <a:srgbClr val="E2DED3"/>
            </a:solidFill>
            <a:prstDash val="solid"/>
          </a:ln>
        </p:spPr>
      </p:sp>
      <p:sp>
        <p:nvSpPr>
          <p:cNvPr id="8" name="Text 6"/>
          <p:cNvSpPr/>
          <p:nvPr/>
        </p:nvSpPr>
        <p:spPr>
          <a:xfrm>
            <a:off x="1073150" y="3044130"/>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Gd(s) = 2.0 / (851s + 1)</a:t>
            </a:r>
            <a:endParaRPr lang="en-US" sz="1500" dirty="0"/>
          </a:p>
        </p:txBody>
      </p:sp>
      <p:sp>
        <p:nvSpPr>
          <p:cNvPr id="9" name="Text 7"/>
          <p:cNvSpPr/>
          <p:nvPr/>
        </p:nvSpPr>
        <p:spPr>
          <a:xfrm>
            <a:off x="1073150" y="3374330"/>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Load path: 1 % more engine load raises T_c by 2.0 K, through the engine lag only</a:t>
            </a:r>
            <a:endParaRPr lang="en-US" sz="1300" dirty="0"/>
          </a:p>
        </p:txBody>
      </p:sp>
      <p:sp>
        <p:nvSpPr>
          <p:cNvPr id="10" name="Shape 8"/>
          <p:cNvSpPr/>
          <p:nvPr/>
        </p:nvSpPr>
        <p:spPr>
          <a:xfrm>
            <a:off x="815975" y="3919770"/>
            <a:ext cx="10560050" cy="923264"/>
          </a:xfrm>
          <a:prstGeom prst="roundRect">
            <a:avLst>
              <a:gd name="adj" fmla="val 10661"/>
            </a:avLst>
          </a:prstGeom>
          <a:solidFill>
            <a:srgbClr val="FDFCF9"/>
          </a:solidFill>
          <a:ln w="6350">
            <a:solidFill>
              <a:srgbClr val="E2DED3"/>
            </a:solidFill>
            <a:prstDash val="solid"/>
          </a:ln>
        </p:spPr>
      </p:sp>
      <p:sp>
        <p:nvSpPr>
          <p:cNvPr id="11" name="Text 9"/>
          <p:cNvSpPr/>
          <p:nvPr/>
        </p:nvSpPr>
        <p:spPr>
          <a:xfrm>
            <a:off x="1073150" y="4100745"/>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T_c = 90 − G(s)·Δy + Gd(s)·ΔL</a:t>
            </a:r>
            <a:endParaRPr lang="en-US" sz="1500" dirty="0"/>
          </a:p>
        </p:txBody>
      </p:sp>
      <p:sp>
        <p:nvSpPr>
          <p:cNvPr id="12" name="Text 10"/>
          <p:cNvSpPr/>
          <p:nvPr/>
        </p:nvSpPr>
        <p:spPr>
          <a:xfrm>
            <a:off x="1073150" y="4430945"/>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Linearised at 90 °C, 30 % load and 30 °C air, where the fan air flow is y0 = 1.58 kg/s</a:t>
            </a:r>
            <a:endParaRPr lang="en-US" sz="1300" dirty="0"/>
          </a:p>
        </p:txBody>
      </p:sp>
      <p:sp>
        <p:nvSpPr>
          <p:cNvPr id="13" name="Text 11"/>
          <p:cNvSpPr/>
          <p:nvPr/>
        </p:nvSpPr>
        <p:spPr>
          <a:xfrm>
            <a:off x="812800" y="510021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Data: Volvo D13 fact sheet, COBEM 2009, IOSR 2018, Chalmers 2011, Engineering ToolBox (slide 14)</a:t>
            </a:r>
            <a:endParaRPr lang="en-US" sz="1300" dirty="0"/>
          </a:p>
        </p:txBody>
      </p:sp>
      <p:sp>
        <p:nvSpPr>
          <p:cNvPr id="14" name="Text 1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law</a:t>
            </a:r>
            <a:endParaRPr lang="en-US" sz="3200" dirty="0"/>
          </a:p>
        </p:txBody>
      </p:sp>
      <p:sp>
        <p:nvSpPr>
          <p:cNvPr id="4" name="Shape 2"/>
          <p:cNvSpPr/>
          <p:nvPr/>
        </p:nvSpPr>
        <p:spPr>
          <a:xfrm>
            <a:off x="812800" y="1803369"/>
            <a:ext cx="10566400" cy="1427460"/>
          </a:xfrm>
          <a:prstGeom prst="roundRect">
            <a:avLst>
              <a:gd name="adj" fmla="val 7118"/>
            </a:avLst>
          </a:prstGeom>
          <a:solidFill>
            <a:srgbClr val="15233B"/>
          </a:solidFill>
          <a:ln/>
        </p:spPr>
      </p:sp>
      <p:sp>
        <p:nvSpPr>
          <p:cNvPr id="5" name="Text 3"/>
          <p:cNvSpPr/>
          <p:nvPr/>
        </p:nvSpPr>
        <p:spPr>
          <a:xfrm>
            <a:off x="1168400" y="2057369"/>
            <a:ext cx="10150856"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5DEEA"/>
                </a:solidFill>
                <a:latin typeface="Courier New" pitchFamily="49" charset="0"/>
                <a:ea typeface="Courier New" pitchFamily="49" charset="-122"/>
                <a:cs typeface="Courier New" pitchFamily="49" charset="-120"/>
              </a:rPr>
              <a:t>e = T_c − 90 °C</a:t>
            </a:r>
            <a:endParaRPr lang="en-US" sz="2000" dirty="0"/>
          </a:p>
        </p:txBody>
      </p:sp>
      <p:sp>
        <p:nvSpPr>
          <p:cNvPr id="6" name="Text 4"/>
          <p:cNvSpPr/>
          <p:nvPr/>
        </p:nvSpPr>
        <p:spPr>
          <a:xfrm>
            <a:off x="1168400" y="2514569"/>
            <a:ext cx="10150856" cy="487660"/>
          </a:xfrm>
          <a:prstGeom prst="rect">
            <a:avLst/>
          </a:prstGeom>
          <a:noFill/>
          <a:ln/>
        </p:spPr>
        <p:txBody>
          <a:bodyPr wrap="square" lIns="0" tIns="0" rIns="0" bIns="0" rtlCol="0" anchor="t">
            <a:normAutofit/>
          </a:bodyPr>
          <a:lstStyle/>
          <a:p>
            <a:pPr algn="l" indent="0" marL="0">
              <a:lnSpc>
                <a:spcPts val="3640"/>
              </a:lnSpc>
              <a:buNone/>
            </a:pPr>
            <a:r>
              <a:rPr lang="en-US" sz="2600" dirty="0">
                <a:solidFill>
                  <a:srgbClr val="F6F5F1"/>
                </a:solidFill>
                <a:latin typeface="Courier New" pitchFamily="49" charset="0"/>
                <a:ea typeface="Courier New" pitchFamily="49" charset="-122"/>
                <a:cs typeface="Courier New" pitchFamily="49" charset="-120"/>
              </a:rPr>
              <a:t>y = Kp·e + Ki·∫e dt + Kd·de/dt</a:t>
            </a:r>
            <a:endParaRPr lang="en-US" sz="2600" dirty="0"/>
          </a:p>
        </p:txBody>
      </p:sp>
      <p:sp>
        <p:nvSpPr>
          <p:cNvPr id="7" name="Shape 5"/>
          <p:cNvSpPr/>
          <p:nvPr/>
        </p:nvSpPr>
        <p:spPr>
          <a:xfrm>
            <a:off x="815975" y="3488004"/>
            <a:ext cx="3380317" cy="1292820"/>
          </a:xfrm>
          <a:prstGeom prst="roundRect">
            <a:avLst>
              <a:gd name="adj" fmla="val 7613"/>
            </a:avLst>
          </a:prstGeom>
          <a:solidFill>
            <a:srgbClr val="FDFCF9"/>
          </a:solidFill>
          <a:ln w="6350">
            <a:solidFill>
              <a:srgbClr val="E2DED3"/>
            </a:solidFill>
            <a:prstDash val="solid"/>
          </a:ln>
        </p:spPr>
      </p:sp>
      <p:sp>
        <p:nvSpPr>
          <p:cNvPr id="8" name="Text 6"/>
          <p:cNvSpPr/>
          <p:nvPr/>
        </p:nvSpPr>
        <p:spPr>
          <a:xfrm>
            <a:off x="1047750"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P · proportional</a:t>
            </a:r>
            <a:endParaRPr lang="en-US" sz="1800" dirty="0"/>
          </a:p>
        </p:txBody>
      </p:sp>
      <p:sp>
        <p:nvSpPr>
          <p:cNvPr id="9" name="Text 7"/>
          <p:cNvSpPr/>
          <p:nvPr/>
        </p:nvSpPr>
        <p:spPr>
          <a:xfrm>
            <a:off x="1047750"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the </a:t>
            </a:r>
            <a:r>
              <a:rPr lang="en-US" sz="1300" b="1" dirty="0">
                <a:solidFill>
                  <a:srgbClr val="4A5568"/>
                </a:solidFill>
                <a:latin typeface="Arial" pitchFamily="34" charset="0"/>
                <a:ea typeface="Arial" pitchFamily="34" charset="-122"/>
                <a:cs typeface="Arial" pitchFamily="34" charset="-120"/>
              </a:rPr>
              <a:t>present</a:t>
            </a:r>
            <a:r>
              <a:rPr lang="en-US" sz="1300" dirty="0">
                <a:solidFill>
                  <a:srgbClr val="4A5568"/>
                </a:solidFill>
                <a:latin typeface="Arial" pitchFamily="34" charset="0"/>
                <a:ea typeface="Arial" pitchFamily="34" charset="-122"/>
                <a:cs typeface="Arial" pitchFamily="34" charset="-120"/>
              </a:rPr>
              <a:t> error. Fast, but on its own leaves an offset.</a:t>
            </a:r>
            <a:endParaRPr lang="en-US" sz="1300" dirty="0"/>
          </a:p>
        </p:txBody>
      </p:sp>
      <p:sp>
        <p:nvSpPr>
          <p:cNvPr id="10" name="Shape 8"/>
          <p:cNvSpPr/>
          <p:nvPr/>
        </p:nvSpPr>
        <p:spPr>
          <a:xfrm>
            <a:off x="4405842" y="3488004"/>
            <a:ext cx="3380317" cy="1292820"/>
          </a:xfrm>
          <a:prstGeom prst="roundRect">
            <a:avLst>
              <a:gd name="adj" fmla="val 7613"/>
            </a:avLst>
          </a:prstGeom>
          <a:solidFill>
            <a:srgbClr val="FDFCF9"/>
          </a:solidFill>
          <a:ln w="6350">
            <a:solidFill>
              <a:srgbClr val="E2DED3"/>
            </a:solidFill>
            <a:prstDash val="solid"/>
          </a:ln>
        </p:spPr>
      </p:sp>
      <p:sp>
        <p:nvSpPr>
          <p:cNvPr id="11" name="Text 9"/>
          <p:cNvSpPr/>
          <p:nvPr/>
        </p:nvSpPr>
        <p:spPr>
          <a:xfrm>
            <a:off x="4637617"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I · integral</a:t>
            </a:r>
            <a:endParaRPr lang="en-US" sz="1800" dirty="0"/>
          </a:p>
        </p:txBody>
      </p:sp>
      <p:sp>
        <p:nvSpPr>
          <p:cNvPr id="12" name="Text 10"/>
          <p:cNvSpPr/>
          <p:nvPr/>
        </p:nvSpPr>
        <p:spPr>
          <a:xfrm>
            <a:off x="4637617"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Adds up </a:t>
            </a:r>
            <a:r>
              <a:rPr lang="en-US" sz="1300" b="1" dirty="0">
                <a:solidFill>
                  <a:srgbClr val="4A5568"/>
                </a:solidFill>
                <a:latin typeface="Arial" pitchFamily="34" charset="0"/>
                <a:ea typeface="Arial" pitchFamily="34" charset="-122"/>
                <a:cs typeface="Arial" pitchFamily="34" charset="-120"/>
              </a:rPr>
              <a:t>past</a:t>
            </a:r>
            <a:r>
              <a:rPr lang="en-US" sz="1300" dirty="0">
                <a:solidFill>
                  <a:srgbClr val="4A5568"/>
                </a:solidFill>
                <a:latin typeface="Arial" pitchFamily="34" charset="0"/>
                <a:ea typeface="Arial" pitchFamily="34" charset="-122"/>
                <a:cs typeface="Arial" pitchFamily="34" charset="-120"/>
              </a:rPr>
              <a:t> error. Removes the steady-state offset.</a:t>
            </a:r>
            <a:endParaRPr lang="en-US" sz="1300" dirty="0"/>
          </a:p>
        </p:txBody>
      </p:sp>
      <p:sp>
        <p:nvSpPr>
          <p:cNvPr id="13" name="Shape 11"/>
          <p:cNvSpPr/>
          <p:nvPr/>
        </p:nvSpPr>
        <p:spPr>
          <a:xfrm>
            <a:off x="7995709" y="3488004"/>
            <a:ext cx="3380317" cy="1292820"/>
          </a:xfrm>
          <a:prstGeom prst="roundRect">
            <a:avLst>
              <a:gd name="adj" fmla="val 7613"/>
            </a:avLst>
          </a:prstGeom>
          <a:solidFill>
            <a:srgbClr val="FDFCF9"/>
          </a:solidFill>
          <a:ln w="6350">
            <a:solidFill>
              <a:srgbClr val="E2DED3"/>
            </a:solidFill>
            <a:prstDash val="solid"/>
          </a:ln>
        </p:spPr>
      </p:sp>
      <p:sp>
        <p:nvSpPr>
          <p:cNvPr id="14" name="Text 12"/>
          <p:cNvSpPr/>
          <p:nvPr/>
        </p:nvSpPr>
        <p:spPr>
          <a:xfrm>
            <a:off x="8227484"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D · derivative</a:t>
            </a:r>
            <a:endParaRPr lang="en-US" sz="1800" dirty="0"/>
          </a:p>
        </p:txBody>
      </p:sp>
      <p:sp>
        <p:nvSpPr>
          <p:cNvPr id="15" name="Text 13"/>
          <p:cNvSpPr/>
          <p:nvPr/>
        </p:nvSpPr>
        <p:spPr>
          <a:xfrm>
            <a:off x="8227484"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how </a:t>
            </a:r>
            <a:r>
              <a:rPr lang="en-US" sz="1300" b="1" dirty="0">
                <a:solidFill>
                  <a:srgbClr val="4A5568"/>
                </a:solidFill>
                <a:latin typeface="Arial" pitchFamily="34" charset="0"/>
                <a:ea typeface="Arial" pitchFamily="34" charset="-122"/>
                <a:cs typeface="Arial" pitchFamily="34" charset="-120"/>
              </a:rPr>
              <a:t>fast</a:t>
            </a:r>
            <a:r>
              <a:rPr lang="en-US" sz="1300" dirty="0">
                <a:solidFill>
                  <a:srgbClr val="4A5568"/>
                </a:solidFill>
                <a:latin typeface="Arial" pitchFamily="34" charset="0"/>
                <a:ea typeface="Arial" pitchFamily="34" charset="-122"/>
                <a:cs typeface="Arial" pitchFamily="34" charset="-120"/>
              </a:rPr>
              <a:t> the error changes. Damps the peak.</a:t>
            </a:r>
            <a:endParaRPr lang="en-US" sz="1300" dirty="0"/>
          </a:p>
        </p:txBody>
      </p:sp>
      <p:sp>
        <p:nvSpPr>
          <p:cNvPr id="16" name="Text 1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How the PID is set up</a:t>
            </a:r>
            <a:endParaRPr lang="en-US" sz="3200" dirty="0"/>
          </a:p>
        </p:txBody>
      </p:sp>
      <p:sp>
        <p:nvSpPr>
          <p:cNvPr id="4" name="Shape 2"/>
          <p:cNvSpPr/>
          <p:nvPr/>
        </p:nvSpPr>
        <p:spPr>
          <a:xfrm>
            <a:off x="815975" y="1806544"/>
            <a:ext cx="3380317" cy="2731459"/>
          </a:xfrm>
          <a:prstGeom prst="roundRect">
            <a:avLst>
              <a:gd name="adj" fmla="val 3603"/>
            </a:avLst>
          </a:prstGeom>
          <a:solidFill>
            <a:srgbClr val="FDFCF9"/>
          </a:solidFill>
          <a:ln w="6350">
            <a:solidFill>
              <a:srgbClr val="E2DED3"/>
            </a:solidFill>
            <a:prstDash val="solid"/>
          </a:ln>
        </p:spPr>
      </p:sp>
      <p:sp>
        <p:nvSpPr>
          <p:cNvPr id="5" name="Text 3"/>
          <p:cNvSpPr/>
          <p:nvPr/>
        </p:nvSpPr>
        <p:spPr>
          <a:xfrm>
            <a:off x="1047750"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Split range</a:t>
            </a:r>
            <a:endParaRPr lang="en-US" sz="1700" dirty="0"/>
          </a:p>
        </p:txBody>
      </p:sp>
      <p:sp>
        <p:nvSpPr>
          <p:cNvPr id="6" name="Text 4"/>
          <p:cNvSpPr/>
          <p:nvPr/>
        </p:nvSpPr>
        <p:spPr>
          <a:xfrm>
            <a:off x="1047750" y="2398979"/>
            <a:ext cx="300427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Our model drives the fan only (0–4.5 kg/s of air). Full split range: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60450" y="2975508"/>
          <a:ext cx="2904067" cy="1330722"/>
        </p:xfrm>
        <a:graphic>
          <a:graphicData uri="http://schemas.openxmlformats.org/drawingml/2006/table">
            <a:tbl>
              <a:tblPr/>
              <a:tblGrid>
                <a:gridCol w="1103545"/>
                <a:gridCol w="1800521"/>
              </a:tblGrid>
              <a:tr h="332680">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y</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actuator</a:t>
                      </a:r>
                      <a:endParaRPr lang="en-US" sz="1200" dirty="0">
                        <a:latin typeface="Arial" charset="0"/>
                        <a:ea typeface="Arial" charset="0"/>
                        <a:cs typeface="Arial" charset="0"/>
                      </a:endParaRPr>
                    </a:p>
                  </a:txBody>
                  <a:tcPr marL="53340" marR="53340" marT="53340" marB="53340" anchor="t">
                    <a:lnL w="12700" cap="flat" cmpd="sng" algn="ctr">
                      <a:solidFill>
                        <a:srgbClr val="BBBAB8"/>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valve opens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1 → 2</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pump speeds up</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2 → 3</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fan runs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Shape 5"/>
          <p:cNvSpPr/>
          <p:nvPr/>
        </p:nvSpPr>
        <p:spPr>
          <a:xfrm>
            <a:off x="4405842" y="1806544"/>
            <a:ext cx="3380317" cy="2731459"/>
          </a:xfrm>
          <a:prstGeom prst="roundRect">
            <a:avLst>
              <a:gd name="adj" fmla="val 3603"/>
            </a:avLst>
          </a:prstGeom>
          <a:solidFill>
            <a:srgbClr val="FDFCF9"/>
          </a:solidFill>
          <a:ln w="6350">
            <a:solidFill>
              <a:srgbClr val="E2DED3"/>
            </a:solidFill>
            <a:prstDash val="solid"/>
          </a:ln>
        </p:spPr>
      </p:sp>
      <p:sp>
        <p:nvSpPr>
          <p:cNvPr id="9" name="Text 6"/>
          <p:cNvSpPr/>
          <p:nvPr/>
        </p:nvSpPr>
        <p:spPr>
          <a:xfrm>
            <a:off x="4637617"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SIMC tuning</a:t>
            </a:r>
            <a:endParaRPr lang="en-US" sz="1700" dirty="0"/>
          </a:p>
        </p:txBody>
      </p:sp>
      <p:sp>
        <p:nvSpPr>
          <p:cNvPr id="10" name="Text 7"/>
          <p:cNvSpPr/>
          <p:nvPr/>
        </p:nvSpPr>
        <p:spPr>
          <a:xfrm>
            <a:off x="4637617" y="2398979"/>
            <a:ext cx="3004270"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The gains are calculated from the plant with Skogestad's SIMC rule (2003), not found by trial and error.</a:t>
            </a:r>
            <a:endParaRPr lang="en-US" sz="1300" dirty="0"/>
          </a:p>
        </p:txBody>
      </p:sp>
      <p:sp>
        <p:nvSpPr>
          <p:cNvPr id="11" name="Shape 8"/>
          <p:cNvSpPr/>
          <p:nvPr/>
        </p:nvSpPr>
        <p:spPr>
          <a:xfrm>
            <a:off x="7995709" y="1806544"/>
            <a:ext cx="3380317" cy="2731459"/>
          </a:xfrm>
          <a:prstGeom prst="roundRect">
            <a:avLst>
              <a:gd name="adj" fmla="val 3603"/>
            </a:avLst>
          </a:prstGeom>
          <a:solidFill>
            <a:srgbClr val="FDFCF9"/>
          </a:solidFill>
          <a:ln w="6350">
            <a:solidFill>
              <a:srgbClr val="E2DED3"/>
            </a:solidFill>
            <a:prstDash val="solid"/>
          </a:ln>
        </p:spPr>
      </p:sp>
      <p:sp>
        <p:nvSpPr>
          <p:cNvPr id="12" name="Text 9"/>
          <p:cNvSpPr/>
          <p:nvPr/>
        </p:nvSpPr>
        <p:spPr>
          <a:xfrm>
            <a:off x="8227484"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Derivative filter</a:t>
            </a:r>
            <a:endParaRPr lang="en-US" sz="1700" dirty="0"/>
          </a:p>
        </p:txBody>
      </p:sp>
      <p:sp>
        <p:nvSpPr>
          <p:cNvPr id="13" name="Text 10"/>
          <p:cNvSpPr/>
          <p:nvPr/>
        </p:nvSpPr>
        <p:spPr>
          <a:xfrm>
            <a:off x="8227484" y="2398979"/>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 0.01 s filter on the D term, Kd·s/(0.01s + 1), so noise is not amplified.</a:t>
            </a:r>
            <a:endParaRPr lang="en-US" sz="1300" dirty="0"/>
          </a:p>
        </p:txBody>
      </p:sp>
      <p:sp>
        <p:nvSpPr>
          <p:cNvPr id="14" name="Text 11"/>
          <p:cNvSpPr/>
          <p:nvPr/>
        </p:nvSpPr>
        <p:spPr>
          <a:xfrm>
            <a:off x="812800" y="4871380"/>
            <a:ext cx="1126894"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5233B"/>
                </a:solidFill>
                <a:latin typeface="Arial" pitchFamily="34" charset="0"/>
                <a:ea typeface="Arial" pitchFamily="34" charset="-122"/>
                <a:cs typeface="Arial" pitchFamily="34" charset="-120"/>
              </a:rPr>
              <a:t>PID gains</a:t>
            </a:r>
            <a:endParaRPr lang="en-US" sz="1400" dirty="0"/>
          </a:p>
        </p:txBody>
      </p:sp>
      <p:sp>
        <p:nvSpPr>
          <p:cNvPr id="15" name="Text 12"/>
          <p:cNvSpPr/>
          <p:nvPr/>
        </p:nvSpPr>
        <p:spPr>
          <a:xfrm>
            <a:off x="1939694" y="4795180"/>
            <a:ext cx="997545"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Kp = 2.48</a:t>
            </a:r>
            <a:endParaRPr lang="en-US" sz="1400" dirty="0"/>
          </a:p>
        </p:txBody>
      </p:sp>
      <p:sp>
        <p:nvSpPr>
          <p:cNvPr id="16" name="Text 13"/>
          <p:cNvSpPr/>
          <p:nvPr/>
        </p:nvSpPr>
        <p:spPr>
          <a:xfrm>
            <a:off x="3089639" y="4795180"/>
            <a:ext cx="11427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Ki = 0.044</a:t>
            </a:r>
            <a:endParaRPr lang="en-US" sz="1400" dirty="0"/>
          </a:p>
        </p:txBody>
      </p:sp>
      <p:sp>
        <p:nvSpPr>
          <p:cNvPr id="17" name="Text 14"/>
          <p:cNvSpPr/>
          <p:nvPr/>
        </p:nvSpPr>
        <p:spPr>
          <a:xfrm>
            <a:off x="4384808" y="4795180"/>
            <a:ext cx="997711"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Kd = 22.4</a:t>
            </a:r>
            <a:endParaRPr lang="en-US" sz="1400" dirty="0"/>
          </a:p>
        </p:txBody>
      </p:sp>
      <p:sp>
        <p:nvSpPr>
          <p:cNvPr id="18" name="Text 15"/>
          <p:cNvSpPr/>
          <p:nvPr/>
        </p:nvSpPr>
        <p:spPr>
          <a:xfrm>
            <a:off x="5534918" y="4795180"/>
            <a:ext cx="9649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Tf = 0.01 s</a:t>
            </a:r>
            <a:endParaRPr lang="en-US" sz="1400" dirty="0"/>
          </a:p>
        </p:txBody>
      </p:sp>
      <p:sp>
        <p:nvSpPr>
          <p:cNvPr id="19" name="Text 16"/>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MATLAB code, step by step</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Section</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Plant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G(s) and Gd(s) with num, den, conv and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 Ki/s + Kd·s, built by adding three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controller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lsim(Gd, load): load ramps 30 → 70 %</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With 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Gd*feedback(1, C*G), lsim(); 2 graphs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Results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disp(): final, peak and end temperature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Stability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pole(): all closed-loop poles negative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Inference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What the two graphs show</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ZOOM · FIRST 200 SECONDS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pulls the temperature back to 90 °C</a:t>
            </a:r>
            <a:endParaRPr lang="en-US" sz="3200" dirty="0"/>
          </a:p>
        </p:txBody>
      </p:sp>
      <p:sp>
        <p:nvSpPr>
          <p:cNvPr id="4" name="Shape 2"/>
          <p:cNvSpPr/>
          <p:nvPr/>
        </p:nvSpPr>
        <p:spPr>
          <a:xfrm>
            <a:off x="812800" y="1777969"/>
            <a:ext cx="5588000" cy="4038600"/>
          </a:xfrm>
          <a:prstGeom prst="roundRect">
            <a:avLst>
              <a:gd name="adj" fmla="val 1887"/>
            </a:avLst>
          </a:prstGeom>
          <a:solidFill>
            <a:srgbClr val="FFFFFF"/>
          </a:solidFill>
          <a:ln/>
        </p:spPr>
      </p:sp>
      <p:pic>
        <p:nvPicPr>
          <p:cNvPr id="5" name="Image 0" descr="Coolant temperature, controller output and engine load over 2400 s for P, PI and PID controllers; P only settles about 4 K above 90 °C after the load step, PI and PID return to 90 °C">    </p:cNvPr>
          <p:cNvPicPr>
            <a:picLocks noChangeAspect="1"/>
          </p:cNvPicPr>
          <p:nvPr/>
        </p:nvPicPr>
        <p:blipFill>
          <a:blip r:embed="rId1"/>
          <a:srcRect l="-3" r="-3" t="0" b="0"/>
          <a:stretch/>
        </p:blipFill>
        <p:spPr>
          <a:xfrm>
            <a:off x="819150" y="1784319"/>
            <a:ext cx="5575300" cy="4025900"/>
          </a:xfrm>
          <a:prstGeom prst="roundRect">
            <a:avLst>
              <a:gd name="adj" fmla="val 1735"/>
            </a:avLst>
          </a:prstGeom>
        </p:spPr>
      </p:pic>
      <p:sp>
        <p:nvSpPr>
          <p:cNvPr id="6" name="Shape 3"/>
          <p:cNvSpPr/>
          <p:nvPr/>
        </p:nvSpPr>
        <p:spPr>
          <a:xfrm>
            <a:off x="815975" y="1781144"/>
            <a:ext cx="5581650" cy="4032250"/>
          </a:xfrm>
          <a:prstGeom prst="roundRect">
            <a:avLst>
              <a:gd name="adj" fmla="val 1811"/>
            </a:avLst>
          </a:prstGeom>
          <a:noFill/>
          <a:ln w="6350">
            <a:solidFill>
              <a:srgbClr val="E2DED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18300" y="1790669"/>
          <a:ext cx="4660900" cy="1437481"/>
        </p:xfrm>
        <a:graphic>
          <a:graphicData uri="http://schemas.openxmlformats.org/drawingml/2006/table">
            <a:tbl>
              <a:tblPr/>
              <a:tblGrid>
                <a:gridCol w="1305052"/>
                <a:gridCol w="1118616"/>
                <a:gridCol w="1118616"/>
                <a:gridCol w="1118616"/>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Case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Peak</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Settle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Offset</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69.8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never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B4501F"/>
                          </a:solidFill>
                          <a:latin typeface="Arial" pitchFamily="34" charset="0"/>
                          <a:ea typeface="Arial" pitchFamily="34" charset="-122"/>
                          <a:cs typeface="Arial" pitchFamily="34" charset="-120"/>
                        </a:rPr>
                        <a:t>69.8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0.60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159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4"/>
          <p:cNvSpPr/>
          <p:nvPr/>
        </p:nvSpPr>
        <p:spPr>
          <a:xfrm>
            <a:off x="6705600" y="3431350"/>
            <a:ext cx="481380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The fan reacts at once: the temperature rises only </a:t>
            </a:r>
            <a:r>
              <a:rPr lang="en-US" sz="1400" b="1" dirty="0">
                <a:solidFill>
                  <a:srgbClr val="4A5568"/>
                </a:solidFill>
                <a:latin typeface="Arial" pitchFamily="34" charset="0"/>
                <a:ea typeface="Arial" pitchFamily="34" charset="-122"/>
                <a:cs typeface="Arial" pitchFamily="34" charset="-120"/>
              </a:rPr>
              <a:t>0.60 K</a:t>
            </a:r>
            <a:r>
              <a:rPr lang="en-US" sz="1400" dirty="0">
                <a:solidFill>
                  <a:srgbClr val="4A5568"/>
                </a:solidFill>
                <a:latin typeface="Arial" pitchFamily="34" charset="0"/>
                <a:ea typeface="Arial" pitchFamily="34" charset="-122"/>
                <a:cs typeface="Arial" pitchFamily="34" charset="-120"/>
              </a:rPr>
              <a:t> and is back at 90 °C about 80 s after the load stops rising.</a:t>
            </a:r>
            <a:endParaRPr lang="en-US" sz="1400" dirty="0"/>
          </a:p>
        </p:txBody>
      </p:sp>
      <p:sp>
        <p:nvSpPr>
          <p:cNvPr id="9" name="Text 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 LOAD 30 → 70 % IN 60 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Without PID the engine overheats</a:t>
            </a:r>
            <a:endParaRPr lang="en-US" sz="3200" dirty="0"/>
          </a:p>
        </p:txBody>
      </p:sp>
      <p:sp>
        <p:nvSpPr>
          <p:cNvPr id="4" name="Shape 2"/>
          <p:cNvSpPr/>
          <p:nvPr/>
        </p:nvSpPr>
        <p:spPr>
          <a:xfrm>
            <a:off x="812800" y="1777969"/>
            <a:ext cx="6985000" cy="3492500"/>
          </a:xfrm>
          <a:prstGeom prst="roundRect">
            <a:avLst>
              <a:gd name="adj" fmla="val 2182"/>
            </a:avLst>
          </a:prstGeom>
          <a:solidFill>
            <a:srgbClr val="FFFFFF"/>
          </a:solidFill>
          <a:ln/>
        </p:spPr>
      </p:sp>
      <p:pic>
        <p:nvPicPr>
          <p:cNvPr id="5" name="Image 0" descr="Coolant temperature tracking a set-point that steps from 90 to 95 and back to 90 °C, with fan, pump and valve commands below">    </p:cNvPr>
          <p:cNvPicPr>
            <a:picLocks noChangeAspect="1"/>
          </p:cNvPicPr>
          <p:nvPr/>
        </p:nvPicPr>
        <p:blipFill>
          <a:blip r:embed="rId1"/>
          <a:srcRect l="-118" r="-118" t="0" b="0"/>
          <a:stretch/>
        </p:blipFill>
        <p:spPr>
          <a:xfrm>
            <a:off x="819150" y="1784319"/>
            <a:ext cx="6972300" cy="3479800"/>
          </a:xfrm>
          <a:prstGeom prst="roundRect">
            <a:avLst>
              <a:gd name="adj" fmla="val 2007"/>
            </a:avLst>
          </a:prstGeom>
        </p:spPr>
      </p:pic>
      <p:sp>
        <p:nvSpPr>
          <p:cNvPr id="6" name="Shape 3"/>
          <p:cNvSpPr/>
          <p:nvPr/>
        </p:nvSpPr>
        <p:spPr>
          <a:xfrm>
            <a:off x="815975" y="1781144"/>
            <a:ext cx="6978650" cy="3486150"/>
          </a:xfrm>
          <a:prstGeom prst="roundRect">
            <a:avLst>
              <a:gd name="adj" fmla="val 2095"/>
            </a:avLst>
          </a:prstGeom>
          <a:noFill/>
          <a:ln w="6350">
            <a:solidFill>
              <a:srgbClr val="E2DED3"/>
            </a:solidFill>
            <a:prstDash val="solid"/>
          </a:ln>
        </p:spPr>
      </p:sp>
      <p:sp>
        <p:nvSpPr>
          <p:cNvPr id="7" name="Text 4"/>
          <p:cNvSpPr/>
          <p:nvPr/>
        </p:nvSpPr>
        <p:spPr>
          <a:xfrm>
            <a:off x="8102600" y="1777969"/>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No PID</a:t>
            </a:r>
            <a:endParaRPr lang="en-US" sz="1600" dirty="0"/>
          </a:p>
        </p:txBody>
      </p:sp>
      <p:sp>
        <p:nvSpPr>
          <p:cNvPr id="8" name="Text 5"/>
          <p:cNvSpPr/>
          <p:nvPr/>
        </p:nvSpPr>
        <p:spPr>
          <a:xfrm>
            <a:off x="8102600" y="207258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Passes 105 °C after about 4 minutes, 160 °C after 30 minutes.</a:t>
            </a:r>
            <a:endParaRPr lang="en-US" sz="1300" dirty="0"/>
          </a:p>
        </p:txBody>
      </p:sp>
      <p:sp>
        <p:nvSpPr>
          <p:cNvPr id="9" name="Text 6"/>
          <p:cNvSpPr/>
          <p:nvPr/>
        </p:nvSpPr>
        <p:spPr>
          <a:xfrm>
            <a:off x="8102600" y="2729148"/>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With PID</a:t>
            </a:r>
            <a:endParaRPr lang="en-US" sz="1600" dirty="0"/>
          </a:p>
        </p:txBody>
      </p:sp>
      <p:sp>
        <p:nvSpPr>
          <p:cNvPr id="10" name="Text 7"/>
          <p:cNvSpPr/>
          <p:nvPr/>
        </p:nvSpPr>
        <p:spPr>
          <a:xfrm>
            <a:off x="8102600" y="302376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Stays at 90 °C the whole time: the blue line is almost flat.</a:t>
            </a:r>
            <a:endParaRPr lang="en-US" sz="1300" dirty="0"/>
          </a:p>
        </p:txBody>
      </p:sp>
      <p:sp>
        <p:nvSpPr>
          <p:cNvPr id="11" name="Text 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11</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CONCLUSIONS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What we learned</a:t>
            </a:r>
            <a:endParaRPr lang="en-US" sz="3200" dirty="0"/>
          </a:p>
        </p:txBody>
      </p:sp>
      <p:sp>
        <p:nvSpPr>
          <p:cNvPr id="4" name="Shape 2"/>
          <p:cNvSpPr/>
          <p:nvPr/>
        </p:nvSpPr>
        <p:spPr>
          <a:xfrm>
            <a:off x="815975" y="1857350"/>
            <a:ext cx="3380317" cy="2304984"/>
          </a:xfrm>
          <a:prstGeom prst="roundRect">
            <a:avLst>
              <a:gd name="adj" fmla="val 4270"/>
            </a:avLst>
          </a:prstGeom>
          <a:solidFill>
            <a:srgbClr val="FDFCF9"/>
          </a:solidFill>
          <a:ln w="6350">
            <a:solidFill>
              <a:srgbClr val="E2DED3"/>
            </a:solidFill>
            <a:prstDash val="solid"/>
          </a:ln>
        </p:spPr>
      </p:sp>
      <p:pic>
        <p:nvPicPr>
          <p:cNvPr id="5" name="Image 0" descr="CheckCircle">    </p:cNvPr>
          <p:cNvPicPr>
            <a:picLocks noChangeAspect="1"/>
          </p:cNvPicPr>
          <p:nvPr/>
        </p:nvPicPr>
        <p:blipFill>
          <a:blip r:embed="rId1"/>
          <a:srcRect l="0" r="0" t="0" b="0"/>
          <a:stretch/>
        </p:blipFill>
        <p:spPr>
          <a:xfrm>
            <a:off x="1073150" y="2114525"/>
            <a:ext cx="355600" cy="355600"/>
          </a:xfrm>
          <a:prstGeom prst="rect">
            <a:avLst/>
          </a:prstGeom>
        </p:spPr>
      </p:pic>
      <p:sp>
        <p:nvSpPr>
          <p:cNvPr id="6" name="Text 3"/>
          <p:cNvSpPr/>
          <p:nvPr/>
        </p:nvSpPr>
        <p:spPr>
          <a:xfrm>
            <a:off x="1073150"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What worked</a:t>
            </a:r>
            <a:endParaRPr lang="en-US" sz="1800" dirty="0"/>
          </a:p>
        </p:txBody>
      </p:sp>
      <p:sp>
        <p:nvSpPr>
          <p:cNvPr id="7" name="Text 4"/>
          <p:cNvSpPr/>
          <p:nvPr/>
        </p:nvSpPr>
        <p:spPr>
          <a:xfrm>
            <a:off x="1073150"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Without control the engine would reach 170 °C. The PID keeps it within 0.6 K and brings it back to 90 °C.</a:t>
            </a:r>
            <a:endParaRPr lang="en-US" sz="1300" dirty="0"/>
          </a:p>
        </p:txBody>
      </p:sp>
      <p:sp>
        <p:nvSpPr>
          <p:cNvPr id="8" name="Shape 5"/>
          <p:cNvSpPr/>
          <p:nvPr/>
        </p:nvSpPr>
        <p:spPr>
          <a:xfrm>
            <a:off x="4405842" y="1857350"/>
            <a:ext cx="3380317" cy="2304984"/>
          </a:xfrm>
          <a:prstGeom prst="roundRect">
            <a:avLst>
              <a:gd name="adj" fmla="val 4270"/>
            </a:avLst>
          </a:prstGeom>
          <a:solidFill>
            <a:srgbClr val="FDFCF9"/>
          </a:solidFill>
          <a:ln w="6350">
            <a:solidFill>
              <a:srgbClr val="E2DED3"/>
            </a:solidFill>
            <a:prstDash val="solid"/>
          </a:ln>
        </p:spPr>
      </p:sp>
      <p:pic>
        <p:nvPicPr>
          <p:cNvPr id="9" name="Image 1" descr="Warning">    </p:cNvPr>
          <p:cNvPicPr>
            <a:picLocks noChangeAspect="1"/>
          </p:cNvPicPr>
          <p:nvPr/>
        </p:nvPicPr>
        <p:blipFill>
          <a:blip r:embed="rId2"/>
          <a:srcRect l="0" r="0" t="0" b="0"/>
          <a:stretch/>
        </p:blipFill>
        <p:spPr>
          <a:xfrm>
            <a:off x="4663017" y="2114525"/>
            <a:ext cx="355600" cy="355600"/>
          </a:xfrm>
          <a:prstGeom prst="rect">
            <a:avLst/>
          </a:prstGeom>
        </p:spPr>
      </p:pic>
      <p:sp>
        <p:nvSpPr>
          <p:cNvPr id="10" name="Text 6"/>
          <p:cNvSpPr/>
          <p:nvPr/>
        </p:nvSpPr>
        <p:spPr>
          <a:xfrm>
            <a:off x="4663017"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Limitations</a:t>
            </a:r>
            <a:endParaRPr lang="en-US" sz="1800" dirty="0"/>
          </a:p>
        </p:txBody>
      </p:sp>
      <p:sp>
        <p:nvSpPr>
          <p:cNvPr id="11" name="Text 7"/>
          <p:cNvSpPr/>
          <p:nvPr/>
        </p:nvSpPr>
        <p:spPr>
          <a:xfrm>
            <a:off x="4663017"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Linear, one lumped mass, fan only. Data from published sources (slide 14), not our own tests.</a:t>
            </a:r>
            <a:endParaRPr lang="en-US" sz="1300" dirty="0"/>
          </a:p>
        </p:txBody>
      </p:sp>
      <p:sp>
        <p:nvSpPr>
          <p:cNvPr id="12" name="Shape 8"/>
          <p:cNvSpPr/>
          <p:nvPr/>
        </p:nvSpPr>
        <p:spPr>
          <a:xfrm>
            <a:off x="7995709" y="1857350"/>
            <a:ext cx="3380317" cy="2304984"/>
          </a:xfrm>
          <a:prstGeom prst="roundRect">
            <a:avLst>
              <a:gd name="adj" fmla="val 4270"/>
            </a:avLst>
          </a:prstGeom>
          <a:solidFill>
            <a:srgbClr val="15233B"/>
          </a:solidFill>
          <a:ln w="6350">
            <a:solidFill>
              <a:srgbClr val="15233B"/>
            </a:solidFill>
            <a:prstDash val="solid"/>
          </a:ln>
        </p:spPr>
      </p:sp>
      <p:pic>
        <p:nvPicPr>
          <p:cNvPr id="13" name="Image 2" descr="Lightning">    </p:cNvPr>
          <p:cNvPicPr>
            <a:picLocks noChangeAspect="1"/>
          </p:cNvPicPr>
          <p:nvPr/>
        </p:nvPicPr>
        <p:blipFill>
          <a:blip r:embed="rId3"/>
          <a:srcRect l="0" r="0" t="0" b="0"/>
          <a:stretch/>
        </p:blipFill>
        <p:spPr>
          <a:xfrm>
            <a:off x="8252884" y="2114525"/>
            <a:ext cx="355600" cy="355600"/>
          </a:xfrm>
          <a:prstGeom prst="rect">
            <a:avLst/>
          </a:prstGeom>
        </p:spPr>
      </p:pic>
      <p:sp>
        <p:nvSpPr>
          <p:cNvPr id="14" name="Text 9"/>
          <p:cNvSpPr/>
          <p:nvPr/>
        </p:nvSpPr>
        <p:spPr>
          <a:xfrm>
            <a:off x="8252884"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1"/>
                </a:solidFill>
                <a:latin typeface="Arial" pitchFamily="34" charset="0"/>
                <a:ea typeface="Arial" pitchFamily="34" charset="-122"/>
                <a:cs typeface="Arial" pitchFamily="34" charset="-120"/>
              </a:rPr>
              <a:t>Next step</a:t>
            </a:r>
            <a:endParaRPr lang="en-US" sz="1800" dirty="0"/>
          </a:p>
        </p:txBody>
      </p:sp>
      <p:sp>
        <p:nvSpPr>
          <p:cNvPr id="15" name="Text 10"/>
          <p:cNvSpPr/>
          <p:nvPr/>
        </p:nvSpPr>
        <p:spPr>
          <a:xfrm>
            <a:off x="8252884"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Add the radiator and oil temperatures, validate with engine data, then try a </a:t>
            </a:r>
            <a:r>
              <a:rPr lang="en-US" sz="1300" b="1" dirty="0">
                <a:solidFill>
                  <a:srgbClr val="D5DEEA"/>
                </a:solidFill>
                <a:latin typeface="Arial" pitchFamily="34" charset="0"/>
                <a:ea typeface="Arial" pitchFamily="34" charset="-122"/>
                <a:cs typeface="Arial" pitchFamily="34" charset="-120"/>
              </a:rPr>
              <a:t>predictive controller (MPC)</a:t>
            </a:r>
            <a:r>
              <a:rPr lang="en-US" sz="1300" dirty="0">
                <a:solidFill>
                  <a:srgbClr val="D5DEEA"/>
                </a:solidFill>
                <a:latin typeface="Arial" pitchFamily="34" charset="0"/>
                <a:ea typeface="Arial" pitchFamily="34" charset="-122"/>
                <a:cs typeface="Arial" pitchFamily="34" charset="-120"/>
              </a:rPr>
              <a:t> that uses the road ahead to save fan energy.</a:t>
            </a:r>
            <a:endParaRPr lang="en-US" sz="1300" dirty="0"/>
          </a:p>
        </p:txBody>
      </p:sp>
      <p:sp>
        <p:nvSpPr>
          <p:cNvPr id="16" name="Text 11"/>
          <p:cNvSpPr/>
          <p:nvPr/>
        </p:nvSpPr>
        <p:spPr>
          <a:xfrm>
            <a:off x="812800" y="6238255"/>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ph type="title"/>
          </p:nvPr>
        </p:nvSpPr>
        <p:spPr>
          <a:xfrm>
            <a:off x="812800" y="270636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1"/>
                </a:solidFill>
                <a:latin typeface="Arial" pitchFamily="34" charset="0"/>
                <a:ea typeface="Arial" pitchFamily="34" charset="-122"/>
                <a:cs typeface="Arial" pitchFamily="34" charset="-120"/>
              </a:rPr>
              <a:t>Thank you</a:t>
            </a:r>
            <a:endParaRPr lang="en-US" sz="6000" dirty="0"/>
          </a:p>
        </p:txBody>
      </p:sp>
      <p:sp>
        <p:nvSpPr>
          <p:cNvPr id="4" name="Text 2"/>
          <p:cNvSpPr/>
          <p:nvPr/>
        </p:nvSpPr>
        <p:spPr>
          <a:xfrm>
            <a:off x="812800" y="3760465"/>
            <a:ext cx="10883392" cy="416553"/>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0A26E"/>
                </a:solidFill>
                <a:latin typeface="Arial" pitchFamily="34" charset="0"/>
                <a:ea typeface="Arial" pitchFamily="34" charset="-122"/>
                <a:cs typeface="Arial" pitchFamily="34" charset="-120"/>
              </a:rPr>
              <a:t>Questions?</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Data sources and references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Value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Source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338 kW, 1121 kg, 38 L coolant, 33 L oil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Volvo D13C460 engine fact sheet (2010)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Q = 0.5·P, 3.25 kg/s, 100/30 °C, fan 4.5 kg/s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Rosa et al., COBEM 2009 (trucks and buses)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C·dT/dt = Q_in − ε·m_f·c_p·(T − T_air)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Mohamed et al., IOSR J. Eng. 8(6), 2018</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Block + coolant + oil as one mass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Haury &amp; Volkering, Chalmers thesis, 2011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c_p and density of iron, water, oil, 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Engineering ToolBox property tables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(τ_cl = loop delay)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SIMC: Skogestad, J. Process Control 13 (2003)</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 loop Gd / (1 + C·G)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Nise, Control Systems Engineering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14</a:t>
            </a:r>
            <a:endParaRPr lang="en-US" sz="1200" dirty="0"/>
          </a:p>
        </p:txBody>
      </p:sp>
    </p:spTree>
  </p:cSld>
  <p:clrMapOvr>
    <a:masterClrMapping/>
  </p:clrMapOvr>
</p:sld>
</file>

<file path=ppt/theme/theme1.xml><?xml version="1.0" encoding="utf-8"?>
<a:theme xmlns:a="http://schemas.openxmlformats.org/drawingml/2006/main" name="PID Thermal Control for Heavy-Duty Trucks">
  <a:themeElements>
    <a:clrScheme name="PID Thermal Control for Heavy-Duty Trucks">
      <a:dk1>
        <a:srgbClr val="15233B"/>
      </a:dk1>
      <a:lt1>
        <a:srgbClr val="F6F5F1"/>
      </a:lt1>
      <a:dk2>
        <a:srgbClr val="4D5869"/>
      </a:dk2>
      <a:lt2>
        <a:srgbClr val="E0E0DF"/>
      </a:lt2>
      <a:accent1>
        <a:srgbClr val="B4501F"/>
      </a:accent1>
      <a:accent2>
        <a:srgbClr val="E07A3A"/>
      </a:accent2>
      <a:accent3>
        <a:srgbClr val="F0A26E"/>
      </a:accent3>
      <a:accent4>
        <a:srgbClr val="2B6CB0"/>
      </a:accent4>
      <a:accent5>
        <a:srgbClr val="8A3A14"/>
      </a:accent5>
      <a:accent6>
        <a:srgbClr val="C0392B"/>
      </a:accent6>
      <a:hlink>
        <a:srgbClr val="0563C1"/>
      </a:hlink>
      <a:folHlink>
        <a:srgbClr val="954F72"/>
      </a:folHlink>
    </a:clrScheme>
    <a:fontScheme name="PID Thermal Control for Heavy-Duty Truc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Thermal Control for Heavy-Duty Trucks</dc:title>
  <dc:subject/>
  <dc:creator/>
  <cp:lastModifiedBy/>
  <cp:revision>1</cp:revision>
  <dcterms:created xsi:type="dcterms:W3CDTF">2026-10-13T04:34:26Z</dcterms:created>
  <dcterms:modified xsi:type="dcterms:W3CDTF">2026-10-13T04:34:26Z</dcterms:modified>
</cp:coreProperties>
</file>