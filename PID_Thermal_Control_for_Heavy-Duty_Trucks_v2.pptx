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5"/>
    <p:sldId id="267" r:id="rId13"/>
    <p:sldId id="273" r:id="rId19"/>
    <p:sldId id="275" r:id="rId26"/>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4.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  <Relationship Id="rId26" Type="http://schemas.openxmlformats.org/officeDocument/2006/relationships/slide" Target="slides/slide20.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One line: "Our project is about controlling the temperature of a heavy-duty truck engine. We modelled the engine's cooling system in MATLAB and Simulink and designed a PID controller that keeps the engine at 90 °C, then compared it with the cooling system trucks use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cooling system's job is to keep the engine in a narrow band. Too hot and the engine is damaged. Too cold and the oil is thick, friction rises and the truck burns more fuel. The sweet spot is about 90 °C, and that is the set-point our controller will hold. The question is: how well does today's cooling system hold it, and can a PID controller do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system has three mechanical parts. The wax thermostat opens in proportion to temperature, which makes it a proportional-only controller, and a P controller always leaves a steady-state offset: it settles around 84 °C instead of 90. The fan clutch is on/off, which causes temperature swings. The pump is belt-driven and just follows engine speed. Our goal is to replace all three with electric actuators driven by one PID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has four steps. First, model the cooling system: we start from the energy balance and simplify it to two transfer functions, one for the cooling command and one for the engine load. Second, design a PID controller with a derivative filter, an output limit and anti-windup. Third, simulate two classic tests in MATLAB, a set-point step and a load step, and build the same loop in Simulink. Fourth, compare P only, PI and PID using offset, peak and settling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control system. We measure the coolant temperature T_c and subtract it from the 90 °C set-point at the summing junction. That gives the error e. The PID turns the error into one output y. The split-range block turns y into three actuator commands u: valve, pump and fan. These act on the engine and cooling system, which we call the plant. Disturbances such as engine load and outside temperature also act on the plant, and we cannot control them. The sensor feeds T_c back, closing the loop. This is negative feedback: if the engine gets hotter, the controller cools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cooling system has three temperatures: the engine coolant T_c, the radiator coolant T_r and the oil T_o. To keep the model simple we only keep T_c, the one we control. The radiator becomes a short lag of 4.7 seconds: that is roughly the time the coolant spends inside the radiator. The engine block is a large mass of iron and coolant, so it gives a long lag of about 509 seconds, roughly 8.5 minutes. The oil is left out because it changes slowly and does not change how we design the PID.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the energy balance, heat in minus heat out, we linearise around the normal operating point: 90 °C, 30 % engine load and 25 °C outside air. Every number comes from published data. The engine and its coolant have a heat capacity of about 352 kJ per kelvin, from the Volvo D13 mass and coolant volume and textbook specific heats. At 30 % load the engine puts 45 kW into the coolant, so to hold 90 °C with 25 °C air the cooling must remove 45 kW over 65 K, which is 0.69 kW per kelvin. The time constant is heat capacity divided by that, 352 / 0.69 = 509 seconds. The radiator lag is its heat capacity divided by the coolant flow, about 4.7 seconds. The gains come the same way: 1 % load is 1.5 kW, divided by 0.69 gives 2.17 K. G(s) is the cooling path and Gd(s) the load path, written in MATLAB with num, den, conv and tf.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is the coolant temperature minus 90 °C. We use T_c minus T_ref, not the other way round, because our actuators remove heat: hotter means a positive error, which means more cooling. The PID output is the sum of three terms. P is proportional to the present error. It reacts fast, but a P controller always leaves an offset, because it needs some error to produce any output. I integrates past error, so it keeps pushing until the error is exactly zero; that removes the offset. D looks at how fast the error is changing, so it acts early and damps the peak. In the MATLAB code the PID is built by adding three transfer functions: Kp, Ki over s, and Kd s over 10 s plus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textbook PID needs three additions on a real system. First, split range: one PID output from 0 to 3 is shared across three actuators in order of energy cost: valve, then pump, then fan. In our simple model we only keep the total command inside 0 to 3. In the load-step test the command goes from 0.83 to about 2.2, so the pump is fully on and the fan just starts. Second, anti-windup: when the output is at its limit, the integral stops adding up; in Simulink this is the clamping option of the PID block. Third, a 1-second low-pass filter on the derivative so sensor noise does not make the actuators jitter; in Simulink that is the filter coefficient N = 1. The gains were not guessed: they come from the SIMC tuning rule by Skogestad, 2003. For our plant it gives Kp = engine time constant divided by plant gain times the chosen closed-loop time of 20 seconds, the integral time is 4 times 20 = 80 seconds, and the derivative time equals the radiator lag. Converted to parallel form that is Kp 0.34, Ki 0.0041 and Kd 1.52.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MATLAB code is in one file, pid_truck_cooling.m, split into sections. The first section lists the physical data with its source, and the assumptions we had to make. The next section calculates the time constants and gains from that data, and then the PID gains with the SIMC rule, so no number is typed in by hand. Then the plant transfer functions are defined with num, den and tf, and the three controllers P, PI and PID. feedback() closes the loop, and pole() prints the closed-loop poles: all of them are in the left half of the s-plane, so all three loops are stable. Experiment 1 is a set-point step analysed with step() and stepinfo(). Experiment 2 is a load step, where we find the settling time by walking backwards from the end of the response, the same method as in the time-domain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same loop by hand in Simulink. The Step block gives the set-point, 90 °C, stepping to 95 °C at 1200 seconds. The Sum block subtracts the set-point from the coolant temperature to get the error. The PID Controller block has the same gains as the MATLAB code, a filter coefficient of 1, output limits and clamping anti-windup. The limits are minus 0.83 and 2.17 because the block outputs the change from the normal command of 0.83, so the real command stays between 0 and 3. The cooling transfer function has a minus sign because more cooling lowers the temperature. A second Step adds 50 % engine load at 600 seconds through Gd(s). The plant output is 90 plus the two effects, and it is fed back to the error block. The Scope shows the temperature and the cooling command. [Add a screenshot of the model and the Scope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test, the one that matters most for a truck. At time zero the engine load jumps from 30 to 80 percent, as if the truck hits a hill. That adds 75 kW of heat to the coolant. P only settles about 3.9 degrees too hot and stays there: that is the steady-state offset, exactly as theory predicts, and it is also why today's wax thermostat, which is a mechanical P controller, never reaches its target. Adding the integral term brings the temperature back to exactly 90 °C in about three minutes. Adding the derivative term lowers the peak from 3.3 to 3.0 K. Settling time here is the time to stay within ±0.5 K. The benefit of D is small because thermal systems are slow and smooth, which is why many industrial temperature loops use PI only. During this test the PID raises the cooling command from 0.83 to about 2.2, still below the limit of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test: we change the target from 90 to 95 °C and compare P only, PI and PID, using step() and stepinfo() in MATLAB. P only never quite reaches 95: it stops at about 94.8 °C, a small steady-state offset of 0.2 K, because it needs an error to produce any output. The offset is small here because the plant gain is large. PI removes the offset with 12.6 % overshoot. The full PID removes the offset and lowers the overshoot to 10.7 %, settling within 2 % in about 212 seconds. The closed-loop poles printed by pole() all have negative real parts, so all three loops are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PID holds the engine at 90 °C with no steady-state offset. A P-only controller, which is how today's wax thermostat behaves, stays about 4 degrees too hot after a load step, and adding D cuts the temperature peak by about 7 %. The limitations: our model is linear and keeps only the coolant temperature, so it has no oil temperature and does not model the valve, pump and fan separately. Most inputs come from published data, but a few are assumptions, listed on the next slide. The next steps are adding the radiator and oil temperatures, validating the model against real engine data, and then trying a predictive controller, MPC, which uses the road ahead to plan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Where do the numbers come from? The engine data is from the Volvo D13 fact sheet, the heat rejection from a heavy-duty cooling paper, the material properties from standard tables, and the PID gains from the SIMC rule; the few assumptions are listed on slide 15. Why is D so small? Thermal systems are slow and smooth, so D adds little, which is why many temperature loops use PI. Why only one temperature? A simple linear model is enough to show what P, I and D each do; the full model is our next step. Is the model validated? Not against real engine data yet. Why e = T_c minus T_ref? Our actuators remove heat, so hotter must give a positive output. Why does a P controller leave an offset? It needs a non-zero error to produce a non-zero output; the integral removes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5233B"/>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71"/>
            <a:ext cx="10566400" cy="4191029"/>
          </a:xfrm>
          <a:prstGeom prst="rect">
            <a:avLst/>
          </a:prstGeom>
          <a:noFill/>
          <a:ln/>
        </p:spPr>
        <p:txBody>
          <a:bodyPr wrap="square" lIns="0" tIns="0" rIns="0" bIns="0" rtlCol="0" anchor="t"/>
          <a:lstStyle>
            <a:lvl1pPr algn="l" indent="0" marL="0">
              <a:lnSpc>
                <a:spcPct val="140000"/>
              </a:lnSpc>
              <a:buNone/>
              <a:defRPr lang="en-US" sz="1600" dirty="0">
                <a:solidFill>
                  <a:srgbClr val="15233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5233B"/>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71"/>
            <a:ext cx="10566400" cy="4191029"/>
          </a:xfrm>
          <a:prstGeom prst="rect">
            <a:avLst/>
          </a:prstGeom>
          <a:noFill/>
          <a:ln/>
        </p:spPr>
        <p:txBody>
          <a:bodyPr wrap="square" lIns="0" tIns="0" rIns="0" bIns="0" rtlCol="0" anchor="t"/>
          <a:lstStyle>
            <a:lvl1pPr algn="l" indent="0" marL="0">
              <a:lnSpc>
                <a:spcPct val="140000"/>
              </a:lnSpc>
              <a:buNone/>
              <a:defRPr lang="en-US" sz="1600" dirty="0">
                <a:solidFill>
                  <a:srgbClr val="15233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A3A"/>
          </a:solidFill>
          <a:ln/>
        </p:spPr>
      </p:sp>
      <p:sp>
        <p:nvSpPr>
          <p:cNvPr id="3" name="Text 1"/>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F0A26E"/>
                </a:solidFill>
                <a:latin typeface="Arial" pitchFamily="34" charset="0"/>
                <a:ea typeface="Arial" pitchFamily="34" charset="-122"/>
                <a:cs typeface="Arial" pitchFamily="34" charset="-120"/>
              </a:rPr>
              <a:t>CONTROL SYSTEMS</a:t>
            </a:r>
            <a:endParaRPr lang="en-US" sz="1400" dirty="0"/>
          </a:p>
        </p:txBody>
      </p:sp>
      <p:sp>
        <p:nvSpPr>
          <p:cNvPr id="4" name="Text 2"/>
          <p:cNvSpPr/>
          <p:nvPr>
            <p:ph type="title"/>
          </p:nvPr>
        </p:nvSpPr>
        <p:spPr>
          <a:xfrm>
            <a:off x="812800" y="2241087"/>
            <a:ext cx="10883392" cy="1342099"/>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6F5F1"/>
                </a:solidFill>
                <a:latin typeface="Arial" pitchFamily="34" charset="0"/>
                <a:ea typeface="Arial" pitchFamily="34" charset="-122"/>
                <a:cs typeface="Arial" pitchFamily="34" charset="-120"/>
              </a:rPr>
              <a:t>PID Thermal Control for</a:t>
            </a:r>
            <a:endParaRPr lang="en-US" sz="4800" dirty="0"/>
          </a:p>
          <a:p>
            <a:pPr algn="l" indent="0" marL="0">
              <a:lnSpc>
                <a:spcPts val="5184"/>
              </a:lnSpc>
              <a:buNone/>
            </a:pPr>
            <a:r>
              <a:rPr lang="en-US" sz="4800" b="1" i="0" dirty="0">
                <a:solidFill>
                  <a:srgbClr val="F6F5F1"/>
                </a:solidFill>
                <a:latin typeface="Arial" pitchFamily="34" charset="0"/>
                <a:ea typeface="Arial" pitchFamily="34" charset="-122"/>
                <a:cs typeface="Arial" pitchFamily="34" charset="-120"/>
              </a:rPr>
              <a:t>Heavy-Duty Trucks</a:t>
            </a:r>
            <a:endParaRPr lang="en-US" sz="4800" dirty="0"/>
          </a:p>
        </p:txBody>
      </p:sp>
      <p:sp>
        <p:nvSpPr>
          <p:cNvPr id="5" name="Text 3"/>
          <p:cNvSpPr/>
          <p:nvPr/>
        </p:nvSpPr>
        <p:spPr>
          <a:xfrm>
            <a:off x="812800" y="3760986"/>
            <a:ext cx="10883392" cy="642607"/>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BDA"/>
                </a:solidFill>
                <a:latin typeface="Arial" pitchFamily="34" charset="0"/>
                <a:ea typeface="Arial" pitchFamily="34" charset="-122"/>
                <a:cs typeface="Arial" pitchFamily="34" charset="-120"/>
              </a:rPr>
              <a:t>Keeping the engine at 90 °C with a feedback controller</a:t>
            </a:r>
            <a:endParaRPr lang="en-US" sz="1800" dirty="0"/>
          </a:p>
          <a:p>
            <a:pPr algn="l" indent="0" marL="0">
              <a:lnSpc>
                <a:spcPts val="2430"/>
              </a:lnSpc>
              <a:buNone/>
            </a:pPr>
            <a:r>
              <a:rPr lang="en-US" sz="1800" dirty="0">
                <a:solidFill>
                  <a:srgbClr val="BFCBDA"/>
                </a:solidFill>
                <a:latin typeface="Arial" pitchFamily="34" charset="0"/>
                <a:ea typeface="Arial" pitchFamily="34" charset="-122"/>
                <a:cs typeface="Arial" pitchFamily="34" charset="-120"/>
              </a:rPr>
              <a:t>modelled and simulated in MATLAB &amp; Simulink</a:t>
            </a:r>
            <a:endParaRPr lang="en-US" sz="1800" dirty="0"/>
          </a:p>
        </p:txBody>
      </p:sp>
      <p:sp>
        <p:nvSpPr>
          <p:cNvPr id="6" name="Text 4"/>
          <p:cNvSpPr/>
          <p:nvPr/>
        </p:nvSpPr>
        <p:spPr>
          <a:xfrm>
            <a:off x="812800" y="5557540"/>
            <a:ext cx="132195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Arial" pitchFamily="34" charset="0"/>
                <a:ea typeface="Arial" pitchFamily="34" charset="-122"/>
                <a:cs typeface="Arial" pitchFamily="34" charset="-120"/>
              </a:rPr>
              <a:t>Sushanth Bibi</a:t>
            </a:r>
            <a:endParaRPr lang="en-US" sz="1400" dirty="0"/>
          </a:p>
        </p:txBody>
      </p:sp>
      <p:sp>
        <p:nvSpPr>
          <p:cNvPr id="7" name="Text 5"/>
          <p:cNvSpPr/>
          <p:nvPr/>
        </p:nvSpPr>
        <p:spPr>
          <a:xfrm>
            <a:off x="812800" y="5831847"/>
            <a:ext cx="1152426"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A"/>
                </a:solidFill>
                <a:latin typeface="Arial" pitchFamily="34" charset="0"/>
                <a:ea typeface="Arial" pitchFamily="34" charset="-122"/>
                <a:cs typeface="Arial" pitchFamily="34" charset="-120"/>
              </a:rPr>
              <a:t>24BME0501</a:t>
            </a:r>
            <a:endParaRPr lang="en-US" sz="1200" dirty="0"/>
          </a:p>
        </p:txBody>
      </p:sp>
      <p:sp>
        <p:nvSpPr>
          <p:cNvPr id="8" name="Text 6"/>
          <p:cNvSpPr/>
          <p:nvPr/>
        </p:nvSpPr>
        <p:spPr>
          <a:xfrm>
            <a:off x="2320826" y="5557540"/>
            <a:ext cx="173160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Arial" pitchFamily="34" charset="0"/>
                <a:ea typeface="Arial" pitchFamily="34" charset="-122"/>
                <a:cs typeface="Arial" pitchFamily="34" charset="-120"/>
              </a:rPr>
              <a:t>Ganishk Mohanraj</a:t>
            </a:r>
            <a:endParaRPr lang="en-US" sz="1400" dirty="0"/>
          </a:p>
        </p:txBody>
      </p:sp>
      <p:sp>
        <p:nvSpPr>
          <p:cNvPr id="9" name="Text 7"/>
          <p:cNvSpPr/>
          <p:nvPr/>
        </p:nvSpPr>
        <p:spPr>
          <a:xfrm>
            <a:off x="2320826" y="5831847"/>
            <a:ext cx="1493804"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A"/>
                </a:solidFill>
                <a:latin typeface="Arial" pitchFamily="34" charset="0"/>
                <a:ea typeface="Arial" pitchFamily="34" charset="-122"/>
                <a:cs typeface="Arial" pitchFamily="34" charset="-120"/>
              </a:rPr>
              <a:t>24BME0500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0235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An engine has to stay in a narrow temperature band</a:t>
            </a:r>
            <a:endParaRPr lang="en-US" sz="3200" dirty="0"/>
          </a:p>
        </p:txBody>
      </p:sp>
      <p:sp>
        <p:nvSpPr>
          <p:cNvPr id="4" name="Shape 2"/>
          <p:cNvSpPr/>
          <p:nvPr/>
        </p:nvSpPr>
        <p:spPr>
          <a:xfrm>
            <a:off x="815975" y="1958942"/>
            <a:ext cx="3380317" cy="3879883"/>
          </a:xfrm>
          <a:prstGeom prst="roundRect">
            <a:avLst>
              <a:gd name="adj" fmla="val 2912"/>
            </a:avLst>
          </a:prstGeom>
          <a:solidFill>
            <a:srgbClr val="FDFCF9"/>
          </a:solidFill>
          <a:ln w="6350">
            <a:solidFill>
              <a:srgbClr val="E2DED3"/>
            </a:solidFill>
            <a:prstDash val="solid"/>
          </a:ln>
        </p:spPr>
      </p:sp>
      <p:sp>
        <p:nvSpPr>
          <p:cNvPr id="5" name="Shape 3"/>
          <p:cNvSpPr/>
          <p:nvPr/>
        </p:nvSpPr>
        <p:spPr>
          <a:xfrm>
            <a:off x="1123950" y="2266917"/>
            <a:ext cx="609600" cy="63500"/>
          </a:xfrm>
          <a:prstGeom prst="roundRect">
            <a:avLst>
              <a:gd name="adj" fmla="val 50000"/>
            </a:avLst>
          </a:prstGeom>
          <a:solidFill>
            <a:srgbClr val="C0392B"/>
          </a:solidFill>
          <a:ln/>
        </p:spPr>
      </p:sp>
      <p:sp>
        <p:nvSpPr>
          <p:cNvPr id="6" name="Text 4"/>
          <p:cNvSpPr/>
          <p:nvPr/>
        </p:nvSpPr>
        <p:spPr>
          <a:xfrm>
            <a:off x="1123950" y="2457417"/>
            <a:ext cx="28472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33B"/>
                </a:solidFill>
                <a:latin typeface="Arial" pitchFamily="34" charset="0"/>
                <a:ea typeface="Arial" pitchFamily="34" charset="-122"/>
                <a:cs typeface="Arial" pitchFamily="34" charset="-120"/>
              </a:rPr>
              <a:t>Too hot</a:t>
            </a:r>
            <a:endParaRPr lang="en-US" sz="2200" dirty="0"/>
          </a:p>
        </p:txBody>
      </p:sp>
      <p:sp>
        <p:nvSpPr>
          <p:cNvPr id="7" name="Text 5"/>
          <p:cNvSpPr/>
          <p:nvPr/>
        </p:nvSpPr>
        <p:spPr>
          <a:xfrm>
            <a:off x="1123950" y="2919678"/>
            <a:ext cx="28472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01F"/>
                </a:solidFill>
                <a:latin typeface="Arial" pitchFamily="34" charset="0"/>
                <a:ea typeface="Arial" pitchFamily="34" charset="-122"/>
                <a:cs typeface="Arial" pitchFamily="34" charset="-120"/>
              </a:rPr>
              <a:t>above 105 °C</a:t>
            </a:r>
            <a:endParaRPr lang="en-US" sz="1500" dirty="0"/>
          </a:p>
        </p:txBody>
      </p:sp>
      <p:sp>
        <p:nvSpPr>
          <p:cNvPr id="8" name="Text 6"/>
          <p:cNvSpPr/>
          <p:nvPr/>
        </p:nvSpPr>
        <p:spPr>
          <a:xfrm>
            <a:off x="1123950" y="3313378"/>
            <a:ext cx="2847298"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Coolant boils, the oil breaks down, engine parts get damaged.</a:t>
            </a:r>
            <a:endParaRPr lang="en-US" sz="1400" dirty="0"/>
          </a:p>
        </p:txBody>
      </p:sp>
      <p:sp>
        <p:nvSpPr>
          <p:cNvPr id="9" name="Shape 7"/>
          <p:cNvSpPr/>
          <p:nvPr/>
        </p:nvSpPr>
        <p:spPr>
          <a:xfrm>
            <a:off x="4405842" y="1958942"/>
            <a:ext cx="3380317" cy="3879883"/>
          </a:xfrm>
          <a:prstGeom prst="roundRect">
            <a:avLst>
              <a:gd name="adj" fmla="val 2912"/>
            </a:avLst>
          </a:prstGeom>
          <a:solidFill>
            <a:srgbClr val="15233B"/>
          </a:solidFill>
          <a:ln w="6350">
            <a:solidFill>
              <a:srgbClr val="15233B"/>
            </a:solidFill>
            <a:prstDash val="solid"/>
          </a:ln>
        </p:spPr>
      </p:sp>
      <p:sp>
        <p:nvSpPr>
          <p:cNvPr id="10" name="Shape 8"/>
          <p:cNvSpPr/>
          <p:nvPr/>
        </p:nvSpPr>
        <p:spPr>
          <a:xfrm>
            <a:off x="4713817" y="2266917"/>
            <a:ext cx="609600" cy="63500"/>
          </a:xfrm>
          <a:prstGeom prst="roundRect">
            <a:avLst>
              <a:gd name="adj" fmla="val 50000"/>
            </a:avLst>
          </a:prstGeom>
          <a:solidFill>
            <a:srgbClr val="F0A26E"/>
          </a:solidFill>
          <a:ln/>
        </p:spPr>
      </p:sp>
      <p:sp>
        <p:nvSpPr>
          <p:cNvPr id="11" name="Text 9"/>
          <p:cNvSpPr/>
          <p:nvPr/>
        </p:nvSpPr>
        <p:spPr>
          <a:xfrm>
            <a:off x="4713817" y="2457417"/>
            <a:ext cx="28472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6F5F1"/>
                </a:solidFill>
                <a:latin typeface="Arial" pitchFamily="34" charset="0"/>
                <a:ea typeface="Arial" pitchFamily="34" charset="-122"/>
                <a:cs typeface="Arial" pitchFamily="34" charset="-120"/>
              </a:rPr>
              <a:t>Just right</a:t>
            </a:r>
            <a:endParaRPr lang="en-US" sz="2200" dirty="0"/>
          </a:p>
        </p:txBody>
      </p:sp>
      <p:sp>
        <p:nvSpPr>
          <p:cNvPr id="12" name="Text 10"/>
          <p:cNvSpPr/>
          <p:nvPr/>
        </p:nvSpPr>
        <p:spPr>
          <a:xfrm>
            <a:off x="4713817" y="2919678"/>
            <a:ext cx="28472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A26E"/>
                </a:solidFill>
                <a:latin typeface="Arial" pitchFamily="34" charset="0"/>
                <a:ea typeface="Arial" pitchFamily="34" charset="-122"/>
                <a:cs typeface="Arial" pitchFamily="34" charset="-120"/>
              </a:rPr>
              <a:t>about 90 °C</a:t>
            </a:r>
            <a:endParaRPr lang="en-US" sz="1500" dirty="0"/>
          </a:p>
        </p:txBody>
      </p:sp>
      <p:sp>
        <p:nvSpPr>
          <p:cNvPr id="13" name="Text 11"/>
          <p:cNvSpPr/>
          <p:nvPr/>
        </p:nvSpPr>
        <p:spPr>
          <a:xfrm>
            <a:off x="4713817" y="3313378"/>
            <a:ext cx="2847298"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5DEEA"/>
                </a:solidFill>
                <a:latin typeface="Arial" pitchFamily="34" charset="0"/>
                <a:ea typeface="Arial" pitchFamily="34" charset="-122"/>
                <a:cs typeface="Arial" pitchFamily="34" charset="-120"/>
              </a:rPr>
              <a:t>Thin oil, low friction, good efficiency. This is our set-point.</a:t>
            </a:r>
            <a:endParaRPr lang="en-US" sz="1400" dirty="0"/>
          </a:p>
        </p:txBody>
      </p:sp>
      <p:sp>
        <p:nvSpPr>
          <p:cNvPr id="14" name="Shape 12"/>
          <p:cNvSpPr/>
          <p:nvPr/>
        </p:nvSpPr>
        <p:spPr>
          <a:xfrm>
            <a:off x="7995709" y="1958942"/>
            <a:ext cx="3380317" cy="3879883"/>
          </a:xfrm>
          <a:prstGeom prst="roundRect">
            <a:avLst>
              <a:gd name="adj" fmla="val 2912"/>
            </a:avLst>
          </a:prstGeom>
          <a:solidFill>
            <a:srgbClr val="FDFCF9"/>
          </a:solidFill>
          <a:ln w="6350">
            <a:solidFill>
              <a:srgbClr val="E2DED3"/>
            </a:solidFill>
            <a:prstDash val="solid"/>
          </a:ln>
        </p:spPr>
      </p:sp>
      <p:sp>
        <p:nvSpPr>
          <p:cNvPr id="15" name="Shape 13"/>
          <p:cNvSpPr/>
          <p:nvPr/>
        </p:nvSpPr>
        <p:spPr>
          <a:xfrm>
            <a:off x="8303684" y="2266917"/>
            <a:ext cx="609600" cy="63500"/>
          </a:xfrm>
          <a:prstGeom prst="roundRect">
            <a:avLst>
              <a:gd name="adj" fmla="val 50000"/>
            </a:avLst>
          </a:prstGeom>
          <a:solidFill>
            <a:srgbClr val="2B6CB0"/>
          </a:solidFill>
          <a:ln/>
        </p:spPr>
      </p:sp>
      <p:sp>
        <p:nvSpPr>
          <p:cNvPr id="16" name="Text 14"/>
          <p:cNvSpPr/>
          <p:nvPr/>
        </p:nvSpPr>
        <p:spPr>
          <a:xfrm>
            <a:off x="8303684" y="2457417"/>
            <a:ext cx="28472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5233B"/>
                </a:solidFill>
                <a:latin typeface="Arial" pitchFamily="34" charset="0"/>
                <a:ea typeface="Arial" pitchFamily="34" charset="-122"/>
                <a:cs typeface="Arial" pitchFamily="34" charset="-120"/>
              </a:rPr>
              <a:t>Too cold</a:t>
            </a:r>
            <a:endParaRPr lang="en-US" sz="2200" dirty="0"/>
          </a:p>
        </p:txBody>
      </p:sp>
      <p:sp>
        <p:nvSpPr>
          <p:cNvPr id="17" name="Text 15"/>
          <p:cNvSpPr/>
          <p:nvPr/>
        </p:nvSpPr>
        <p:spPr>
          <a:xfrm>
            <a:off x="8303684" y="2919678"/>
            <a:ext cx="28472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B6CB0"/>
                </a:solidFill>
                <a:latin typeface="Arial" pitchFamily="34" charset="0"/>
                <a:ea typeface="Arial" pitchFamily="34" charset="-122"/>
                <a:cs typeface="Arial" pitchFamily="34" charset="-120"/>
              </a:rPr>
              <a:t>below 80 °C</a:t>
            </a:r>
            <a:endParaRPr lang="en-US" sz="1500" dirty="0"/>
          </a:p>
        </p:txBody>
      </p:sp>
      <p:sp>
        <p:nvSpPr>
          <p:cNvPr id="18" name="Text 16"/>
          <p:cNvSpPr/>
          <p:nvPr/>
        </p:nvSpPr>
        <p:spPr>
          <a:xfrm>
            <a:off x="8303684" y="3313378"/>
            <a:ext cx="2847298"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Thick oil, more friction, so the engine burns more fuel and emits more CO₂.</a:t>
            </a:r>
            <a:endParaRPr lang="en-US" sz="1400" dirty="0"/>
          </a:p>
        </p:txBody>
      </p:sp>
      <p:sp>
        <p:nvSpPr>
          <p:cNvPr id="19" name="Text 17"/>
          <p:cNvSpPr/>
          <p:nvPr/>
        </p:nvSpPr>
        <p:spPr>
          <a:xfrm>
            <a:off x="812800" y="6238247"/>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TODAY'S TRUCKS</a:t>
            </a:r>
            <a:endParaRPr lang="en-US" sz="1200" dirty="0"/>
          </a:p>
        </p:txBody>
      </p:sp>
      <p:sp>
        <p:nvSpPr>
          <p:cNvPr id="3" name="Text 1"/>
          <p:cNvSpPr/>
          <p:nvPr>
            <p:ph type="title"/>
          </p:nvPr>
        </p:nvSpPr>
        <p:spPr>
          <a:xfrm>
            <a:off x="812800" y="110235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The conventional cooling system is purely mechanical</a:t>
            </a:r>
            <a:endParaRPr lang="en-US" sz="3200" dirty="0"/>
          </a:p>
        </p:txBody>
      </p:sp>
      <p:sp>
        <p:nvSpPr>
          <p:cNvPr id="4" name="Shape 2"/>
          <p:cNvSpPr/>
          <p:nvPr/>
        </p:nvSpPr>
        <p:spPr>
          <a:xfrm>
            <a:off x="815975" y="1908142"/>
            <a:ext cx="3380317" cy="1921470"/>
          </a:xfrm>
          <a:prstGeom prst="roundRect">
            <a:avLst>
              <a:gd name="adj" fmla="val 5122"/>
            </a:avLst>
          </a:prstGeom>
          <a:solidFill>
            <a:srgbClr val="FDFCF9"/>
          </a:solidFill>
          <a:ln w="6350">
            <a:solidFill>
              <a:srgbClr val="E2DED3"/>
            </a:solidFill>
            <a:prstDash val="solid"/>
          </a:ln>
        </p:spPr>
      </p:sp>
      <p:sp>
        <p:nvSpPr>
          <p:cNvPr id="5" name="Text 3"/>
          <p:cNvSpPr/>
          <p:nvPr/>
        </p:nvSpPr>
        <p:spPr>
          <a:xfrm>
            <a:off x="1073150" y="2165317"/>
            <a:ext cx="295194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Wax thermostat</a:t>
            </a:r>
            <a:endParaRPr lang="en-US" sz="1800" dirty="0"/>
          </a:p>
        </p:txBody>
      </p:sp>
      <p:sp>
        <p:nvSpPr>
          <p:cNvPr id="6" name="Text 4"/>
          <p:cNvSpPr/>
          <p:nvPr/>
        </p:nvSpPr>
        <p:spPr>
          <a:xfrm>
            <a:off x="1073150" y="2541225"/>
            <a:ext cx="2951946" cy="105661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Opens gradually from 82 to 95 °C. It acts like a </a:t>
            </a:r>
            <a:r>
              <a:rPr lang="en-US" sz="1400" b="1" dirty="0">
                <a:solidFill>
                  <a:srgbClr val="4A5568"/>
                </a:solidFill>
                <a:latin typeface="Arial" pitchFamily="34" charset="0"/>
                <a:ea typeface="Arial" pitchFamily="34" charset="-122"/>
                <a:cs typeface="Arial" pitchFamily="34" charset="-120"/>
              </a:rPr>
              <a:t>P-only controller</a:t>
            </a:r>
            <a:r>
              <a:rPr lang="en-US" sz="1400" dirty="0">
                <a:solidFill>
                  <a:srgbClr val="4A5568"/>
                </a:solidFill>
                <a:latin typeface="Arial" pitchFamily="34" charset="0"/>
                <a:ea typeface="Arial" pitchFamily="34" charset="-122"/>
                <a:cs typeface="Arial" pitchFamily="34" charset="-120"/>
              </a:rPr>
              <a:t>, so it settles near 84 °C and never reaches 90 °C.</a:t>
            </a:r>
            <a:endParaRPr lang="en-US" sz="1400" dirty="0"/>
          </a:p>
        </p:txBody>
      </p:sp>
      <p:sp>
        <p:nvSpPr>
          <p:cNvPr id="7" name="Shape 5"/>
          <p:cNvSpPr/>
          <p:nvPr/>
        </p:nvSpPr>
        <p:spPr>
          <a:xfrm>
            <a:off x="4405842" y="1908142"/>
            <a:ext cx="3380317" cy="1921470"/>
          </a:xfrm>
          <a:prstGeom prst="roundRect">
            <a:avLst>
              <a:gd name="adj" fmla="val 5122"/>
            </a:avLst>
          </a:prstGeom>
          <a:solidFill>
            <a:srgbClr val="FDFCF9"/>
          </a:solidFill>
          <a:ln w="6350">
            <a:solidFill>
              <a:srgbClr val="E2DED3"/>
            </a:solidFill>
            <a:prstDash val="solid"/>
          </a:ln>
        </p:spPr>
      </p:sp>
      <p:sp>
        <p:nvSpPr>
          <p:cNvPr id="8" name="Text 6"/>
          <p:cNvSpPr/>
          <p:nvPr/>
        </p:nvSpPr>
        <p:spPr>
          <a:xfrm>
            <a:off x="4663017" y="2165317"/>
            <a:ext cx="295194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On/off fan clutch</a:t>
            </a:r>
            <a:endParaRPr lang="en-US" sz="1800" dirty="0"/>
          </a:p>
        </p:txBody>
      </p:sp>
      <p:sp>
        <p:nvSpPr>
          <p:cNvPr id="9" name="Text 7"/>
          <p:cNvSpPr/>
          <p:nvPr/>
        </p:nvSpPr>
        <p:spPr>
          <a:xfrm>
            <a:off x="4663017" y="2541225"/>
            <a:ext cx="2951946"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Switches fully on at 96 °C and off at 90 °C. This </a:t>
            </a:r>
            <a:r>
              <a:rPr lang="en-US" sz="1400" b="1" dirty="0">
                <a:solidFill>
                  <a:srgbClr val="4A5568"/>
                </a:solidFill>
                <a:latin typeface="Arial" pitchFamily="34" charset="0"/>
                <a:ea typeface="Arial" pitchFamily="34" charset="-122"/>
                <a:cs typeface="Arial" pitchFamily="34" charset="-120"/>
              </a:rPr>
              <a:t>bang-bang control</a:t>
            </a:r>
            <a:r>
              <a:rPr lang="en-US" sz="1400" dirty="0">
                <a:solidFill>
                  <a:srgbClr val="4A5568"/>
                </a:solidFill>
                <a:latin typeface="Arial" pitchFamily="34" charset="0"/>
                <a:ea typeface="Arial" pitchFamily="34" charset="-122"/>
                <a:cs typeface="Arial" pitchFamily="34" charset="-120"/>
              </a:rPr>
              <a:t> makes the temperature swing.</a:t>
            </a:r>
            <a:endParaRPr lang="en-US" sz="1400" dirty="0"/>
          </a:p>
        </p:txBody>
      </p:sp>
      <p:sp>
        <p:nvSpPr>
          <p:cNvPr id="10" name="Shape 8"/>
          <p:cNvSpPr/>
          <p:nvPr/>
        </p:nvSpPr>
        <p:spPr>
          <a:xfrm>
            <a:off x="7995709" y="1908142"/>
            <a:ext cx="3380317" cy="1921470"/>
          </a:xfrm>
          <a:prstGeom prst="roundRect">
            <a:avLst>
              <a:gd name="adj" fmla="val 5122"/>
            </a:avLst>
          </a:prstGeom>
          <a:solidFill>
            <a:srgbClr val="FDFCF9"/>
          </a:solidFill>
          <a:ln w="6350">
            <a:solidFill>
              <a:srgbClr val="E2DED3"/>
            </a:solidFill>
            <a:prstDash val="solid"/>
          </a:ln>
        </p:spPr>
      </p:sp>
      <p:sp>
        <p:nvSpPr>
          <p:cNvPr id="11" name="Text 9"/>
          <p:cNvSpPr/>
          <p:nvPr/>
        </p:nvSpPr>
        <p:spPr>
          <a:xfrm>
            <a:off x="8252884" y="2165317"/>
            <a:ext cx="295194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Belt-driven pump</a:t>
            </a:r>
            <a:endParaRPr lang="en-US" sz="1800" dirty="0"/>
          </a:p>
        </p:txBody>
      </p:sp>
      <p:sp>
        <p:nvSpPr>
          <p:cNvPr id="12" name="Text 10"/>
          <p:cNvSpPr/>
          <p:nvPr/>
        </p:nvSpPr>
        <p:spPr>
          <a:xfrm>
            <a:off x="8252884" y="2541225"/>
            <a:ext cx="2951946"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Spins with the engine, not with the cooling demand, so it wastes energy when little cooling is needed.</a:t>
            </a:r>
            <a:endParaRPr lang="en-US" sz="1400" dirty="0"/>
          </a:p>
        </p:txBody>
      </p:sp>
      <p:sp>
        <p:nvSpPr>
          <p:cNvPr id="13" name="Shape 11"/>
          <p:cNvSpPr/>
          <p:nvPr/>
        </p:nvSpPr>
        <p:spPr>
          <a:xfrm>
            <a:off x="812800" y="4188388"/>
            <a:ext cx="10566400" cy="863600"/>
          </a:xfrm>
          <a:prstGeom prst="roundRect">
            <a:avLst>
              <a:gd name="adj" fmla="val 11765"/>
            </a:avLst>
          </a:prstGeom>
          <a:solidFill>
            <a:srgbClr val="15233B"/>
          </a:solidFill>
          <a:ln/>
        </p:spPr>
      </p:sp>
      <p:pic>
        <p:nvPicPr>
          <p:cNvPr id="14" name="Image 0" descr="Lightbulb">    </p:cNvPr>
          <p:cNvPicPr>
            <a:picLocks noChangeAspect="1"/>
          </p:cNvPicPr>
          <p:nvPr/>
        </p:nvPicPr>
        <p:blipFill>
          <a:blip r:embed="rId1"/>
          <a:srcRect l="0" r="0" t="0" b="0"/>
          <a:stretch/>
        </p:blipFill>
        <p:spPr>
          <a:xfrm>
            <a:off x="1117600" y="4442388"/>
            <a:ext cx="355600" cy="355600"/>
          </a:xfrm>
          <a:prstGeom prst="rect">
            <a:avLst/>
          </a:prstGeom>
        </p:spPr>
      </p:pic>
      <p:sp>
        <p:nvSpPr>
          <p:cNvPr id="15" name="Text 12"/>
          <p:cNvSpPr/>
          <p:nvPr/>
        </p:nvSpPr>
        <p:spPr>
          <a:xfrm>
            <a:off x="1676400" y="4483035"/>
            <a:ext cx="9492615" cy="299707"/>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6F5F1"/>
                </a:solidFill>
                <a:latin typeface="Arial" pitchFamily="34" charset="0"/>
                <a:ea typeface="Arial" pitchFamily="34" charset="-122"/>
                <a:cs typeface="Arial" pitchFamily="34" charset="-120"/>
              </a:rPr>
              <a:t>Our goal:</a:t>
            </a:r>
            <a:r>
              <a:rPr lang="en-US" sz="1600" dirty="0">
                <a:solidFill>
                  <a:srgbClr val="F6F5F1"/>
                </a:solidFill>
                <a:latin typeface="Arial" pitchFamily="34" charset="0"/>
                <a:ea typeface="Arial" pitchFamily="34" charset="-122"/>
                <a:cs typeface="Arial" pitchFamily="34" charset="-120"/>
              </a:rPr>
              <a:t> replace this with one PID controller that drives an electric valve, pump and fan.</a:t>
            </a:r>
            <a:endParaRPr lang="en-US" sz="1600" dirty="0"/>
          </a:p>
        </p:txBody>
      </p:sp>
      <p:sp>
        <p:nvSpPr>
          <p:cNvPr id="16" name="Text 13"/>
          <p:cNvSpPr/>
          <p:nvPr/>
        </p:nvSpPr>
        <p:spPr>
          <a:xfrm>
            <a:off x="812800" y="6238247"/>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METHOD</a:t>
            </a:r>
            <a:endParaRPr lang="en-US" sz="1200" dirty="0"/>
          </a:p>
        </p:txBody>
      </p:sp>
      <p:sp>
        <p:nvSpPr>
          <p:cNvPr id="3" name="Text 1"/>
          <p:cNvSpPr/>
          <p:nvPr>
            <p:ph type="title"/>
          </p:nvPr>
        </p:nvSpPr>
        <p:spPr>
          <a:xfrm>
            <a:off x="812800" y="110235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Four steps from physics to results</a:t>
            </a:r>
            <a:endParaRPr lang="en-US" sz="3200" dirty="0"/>
          </a:p>
        </p:txBody>
      </p:sp>
      <p:sp>
        <p:nvSpPr>
          <p:cNvPr id="4" name="Shape 2"/>
          <p:cNvSpPr/>
          <p:nvPr/>
        </p:nvSpPr>
        <p:spPr>
          <a:xfrm>
            <a:off x="815975" y="2009742"/>
            <a:ext cx="2520950" cy="2144977"/>
          </a:xfrm>
          <a:prstGeom prst="roundRect">
            <a:avLst>
              <a:gd name="adj" fmla="val 4589"/>
            </a:avLst>
          </a:prstGeom>
          <a:solidFill>
            <a:srgbClr val="FDFCF9"/>
          </a:solidFill>
          <a:ln w="6350">
            <a:solidFill>
              <a:srgbClr val="E2DED3"/>
            </a:solidFill>
            <a:prstDash val="solid"/>
          </a:ln>
        </p:spPr>
      </p:sp>
      <p:sp>
        <p:nvSpPr>
          <p:cNvPr id="5" name="Text 3"/>
          <p:cNvSpPr/>
          <p:nvPr/>
        </p:nvSpPr>
        <p:spPr>
          <a:xfrm>
            <a:off x="1073150" y="2266917"/>
            <a:ext cx="206679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07A3A"/>
                </a:solidFill>
                <a:latin typeface="Arial" pitchFamily="34" charset="0"/>
                <a:ea typeface="Arial" pitchFamily="34" charset="-122"/>
                <a:cs typeface="Arial" pitchFamily="34" charset="-120"/>
              </a:rPr>
              <a:t>1</a:t>
            </a:r>
            <a:endParaRPr lang="en-US" sz="3200" dirty="0"/>
          </a:p>
        </p:txBody>
      </p:sp>
      <p:sp>
        <p:nvSpPr>
          <p:cNvPr id="6" name="Text 4"/>
          <p:cNvSpPr/>
          <p:nvPr/>
        </p:nvSpPr>
        <p:spPr>
          <a:xfrm>
            <a:off x="1073150" y="2774917"/>
            <a:ext cx="206679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Model</a:t>
            </a:r>
            <a:endParaRPr lang="en-US" sz="1800" dirty="0"/>
          </a:p>
        </p:txBody>
      </p:sp>
      <p:sp>
        <p:nvSpPr>
          <p:cNvPr id="7" name="Text 5"/>
          <p:cNvSpPr/>
          <p:nvPr/>
        </p:nvSpPr>
        <p:spPr>
          <a:xfrm>
            <a:off x="1073150" y="3150825"/>
            <a:ext cx="2066798"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Energy balance simplified to two transfer functions</a:t>
            </a:r>
            <a:endParaRPr lang="en-US" sz="1400" dirty="0"/>
          </a:p>
        </p:txBody>
      </p:sp>
      <p:sp>
        <p:nvSpPr>
          <p:cNvPr id="8" name="Shape 6"/>
          <p:cNvSpPr/>
          <p:nvPr/>
        </p:nvSpPr>
        <p:spPr>
          <a:xfrm>
            <a:off x="3495675" y="2009742"/>
            <a:ext cx="2520950" cy="2144977"/>
          </a:xfrm>
          <a:prstGeom prst="roundRect">
            <a:avLst>
              <a:gd name="adj" fmla="val 4589"/>
            </a:avLst>
          </a:prstGeom>
          <a:solidFill>
            <a:srgbClr val="FDFCF9"/>
          </a:solidFill>
          <a:ln w="6350">
            <a:solidFill>
              <a:srgbClr val="E2DED3"/>
            </a:solidFill>
            <a:prstDash val="solid"/>
          </a:ln>
        </p:spPr>
      </p:sp>
      <p:sp>
        <p:nvSpPr>
          <p:cNvPr id="9" name="Text 7"/>
          <p:cNvSpPr/>
          <p:nvPr/>
        </p:nvSpPr>
        <p:spPr>
          <a:xfrm>
            <a:off x="3752850" y="2266917"/>
            <a:ext cx="206679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07A3A"/>
                </a:solidFill>
                <a:latin typeface="Arial" pitchFamily="34" charset="0"/>
                <a:ea typeface="Arial" pitchFamily="34" charset="-122"/>
                <a:cs typeface="Arial" pitchFamily="34" charset="-120"/>
              </a:rPr>
              <a:t>2</a:t>
            </a:r>
            <a:endParaRPr lang="en-US" sz="3200" dirty="0"/>
          </a:p>
        </p:txBody>
      </p:sp>
      <p:sp>
        <p:nvSpPr>
          <p:cNvPr id="10" name="Text 8"/>
          <p:cNvSpPr/>
          <p:nvPr/>
        </p:nvSpPr>
        <p:spPr>
          <a:xfrm>
            <a:off x="3752850" y="2774917"/>
            <a:ext cx="206679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Design</a:t>
            </a:r>
            <a:endParaRPr lang="en-US" sz="1800" dirty="0"/>
          </a:p>
        </p:txBody>
      </p:sp>
      <p:sp>
        <p:nvSpPr>
          <p:cNvPr id="11" name="Text 9"/>
          <p:cNvSpPr/>
          <p:nvPr/>
        </p:nvSpPr>
        <p:spPr>
          <a:xfrm>
            <a:off x="3752850" y="3150825"/>
            <a:ext cx="2066798"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PID with filter, output limit and anti-windup</a:t>
            </a:r>
            <a:endParaRPr lang="en-US" sz="1400" dirty="0"/>
          </a:p>
        </p:txBody>
      </p:sp>
      <p:sp>
        <p:nvSpPr>
          <p:cNvPr id="12" name="Shape 10"/>
          <p:cNvSpPr/>
          <p:nvPr/>
        </p:nvSpPr>
        <p:spPr>
          <a:xfrm>
            <a:off x="6175375" y="2009742"/>
            <a:ext cx="2520950" cy="2144977"/>
          </a:xfrm>
          <a:prstGeom prst="roundRect">
            <a:avLst>
              <a:gd name="adj" fmla="val 4589"/>
            </a:avLst>
          </a:prstGeom>
          <a:solidFill>
            <a:srgbClr val="FDFCF9"/>
          </a:solidFill>
          <a:ln w="6350">
            <a:solidFill>
              <a:srgbClr val="E2DED3"/>
            </a:solidFill>
            <a:prstDash val="solid"/>
          </a:ln>
        </p:spPr>
      </p:sp>
      <p:sp>
        <p:nvSpPr>
          <p:cNvPr id="13" name="Text 11"/>
          <p:cNvSpPr/>
          <p:nvPr/>
        </p:nvSpPr>
        <p:spPr>
          <a:xfrm>
            <a:off x="6432550" y="2266917"/>
            <a:ext cx="206679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07A3A"/>
                </a:solidFill>
                <a:latin typeface="Arial" pitchFamily="34" charset="0"/>
                <a:ea typeface="Arial" pitchFamily="34" charset="-122"/>
                <a:cs typeface="Arial" pitchFamily="34" charset="-120"/>
              </a:rPr>
              <a:t>3</a:t>
            </a:r>
            <a:endParaRPr lang="en-US" sz="3200" dirty="0"/>
          </a:p>
        </p:txBody>
      </p:sp>
      <p:sp>
        <p:nvSpPr>
          <p:cNvPr id="14" name="Text 12"/>
          <p:cNvSpPr/>
          <p:nvPr/>
        </p:nvSpPr>
        <p:spPr>
          <a:xfrm>
            <a:off x="6432550" y="2774917"/>
            <a:ext cx="206679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Simulate</a:t>
            </a:r>
            <a:endParaRPr lang="en-US" sz="1800" dirty="0"/>
          </a:p>
        </p:txBody>
      </p:sp>
      <p:sp>
        <p:nvSpPr>
          <p:cNvPr id="15" name="Text 13"/>
          <p:cNvSpPr/>
          <p:nvPr/>
        </p:nvSpPr>
        <p:spPr>
          <a:xfrm>
            <a:off x="6432550" y="3150825"/>
            <a:ext cx="2066798"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Set-point and load steps in MATLAB, same loop in Simulink</a:t>
            </a:r>
            <a:endParaRPr lang="en-US" sz="1400" dirty="0"/>
          </a:p>
        </p:txBody>
      </p:sp>
      <p:sp>
        <p:nvSpPr>
          <p:cNvPr id="16" name="Shape 14"/>
          <p:cNvSpPr/>
          <p:nvPr/>
        </p:nvSpPr>
        <p:spPr>
          <a:xfrm>
            <a:off x="8855075" y="2009742"/>
            <a:ext cx="2520950" cy="2144977"/>
          </a:xfrm>
          <a:prstGeom prst="roundRect">
            <a:avLst>
              <a:gd name="adj" fmla="val 4589"/>
            </a:avLst>
          </a:prstGeom>
          <a:solidFill>
            <a:srgbClr val="FDFCF9"/>
          </a:solidFill>
          <a:ln w="6350">
            <a:solidFill>
              <a:srgbClr val="E2DED3"/>
            </a:solidFill>
            <a:prstDash val="solid"/>
          </a:ln>
        </p:spPr>
      </p:sp>
      <p:sp>
        <p:nvSpPr>
          <p:cNvPr id="17" name="Text 15"/>
          <p:cNvSpPr/>
          <p:nvPr/>
        </p:nvSpPr>
        <p:spPr>
          <a:xfrm>
            <a:off x="9112250" y="2266917"/>
            <a:ext cx="2066798"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E07A3A"/>
                </a:solidFill>
                <a:latin typeface="Arial" pitchFamily="34" charset="0"/>
                <a:ea typeface="Arial" pitchFamily="34" charset="-122"/>
                <a:cs typeface="Arial" pitchFamily="34" charset="-120"/>
              </a:rPr>
              <a:t>4</a:t>
            </a:r>
            <a:endParaRPr lang="en-US" sz="3200" dirty="0"/>
          </a:p>
        </p:txBody>
      </p:sp>
      <p:sp>
        <p:nvSpPr>
          <p:cNvPr id="18" name="Text 16"/>
          <p:cNvSpPr/>
          <p:nvPr/>
        </p:nvSpPr>
        <p:spPr>
          <a:xfrm>
            <a:off x="9112250" y="2774917"/>
            <a:ext cx="206679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Compare</a:t>
            </a:r>
            <a:endParaRPr lang="en-US" sz="1800" dirty="0"/>
          </a:p>
        </p:txBody>
      </p:sp>
      <p:sp>
        <p:nvSpPr>
          <p:cNvPr id="19" name="Text 17"/>
          <p:cNvSpPr/>
          <p:nvPr/>
        </p:nvSpPr>
        <p:spPr>
          <a:xfrm>
            <a:off x="9112250" y="3150825"/>
            <a:ext cx="2066798"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P only vs PI vs PID: offset, peak and settling time</a:t>
            </a:r>
            <a:endParaRPr lang="en-US" sz="1400" dirty="0"/>
          </a:p>
        </p:txBody>
      </p:sp>
      <p:sp>
        <p:nvSpPr>
          <p:cNvPr id="20" name="Text 18"/>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THE SYSTEM</a:t>
            </a:r>
            <a:endParaRPr lang="en-US" sz="1200" dirty="0"/>
          </a:p>
        </p:txBody>
      </p:sp>
      <p:sp>
        <p:nvSpPr>
          <p:cNvPr id="3" name="Text 1"/>
          <p:cNvSpPr/>
          <p:nvPr>
            <p:ph type="title"/>
          </p:nvPr>
        </p:nvSpPr>
        <p:spPr>
          <a:xfrm>
            <a:off x="812800" y="110235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A closed loop with negative feedback</a:t>
            </a:r>
            <a:endParaRPr lang="en-US" sz="3200" dirty="0"/>
          </a:p>
        </p:txBody>
      </p:sp>
      <p:sp>
        <p:nvSpPr>
          <p:cNvPr id="4" name="Text 2"/>
          <p:cNvSpPr/>
          <p:nvPr/>
        </p:nvSpPr>
        <p:spPr>
          <a:xfrm>
            <a:off x="7511415" y="2095500"/>
            <a:ext cx="2223770" cy="421614"/>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5568"/>
                </a:solidFill>
                <a:latin typeface="Arial" pitchFamily="34" charset="0"/>
                <a:ea typeface="Arial" pitchFamily="34" charset="-122"/>
                <a:cs typeface="Arial" pitchFamily="34" charset="-120"/>
              </a:rPr>
              <a:t>Disturbances: engine load, speed, outside temperature</a:t>
            </a:r>
            <a:endParaRPr lang="en-US" sz="1200" dirty="0"/>
          </a:p>
        </p:txBody>
      </p:sp>
      <p:pic>
        <p:nvPicPr>
          <p:cNvPr id="5" name="Image 0" descr="connector">    </p:cNvPr>
          <p:cNvPicPr>
            <a:picLocks noChangeAspect="1"/>
          </p:cNvPicPr>
          <p:nvPr/>
        </p:nvPicPr>
        <p:blipFill>
          <a:blip r:embed="rId1"/>
          <a:srcRect l="0" r="0" t="0" b="0"/>
          <a:stretch/>
        </p:blipFill>
        <p:spPr>
          <a:xfrm>
            <a:off x="8572500" y="2552700"/>
            <a:ext cx="101600" cy="609600"/>
          </a:xfrm>
          <a:prstGeom prst="rect">
            <a:avLst/>
          </a:prstGeom>
        </p:spPr>
      </p:pic>
      <p:sp>
        <p:nvSpPr>
          <p:cNvPr id="6" name="Shape 3"/>
          <p:cNvSpPr/>
          <p:nvPr/>
        </p:nvSpPr>
        <p:spPr>
          <a:xfrm>
            <a:off x="819150" y="3117850"/>
            <a:ext cx="1257300" cy="876300"/>
          </a:xfrm>
          <a:prstGeom prst="roundRect">
            <a:avLst>
              <a:gd name="adj" fmla="val 7971"/>
            </a:avLst>
          </a:prstGeom>
          <a:solidFill>
            <a:srgbClr val="FDFCF9"/>
          </a:solidFill>
          <a:ln w="12700">
            <a:solidFill>
              <a:srgbClr val="15233B"/>
            </a:solidFill>
            <a:prstDash val="solid"/>
          </a:ln>
        </p:spPr>
      </p:sp>
      <p:sp>
        <p:nvSpPr>
          <p:cNvPr id="7" name="Text 4"/>
          <p:cNvSpPr/>
          <p:nvPr/>
        </p:nvSpPr>
        <p:spPr>
          <a:xfrm>
            <a:off x="975284" y="3294394"/>
            <a:ext cx="94499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5233B"/>
                </a:solidFill>
                <a:latin typeface="Arial" pitchFamily="34" charset="0"/>
                <a:ea typeface="Arial" pitchFamily="34" charset="-122"/>
                <a:cs typeface="Arial" pitchFamily="34" charset="-120"/>
              </a:rPr>
              <a:t>Set-point</a:t>
            </a:r>
            <a:endParaRPr lang="en-US" sz="1500" dirty="0"/>
          </a:p>
        </p:txBody>
      </p:sp>
      <p:sp>
        <p:nvSpPr>
          <p:cNvPr id="8" name="Text 5"/>
          <p:cNvSpPr/>
          <p:nvPr/>
        </p:nvSpPr>
        <p:spPr>
          <a:xfrm>
            <a:off x="1210389" y="3586494"/>
            <a:ext cx="474821"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5568"/>
                </a:solidFill>
                <a:latin typeface="Arial" pitchFamily="34" charset="0"/>
                <a:ea typeface="Arial" pitchFamily="34" charset="-122"/>
                <a:cs typeface="Arial" pitchFamily="34" charset="-120"/>
              </a:rPr>
              <a:t>90 °C</a:t>
            </a:r>
            <a:endParaRPr lang="en-US" sz="1300" dirty="0"/>
          </a:p>
        </p:txBody>
      </p:sp>
      <p:pic>
        <p:nvPicPr>
          <p:cNvPr id="9" name="Image 1" descr="ellipse">    </p:cNvPr>
          <p:cNvPicPr>
            <a:picLocks noChangeAspect="1"/>
          </p:cNvPicPr>
          <p:nvPr/>
        </p:nvPicPr>
        <p:blipFill>
          <a:blip r:embed="rId2"/>
          <a:srcRect l="0" r="0" t="0" b="0"/>
          <a:stretch/>
        </p:blipFill>
        <p:spPr>
          <a:xfrm>
            <a:off x="2463800" y="3238500"/>
            <a:ext cx="635000" cy="635000"/>
          </a:xfrm>
          <a:prstGeom prst="rect">
            <a:avLst/>
          </a:prstGeom>
        </p:spPr>
      </p:pic>
      <p:sp>
        <p:nvSpPr>
          <p:cNvPr id="10" name="Text 6"/>
          <p:cNvSpPr/>
          <p:nvPr/>
        </p:nvSpPr>
        <p:spPr>
          <a:xfrm>
            <a:off x="2438400" y="3403600"/>
            <a:ext cx="685800" cy="330200"/>
          </a:xfrm>
          <a:prstGeom prst="rect">
            <a:avLst/>
          </a:prstGeom>
          <a:noFill/>
          <a:ln/>
        </p:spPr>
        <p:txBody>
          <a:bodyPr wrap="square" lIns="0" tIns="0" rIns="0" bIns="0" rtlCol="0" anchor="t">
            <a:normAutofit/>
          </a:bodyPr>
          <a:lstStyle/>
          <a:p>
            <a:pPr algn="ctr" indent="0" marL="0">
              <a:lnSpc>
                <a:spcPts val="2400"/>
              </a:lnSpc>
              <a:buNone/>
            </a:pPr>
            <a:r>
              <a:rPr lang="en-US" sz="2000" b="1" dirty="0">
                <a:solidFill>
                  <a:srgbClr val="15233B"/>
                </a:solidFill>
                <a:latin typeface="Arial" pitchFamily="34" charset="0"/>
                <a:ea typeface="Arial" pitchFamily="34" charset="-122"/>
                <a:cs typeface="Arial" pitchFamily="34" charset="-120"/>
              </a:rPr>
              <a:t>Σ</a:t>
            </a:r>
            <a:endParaRPr lang="en-US" sz="2000" dirty="0"/>
          </a:p>
        </p:txBody>
      </p:sp>
      <p:sp>
        <p:nvSpPr>
          <p:cNvPr id="11" name="Text 7"/>
          <p:cNvSpPr/>
          <p:nvPr/>
        </p:nvSpPr>
        <p:spPr>
          <a:xfrm>
            <a:off x="2184400" y="3175000"/>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5233B"/>
                </a:solidFill>
                <a:latin typeface="Arial" pitchFamily="34" charset="0"/>
                <a:ea typeface="Arial" pitchFamily="34" charset="-122"/>
                <a:cs typeface="Arial" pitchFamily="34" charset="-120"/>
              </a:rPr>
              <a:t>+</a:t>
            </a:r>
            <a:endParaRPr lang="en-US" sz="1500" dirty="0"/>
          </a:p>
        </p:txBody>
      </p:sp>
      <p:sp>
        <p:nvSpPr>
          <p:cNvPr id="12" name="Text 8"/>
          <p:cNvSpPr/>
          <p:nvPr/>
        </p:nvSpPr>
        <p:spPr>
          <a:xfrm>
            <a:off x="2870200" y="3886200"/>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5233B"/>
                </a:solidFill>
                <a:latin typeface="Arial" pitchFamily="34" charset="0"/>
                <a:ea typeface="Arial" pitchFamily="34" charset="-122"/>
                <a:cs typeface="Arial" pitchFamily="34" charset="-120"/>
              </a:rPr>
              <a:t>−</a:t>
            </a:r>
            <a:endParaRPr lang="en-US" sz="1500" dirty="0"/>
          </a:p>
        </p:txBody>
      </p:sp>
      <p:sp>
        <p:nvSpPr>
          <p:cNvPr id="13" name="Shape 9"/>
          <p:cNvSpPr/>
          <p:nvPr/>
        </p:nvSpPr>
        <p:spPr>
          <a:xfrm>
            <a:off x="3486150" y="3117850"/>
            <a:ext cx="1511300" cy="876300"/>
          </a:xfrm>
          <a:prstGeom prst="roundRect">
            <a:avLst>
              <a:gd name="adj" fmla="val 7971"/>
            </a:avLst>
          </a:prstGeom>
          <a:solidFill>
            <a:srgbClr val="15233B"/>
          </a:solidFill>
          <a:ln w="12700">
            <a:solidFill>
              <a:srgbClr val="15233B"/>
            </a:solidFill>
            <a:prstDash val="solid"/>
          </a:ln>
        </p:spPr>
      </p:sp>
      <p:sp>
        <p:nvSpPr>
          <p:cNvPr id="14" name="Text 10"/>
          <p:cNvSpPr/>
          <p:nvPr/>
        </p:nvSpPr>
        <p:spPr>
          <a:xfrm>
            <a:off x="4037052" y="3285499"/>
            <a:ext cx="409496" cy="327653"/>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F6F5F1"/>
                </a:solidFill>
                <a:latin typeface="Arial" pitchFamily="34" charset="0"/>
                <a:ea typeface="Arial" pitchFamily="34" charset="-122"/>
                <a:cs typeface="Arial" pitchFamily="34" charset="-120"/>
              </a:rPr>
              <a:t>PID</a:t>
            </a:r>
            <a:endParaRPr lang="en-US" sz="1700" dirty="0"/>
          </a:p>
        </p:txBody>
      </p:sp>
      <p:sp>
        <p:nvSpPr>
          <p:cNvPr id="15" name="Text 11"/>
          <p:cNvSpPr/>
          <p:nvPr/>
        </p:nvSpPr>
        <p:spPr>
          <a:xfrm>
            <a:off x="3855168" y="3613150"/>
            <a:ext cx="773232" cy="238753"/>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5DEEA"/>
                </a:solidFill>
                <a:latin typeface="Arial" pitchFamily="34" charset="0"/>
                <a:ea typeface="Arial" pitchFamily="34" charset="-122"/>
                <a:cs typeface="Arial" pitchFamily="34" charset="-120"/>
              </a:rPr>
              <a:t>controller</a:t>
            </a:r>
            <a:endParaRPr lang="en-US" sz="1200" dirty="0"/>
          </a:p>
        </p:txBody>
      </p:sp>
      <p:sp>
        <p:nvSpPr>
          <p:cNvPr id="16" name="Shape 12"/>
          <p:cNvSpPr/>
          <p:nvPr/>
        </p:nvSpPr>
        <p:spPr>
          <a:xfrm>
            <a:off x="5391150" y="3117850"/>
            <a:ext cx="1892300" cy="876300"/>
          </a:xfrm>
          <a:prstGeom prst="roundRect">
            <a:avLst>
              <a:gd name="adj" fmla="val 7971"/>
            </a:avLst>
          </a:prstGeom>
          <a:solidFill>
            <a:srgbClr val="FDFCF9"/>
          </a:solidFill>
          <a:ln w="12700">
            <a:solidFill>
              <a:srgbClr val="15233B"/>
            </a:solidFill>
            <a:prstDash val="solid"/>
          </a:ln>
        </p:spPr>
      </p:sp>
      <p:sp>
        <p:nvSpPr>
          <p:cNvPr id="17" name="Text 13"/>
          <p:cNvSpPr/>
          <p:nvPr/>
        </p:nvSpPr>
        <p:spPr>
          <a:xfrm>
            <a:off x="5786084" y="3303259"/>
            <a:ext cx="110240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5233B"/>
                </a:solidFill>
                <a:latin typeface="Arial" pitchFamily="34" charset="0"/>
                <a:ea typeface="Arial" pitchFamily="34" charset="-122"/>
                <a:cs typeface="Arial" pitchFamily="34" charset="-120"/>
              </a:rPr>
              <a:t>Split range</a:t>
            </a:r>
            <a:endParaRPr lang="en-US" sz="1500" dirty="0"/>
          </a:p>
        </p:txBody>
      </p:sp>
      <p:sp>
        <p:nvSpPr>
          <p:cNvPr id="18" name="Text 14"/>
          <p:cNvSpPr/>
          <p:nvPr/>
        </p:nvSpPr>
        <p:spPr>
          <a:xfrm>
            <a:off x="5625667" y="3595359"/>
            <a:ext cx="1423233" cy="238753"/>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valve · pump · fan</a:t>
            </a:r>
            <a:endParaRPr lang="en-US" sz="1200" dirty="0"/>
          </a:p>
        </p:txBody>
      </p:sp>
      <p:sp>
        <p:nvSpPr>
          <p:cNvPr id="19" name="Shape 15"/>
          <p:cNvSpPr/>
          <p:nvPr/>
        </p:nvSpPr>
        <p:spPr>
          <a:xfrm>
            <a:off x="7677150" y="3117850"/>
            <a:ext cx="2019300" cy="876300"/>
          </a:xfrm>
          <a:prstGeom prst="roundRect">
            <a:avLst>
              <a:gd name="adj" fmla="val 7971"/>
            </a:avLst>
          </a:prstGeom>
          <a:solidFill>
            <a:srgbClr val="FBEADF"/>
          </a:solidFill>
          <a:ln w="12700">
            <a:solidFill>
              <a:srgbClr val="E07A3A"/>
            </a:solidFill>
            <a:prstDash val="solid"/>
          </a:ln>
        </p:spPr>
      </p:sp>
      <p:sp>
        <p:nvSpPr>
          <p:cNvPr id="20" name="Text 16"/>
          <p:cNvSpPr/>
          <p:nvPr/>
        </p:nvSpPr>
        <p:spPr>
          <a:xfrm>
            <a:off x="7841536" y="3303259"/>
            <a:ext cx="169052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5233B"/>
                </a:solidFill>
                <a:latin typeface="Arial" pitchFamily="34" charset="0"/>
                <a:ea typeface="Arial" pitchFamily="34" charset="-122"/>
                <a:cs typeface="Arial" pitchFamily="34" charset="-120"/>
              </a:rPr>
              <a:t>Engine + cooling</a:t>
            </a:r>
            <a:endParaRPr lang="en-US" sz="1500" dirty="0"/>
          </a:p>
        </p:txBody>
      </p:sp>
      <p:sp>
        <p:nvSpPr>
          <p:cNvPr id="21" name="Text 17"/>
          <p:cNvSpPr/>
          <p:nvPr/>
        </p:nvSpPr>
        <p:spPr>
          <a:xfrm>
            <a:off x="7949565" y="3595359"/>
            <a:ext cx="1474470" cy="238753"/>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Arial" pitchFamily="34" charset="0"/>
                <a:ea typeface="Arial" pitchFamily="34" charset="-122"/>
                <a:cs typeface="Arial" pitchFamily="34" charset="-120"/>
              </a:rPr>
              <a:t>system (the plant)</a:t>
            </a:r>
            <a:endParaRPr lang="en-US" sz="1200" dirty="0"/>
          </a:p>
        </p:txBody>
      </p:sp>
      <p:sp>
        <p:nvSpPr>
          <p:cNvPr id="22" name="Text 18"/>
          <p:cNvSpPr/>
          <p:nvPr/>
        </p:nvSpPr>
        <p:spPr>
          <a:xfrm>
            <a:off x="10083800" y="3282950"/>
            <a:ext cx="13462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4501F"/>
                </a:solidFill>
                <a:latin typeface="Arial" pitchFamily="34" charset="0"/>
                <a:ea typeface="Arial" pitchFamily="34" charset="-122"/>
                <a:cs typeface="Arial" pitchFamily="34" charset="-120"/>
              </a:rPr>
              <a:t>T_c</a:t>
            </a:r>
            <a:endParaRPr lang="en-US" sz="1800" dirty="0"/>
          </a:p>
        </p:txBody>
      </p:sp>
      <p:sp>
        <p:nvSpPr>
          <p:cNvPr id="23" name="Text 19"/>
          <p:cNvSpPr/>
          <p:nvPr/>
        </p:nvSpPr>
        <p:spPr>
          <a:xfrm>
            <a:off x="10083800" y="3615665"/>
            <a:ext cx="13462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coolant temp</a:t>
            </a:r>
            <a:endParaRPr lang="en-US" sz="1200" dirty="0"/>
          </a:p>
        </p:txBody>
      </p:sp>
      <p:pic>
        <p:nvPicPr>
          <p:cNvPr id="24" name="Image 2" descr="connector">    </p:cNvPr>
          <p:cNvPicPr>
            <a:picLocks noChangeAspect="1"/>
          </p:cNvPicPr>
          <p:nvPr/>
        </p:nvPicPr>
        <p:blipFill>
          <a:blip r:embed="rId3"/>
          <a:srcRect l="0" r="0" t="0" b="0"/>
          <a:stretch/>
        </p:blipFill>
        <p:spPr>
          <a:xfrm>
            <a:off x="2032000" y="3505200"/>
            <a:ext cx="482600" cy="101600"/>
          </a:xfrm>
          <a:prstGeom prst="rect">
            <a:avLst/>
          </a:prstGeom>
        </p:spPr>
      </p:pic>
      <p:pic>
        <p:nvPicPr>
          <p:cNvPr id="25" name="Image 3" descr="connector">    </p:cNvPr>
          <p:cNvPicPr>
            <a:picLocks noChangeAspect="1"/>
          </p:cNvPicPr>
          <p:nvPr/>
        </p:nvPicPr>
        <p:blipFill>
          <a:blip r:embed="rId4"/>
          <a:srcRect l="0" r="0" t="0" b="0"/>
          <a:stretch/>
        </p:blipFill>
        <p:spPr>
          <a:xfrm>
            <a:off x="3048000" y="3505200"/>
            <a:ext cx="482600" cy="101600"/>
          </a:xfrm>
          <a:prstGeom prst="rect">
            <a:avLst/>
          </a:prstGeom>
        </p:spPr>
      </p:pic>
      <p:pic>
        <p:nvPicPr>
          <p:cNvPr id="26" name="Image 4" descr="connector">    </p:cNvPr>
          <p:cNvPicPr>
            <a:picLocks noChangeAspect="1"/>
          </p:cNvPicPr>
          <p:nvPr/>
        </p:nvPicPr>
        <p:blipFill>
          <a:blip r:embed="rId5"/>
          <a:srcRect l="0" r="0" t="0" b="0"/>
          <a:stretch/>
        </p:blipFill>
        <p:spPr>
          <a:xfrm>
            <a:off x="4953000" y="3505200"/>
            <a:ext cx="482600" cy="101600"/>
          </a:xfrm>
          <a:prstGeom prst="rect">
            <a:avLst/>
          </a:prstGeom>
        </p:spPr>
      </p:pic>
      <p:pic>
        <p:nvPicPr>
          <p:cNvPr id="27" name="Image 5" descr="connector">    </p:cNvPr>
          <p:cNvPicPr>
            <a:picLocks noChangeAspect="1"/>
          </p:cNvPicPr>
          <p:nvPr/>
        </p:nvPicPr>
        <p:blipFill>
          <a:blip r:embed="rId6"/>
          <a:srcRect l="0" r="0" t="0" b="0"/>
          <a:stretch/>
        </p:blipFill>
        <p:spPr>
          <a:xfrm>
            <a:off x="7239000" y="3505200"/>
            <a:ext cx="482600" cy="101600"/>
          </a:xfrm>
          <a:prstGeom prst="rect">
            <a:avLst/>
          </a:prstGeom>
        </p:spPr>
      </p:pic>
      <p:pic>
        <p:nvPicPr>
          <p:cNvPr id="28" name="Image 6" descr="connector">    </p:cNvPr>
          <p:cNvPicPr>
            <a:picLocks noChangeAspect="1"/>
          </p:cNvPicPr>
          <p:nvPr/>
        </p:nvPicPr>
        <p:blipFill>
          <a:blip r:embed="rId7"/>
          <a:srcRect l="0" r="0" t="0" b="0"/>
          <a:stretch/>
        </p:blipFill>
        <p:spPr>
          <a:xfrm>
            <a:off x="9652000" y="3505200"/>
            <a:ext cx="482600" cy="101600"/>
          </a:xfrm>
          <a:prstGeom prst="rect">
            <a:avLst/>
          </a:prstGeom>
        </p:spPr>
      </p:pic>
      <p:sp>
        <p:nvSpPr>
          <p:cNvPr id="29" name="Text 20"/>
          <p:cNvSpPr/>
          <p:nvPr/>
        </p:nvSpPr>
        <p:spPr>
          <a:xfrm>
            <a:off x="3187700" y="3175000"/>
            <a:ext cx="304800" cy="256514"/>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568"/>
                </a:solidFill>
                <a:latin typeface="Arial" pitchFamily="34" charset="0"/>
                <a:ea typeface="Arial" pitchFamily="34" charset="-122"/>
                <a:cs typeface="Arial" pitchFamily="34" charset="-120"/>
              </a:rPr>
              <a:t>e</a:t>
            </a:r>
            <a:endParaRPr lang="en-US" sz="1300" dirty="0"/>
          </a:p>
        </p:txBody>
      </p:sp>
      <p:sp>
        <p:nvSpPr>
          <p:cNvPr id="30" name="Text 21"/>
          <p:cNvSpPr/>
          <p:nvPr/>
        </p:nvSpPr>
        <p:spPr>
          <a:xfrm>
            <a:off x="5105400" y="3175000"/>
            <a:ext cx="304800" cy="256514"/>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568"/>
                </a:solidFill>
                <a:latin typeface="Arial" pitchFamily="34" charset="0"/>
                <a:ea typeface="Arial" pitchFamily="34" charset="-122"/>
                <a:cs typeface="Arial" pitchFamily="34" charset="-120"/>
              </a:rPr>
              <a:t>y</a:t>
            </a:r>
            <a:endParaRPr lang="en-US" sz="1300" dirty="0"/>
          </a:p>
        </p:txBody>
      </p:sp>
      <p:sp>
        <p:nvSpPr>
          <p:cNvPr id="31" name="Text 22"/>
          <p:cNvSpPr/>
          <p:nvPr/>
        </p:nvSpPr>
        <p:spPr>
          <a:xfrm>
            <a:off x="7391400" y="3175000"/>
            <a:ext cx="304800" cy="256514"/>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568"/>
                </a:solidFill>
                <a:latin typeface="Arial" pitchFamily="34" charset="0"/>
                <a:ea typeface="Arial" pitchFamily="34" charset="-122"/>
                <a:cs typeface="Arial" pitchFamily="34" charset="-120"/>
              </a:rPr>
              <a:t>u</a:t>
            </a:r>
            <a:endParaRPr lang="en-US" sz="1300" dirty="0"/>
          </a:p>
        </p:txBody>
      </p:sp>
      <p:pic>
        <p:nvPicPr>
          <p:cNvPr id="32" name="Image 7" descr="connector">    </p:cNvPr>
          <p:cNvPicPr>
            <a:picLocks noChangeAspect="1"/>
          </p:cNvPicPr>
          <p:nvPr/>
        </p:nvPicPr>
        <p:blipFill>
          <a:blip r:embed="rId8"/>
          <a:srcRect l="0" r="0" t="0" b="0"/>
          <a:stretch/>
        </p:blipFill>
        <p:spPr>
          <a:xfrm>
            <a:off x="9855200" y="3505200"/>
            <a:ext cx="101600" cy="1625600"/>
          </a:xfrm>
          <a:prstGeom prst="rect">
            <a:avLst/>
          </a:prstGeom>
        </p:spPr>
      </p:pic>
      <p:pic>
        <p:nvPicPr>
          <p:cNvPr id="33" name="Image 8" descr="connector">    </p:cNvPr>
          <p:cNvPicPr>
            <a:picLocks noChangeAspect="1"/>
          </p:cNvPicPr>
          <p:nvPr/>
        </p:nvPicPr>
        <p:blipFill>
          <a:blip r:embed="rId9"/>
          <a:srcRect l="0" r="0" t="0" b="0"/>
          <a:stretch/>
        </p:blipFill>
        <p:spPr>
          <a:xfrm>
            <a:off x="2730500" y="5029200"/>
            <a:ext cx="7226300" cy="101600"/>
          </a:xfrm>
          <a:prstGeom prst="rect">
            <a:avLst/>
          </a:prstGeom>
        </p:spPr>
      </p:pic>
      <p:pic>
        <p:nvPicPr>
          <p:cNvPr id="34" name="Image 9" descr="connector">    </p:cNvPr>
          <p:cNvPicPr>
            <a:picLocks noChangeAspect="1"/>
          </p:cNvPicPr>
          <p:nvPr/>
        </p:nvPicPr>
        <p:blipFill>
          <a:blip r:embed="rId10"/>
          <a:srcRect l="0" r="0" t="0" b="0"/>
          <a:stretch/>
        </p:blipFill>
        <p:spPr>
          <a:xfrm>
            <a:off x="2730500" y="3835400"/>
            <a:ext cx="101600" cy="1295400"/>
          </a:xfrm>
          <a:prstGeom prst="rect">
            <a:avLst/>
          </a:prstGeom>
        </p:spPr>
      </p:pic>
      <p:sp>
        <p:nvSpPr>
          <p:cNvPr id="35" name="Text 23"/>
          <p:cNvSpPr/>
          <p:nvPr/>
        </p:nvSpPr>
        <p:spPr>
          <a:xfrm>
            <a:off x="4126230" y="5181600"/>
            <a:ext cx="4447540" cy="238753"/>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4501F"/>
                </a:solidFill>
                <a:latin typeface="Arial" pitchFamily="34" charset="0"/>
                <a:ea typeface="Arial" pitchFamily="34" charset="-122"/>
                <a:cs typeface="Arial" pitchFamily="34" charset="-120"/>
              </a:rPr>
              <a:t>measured by a temperature sensor (feedback)</a:t>
            </a:r>
            <a:endParaRPr lang="en-US" sz="1200" dirty="0"/>
          </a:p>
        </p:txBody>
      </p:sp>
      <p:sp>
        <p:nvSpPr>
          <p:cNvPr id="36" name="Text 24"/>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THE STATES</a:t>
            </a:r>
            <a:endParaRPr lang="en-US" sz="1200" dirty="0"/>
          </a:p>
        </p:txBody>
      </p:sp>
      <p:sp>
        <p:nvSpPr>
          <p:cNvPr id="3" name="Text 1"/>
          <p:cNvSpPr/>
          <p:nvPr>
            <p:ph type="title"/>
          </p:nvPr>
        </p:nvSpPr>
        <p:spPr>
          <a:xfrm>
            <a:off x="812800" y="110235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One temperature is enough for a simple model</a:t>
            </a:r>
            <a:endParaRPr lang="en-US" sz="3200" dirty="0"/>
          </a:p>
        </p:txBody>
      </p:sp>
      <p:sp>
        <p:nvSpPr>
          <p:cNvPr id="4" name="Shape 2"/>
          <p:cNvSpPr/>
          <p:nvPr/>
        </p:nvSpPr>
        <p:spPr>
          <a:xfrm>
            <a:off x="815975" y="1857344"/>
            <a:ext cx="3380317" cy="2050355"/>
          </a:xfrm>
          <a:prstGeom prst="roundRect">
            <a:avLst>
              <a:gd name="adj" fmla="val 4800"/>
            </a:avLst>
          </a:prstGeom>
          <a:solidFill>
            <a:srgbClr val="15233B"/>
          </a:solidFill>
          <a:ln w="6350">
            <a:solidFill>
              <a:srgbClr val="15233B"/>
            </a:solidFill>
            <a:prstDash val="solid"/>
          </a:ln>
        </p:spPr>
      </p:sp>
      <p:sp>
        <p:nvSpPr>
          <p:cNvPr id="5" name="Text 3"/>
          <p:cNvSpPr/>
          <p:nvPr/>
        </p:nvSpPr>
        <p:spPr>
          <a:xfrm>
            <a:off x="1073150" y="2114519"/>
            <a:ext cx="2951946"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F0A26E"/>
                </a:solidFill>
                <a:latin typeface="Courier New" pitchFamily="49" charset="0"/>
                <a:ea typeface="Courier New" pitchFamily="49" charset="-122"/>
                <a:cs typeface="Courier New" pitchFamily="49" charset="-120"/>
              </a:rPr>
              <a:t>T_c</a:t>
            </a:r>
            <a:endParaRPr lang="en-US" sz="2800" dirty="0"/>
          </a:p>
        </p:txBody>
      </p:sp>
      <p:sp>
        <p:nvSpPr>
          <p:cNvPr id="6" name="Text 4"/>
          <p:cNvSpPr/>
          <p:nvPr/>
        </p:nvSpPr>
        <p:spPr>
          <a:xfrm>
            <a:off x="1073150" y="2571719"/>
            <a:ext cx="29519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1"/>
                </a:solidFill>
                <a:latin typeface="Arial" pitchFamily="34" charset="0"/>
                <a:ea typeface="Arial" pitchFamily="34" charset="-122"/>
                <a:cs typeface="Arial" pitchFamily="34" charset="-120"/>
              </a:rPr>
              <a:t>Engine coolant</a:t>
            </a:r>
            <a:endParaRPr lang="en-US" sz="1700" dirty="0"/>
          </a:p>
        </p:txBody>
      </p:sp>
      <p:sp>
        <p:nvSpPr>
          <p:cNvPr id="7" name="Text 5"/>
          <p:cNvSpPr/>
          <p:nvPr/>
        </p:nvSpPr>
        <p:spPr>
          <a:xfrm>
            <a:off x="1073150" y="2932379"/>
            <a:ext cx="2951946"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5DEEA"/>
                </a:solidFill>
                <a:latin typeface="Arial" pitchFamily="34" charset="0"/>
                <a:ea typeface="Arial" pitchFamily="34" charset="-122"/>
                <a:cs typeface="Arial" pitchFamily="34" charset="-120"/>
              </a:rPr>
              <a:t>How hot the engine is. </a:t>
            </a:r>
            <a:r>
              <a:rPr lang="en-US" sz="1300" b="1" dirty="0">
                <a:solidFill>
                  <a:srgbClr val="D5DEEA"/>
                </a:solidFill>
                <a:latin typeface="Arial" pitchFamily="34" charset="0"/>
                <a:ea typeface="Arial" pitchFamily="34" charset="-122"/>
                <a:cs typeface="Arial" pitchFamily="34" charset="-120"/>
              </a:rPr>
              <a:t>The variable we control:</a:t>
            </a:r>
            <a:r>
              <a:rPr lang="en-US" sz="1300" dirty="0">
                <a:solidFill>
                  <a:srgbClr val="D5DEEA"/>
                </a:solidFill>
                <a:latin typeface="Arial" pitchFamily="34" charset="0"/>
                <a:ea typeface="Arial" pitchFamily="34" charset="-122"/>
                <a:cs typeface="Arial" pitchFamily="34" charset="-120"/>
              </a:rPr>
              <a:t> target 90 °C, limit 105 °C.</a:t>
            </a:r>
            <a:endParaRPr lang="en-US" sz="1300" dirty="0"/>
          </a:p>
        </p:txBody>
      </p:sp>
      <p:sp>
        <p:nvSpPr>
          <p:cNvPr id="8" name="Shape 6"/>
          <p:cNvSpPr/>
          <p:nvPr/>
        </p:nvSpPr>
        <p:spPr>
          <a:xfrm>
            <a:off x="4405842" y="1857344"/>
            <a:ext cx="3380317" cy="2050355"/>
          </a:xfrm>
          <a:prstGeom prst="roundRect">
            <a:avLst>
              <a:gd name="adj" fmla="val 4800"/>
            </a:avLst>
          </a:prstGeom>
          <a:solidFill>
            <a:srgbClr val="FDFCF9"/>
          </a:solidFill>
          <a:ln w="6350">
            <a:solidFill>
              <a:srgbClr val="E2DED3"/>
            </a:solidFill>
            <a:prstDash val="solid"/>
          </a:ln>
        </p:spPr>
      </p:sp>
      <p:sp>
        <p:nvSpPr>
          <p:cNvPr id="9" name="Text 7"/>
          <p:cNvSpPr/>
          <p:nvPr/>
        </p:nvSpPr>
        <p:spPr>
          <a:xfrm>
            <a:off x="4663017" y="2114519"/>
            <a:ext cx="2951946"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2B6CB0"/>
                </a:solidFill>
                <a:latin typeface="Courier New" pitchFamily="49" charset="0"/>
                <a:ea typeface="Courier New" pitchFamily="49" charset="-122"/>
                <a:cs typeface="Courier New" pitchFamily="49" charset="-120"/>
              </a:rPr>
              <a:t>T_r</a:t>
            </a:r>
            <a:endParaRPr lang="en-US" sz="2800" dirty="0"/>
          </a:p>
        </p:txBody>
      </p:sp>
      <p:sp>
        <p:nvSpPr>
          <p:cNvPr id="10" name="Text 8"/>
          <p:cNvSpPr/>
          <p:nvPr/>
        </p:nvSpPr>
        <p:spPr>
          <a:xfrm>
            <a:off x="4663017" y="2571719"/>
            <a:ext cx="29519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33B"/>
                </a:solidFill>
                <a:latin typeface="Arial" pitchFamily="34" charset="0"/>
                <a:ea typeface="Arial" pitchFamily="34" charset="-122"/>
                <a:cs typeface="Arial" pitchFamily="34" charset="-120"/>
              </a:rPr>
              <a:t>Radiator</a:t>
            </a:r>
            <a:endParaRPr lang="en-US" sz="1700" dirty="0"/>
          </a:p>
        </p:txBody>
      </p:sp>
      <p:sp>
        <p:nvSpPr>
          <p:cNvPr id="11" name="Text 9"/>
          <p:cNvSpPr/>
          <p:nvPr/>
        </p:nvSpPr>
        <p:spPr>
          <a:xfrm>
            <a:off x="4663017" y="2932379"/>
            <a:ext cx="2951946"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Not a separate state. Modelled as a 4.7 s lag between the cooling command and the engine.</a:t>
            </a:r>
            <a:endParaRPr lang="en-US" sz="1300" dirty="0"/>
          </a:p>
        </p:txBody>
      </p:sp>
      <p:sp>
        <p:nvSpPr>
          <p:cNvPr id="12" name="Shape 10"/>
          <p:cNvSpPr/>
          <p:nvPr/>
        </p:nvSpPr>
        <p:spPr>
          <a:xfrm>
            <a:off x="7995709" y="1857344"/>
            <a:ext cx="3380317" cy="2050355"/>
          </a:xfrm>
          <a:prstGeom prst="roundRect">
            <a:avLst>
              <a:gd name="adj" fmla="val 4800"/>
            </a:avLst>
          </a:prstGeom>
          <a:solidFill>
            <a:srgbClr val="FDFCF9"/>
          </a:solidFill>
          <a:ln w="6350">
            <a:solidFill>
              <a:srgbClr val="E2DED3"/>
            </a:solidFill>
            <a:prstDash val="solid"/>
          </a:ln>
        </p:spPr>
      </p:sp>
      <p:sp>
        <p:nvSpPr>
          <p:cNvPr id="13" name="Text 11"/>
          <p:cNvSpPr/>
          <p:nvPr/>
        </p:nvSpPr>
        <p:spPr>
          <a:xfrm>
            <a:off x="8252884" y="2114519"/>
            <a:ext cx="2951946"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B4501F"/>
                </a:solidFill>
                <a:latin typeface="Courier New" pitchFamily="49" charset="0"/>
                <a:ea typeface="Courier New" pitchFamily="49" charset="-122"/>
                <a:cs typeface="Courier New" pitchFamily="49" charset="-120"/>
              </a:rPr>
              <a:t>T_o</a:t>
            </a:r>
            <a:endParaRPr lang="en-US" sz="2800" dirty="0"/>
          </a:p>
        </p:txBody>
      </p:sp>
      <p:sp>
        <p:nvSpPr>
          <p:cNvPr id="14" name="Text 12"/>
          <p:cNvSpPr/>
          <p:nvPr/>
        </p:nvSpPr>
        <p:spPr>
          <a:xfrm>
            <a:off x="8252884" y="2571719"/>
            <a:ext cx="29519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33B"/>
                </a:solidFill>
                <a:latin typeface="Arial" pitchFamily="34" charset="0"/>
                <a:ea typeface="Arial" pitchFamily="34" charset="-122"/>
                <a:cs typeface="Arial" pitchFamily="34" charset="-120"/>
              </a:rPr>
              <a:t>Engine oil</a:t>
            </a:r>
            <a:endParaRPr lang="en-US" sz="1700" dirty="0"/>
          </a:p>
        </p:txBody>
      </p:sp>
      <p:sp>
        <p:nvSpPr>
          <p:cNvPr id="15" name="Text 13"/>
          <p:cNvSpPr/>
          <p:nvPr/>
        </p:nvSpPr>
        <p:spPr>
          <a:xfrm>
            <a:off x="8252884" y="2932379"/>
            <a:ext cx="2951946"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Left out of the simple model. It changes too slowly to matter for the PID.</a:t>
            </a:r>
            <a:endParaRPr lang="en-US" sz="1300" dirty="0"/>
          </a:p>
        </p:txBody>
      </p:sp>
      <p:sp>
        <p:nvSpPr>
          <p:cNvPr id="16" name="Text 14"/>
          <p:cNvSpPr/>
          <p:nvPr/>
        </p:nvSpPr>
        <p:spPr>
          <a:xfrm>
            <a:off x="812800" y="4215674"/>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Heat path: </a:t>
            </a:r>
            <a:r>
              <a:rPr lang="en-US" sz="1400" b="1" dirty="0">
                <a:solidFill>
                  <a:srgbClr val="4A5568"/>
                </a:solidFill>
                <a:latin typeface="Arial" pitchFamily="34" charset="0"/>
                <a:ea typeface="Arial" pitchFamily="34" charset="-122"/>
                <a:cs typeface="Arial" pitchFamily="34" charset="-120"/>
              </a:rPr>
              <a:t>engine → coolant (T_c) → radiator (T_r) → outside air</a:t>
            </a:r>
            <a:r>
              <a:rPr lang="en-US" sz="1400" dirty="0">
                <a:solidFill>
                  <a:srgbClr val="4A5568"/>
                </a:solidFill>
                <a:latin typeface="Arial" pitchFamily="34" charset="0"/>
                <a:ea typeface="Arial" pitchFamily="34" charset="-122"/>
                <a:cs typeface="Arial" pitchFamily="34" charset="-120"/>
              </a:rPr>
              <a:t>. The engine block adds a 509 s lag. In the code the only output is </a:t>
            </a:r>
            <a:r>
              <a:rPr lang="en-US" sz="1400" dirty="0">
                <a:solidFill>
                  <a:srgbClr val="B4501F"/>
                </a:solidFill>
                <a:latin typeface="Arial" pitchFamily="34" charset="0"/>
                <a:ea typeface="Arial" pitchFamily="34" charset="-122"/>
                <a:cs typeface="Arial" pitchFamily="34" charset="-120"/>
              </a:rPr>
              <a:t>T_c</a:t>
            </a:r>
            <a:r>
              <a:rPr lang="en-US" sz="1400" dirty="0">
                <a:solidFill>
                  <a:srgbClr val="4A5568"/>
                </a:solidFill>
                <a:latin typeface="Arial" pitchFamily="34" charset="0"/>
                <a:ea typeface="Arial" pitchFamily="34" charset="-122"/>
                <a:cs typeface="Arial" pitchFamily="34" charset="-120"/>
              </a:rPr>
              <a:t>.</a:t>
            </a:r>
            <a:endParaRPr lang="en-US" sz="1400" dirty="0"/>
          </a:p>
        </p:txBody>
      </p:sp>
      <p:sp>
        <p:nvSpPr>
          <p:cNvPr id="17" name="Text 15"/>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THE PLANT MODEL</a:t>
            </a:r>
            <a:endParaRPr lang="en-US" sz="1200" dirty="0"/>
          </a:p>
        </p:txBody>
      </p:sp>
      <p:sp>
        <p:nvSpPr>
          <p:cNvPr id="3" name="Text 1"/>
          <p:cNvSpPr/>
          <p:nvPr>
            <p:ph type="title"/>
          </p:nvPr>
        </p:nvSpPr>
        <p:spPr>
          <a:xfrm>
            <a:off x="812800" y="110235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Two transfer functions describe the plant</a:t>
            </a:r>
            <a:endParaRPr lang="en-US" sz="3200" dirty="0"/>
          </a:p>
        </p:txBody>
      </p:sp>
      <p:sp>
        <p:nvSpPr>
          <p:cNvPr id="4" name="Shape 2"/>
          <p:cNvSpPr/>
          <p:nvPr/>
        </p:nvSpPr>
        <p:spPr>
          <a:xfrm>
            <a:off x="815975" y="1806544"/>
            <a:ext cx="10560050" cy="923264"/>
          </a:xfrm>
          <a:prstGeom prst="roundRect">
            <a:avLst>
              <a:gd name="adj" fmla="val 10661"/>
            </a:avLst>
          </a:prstGeom>
          <a:solidFill>
            <a:srgbClr val="FDFCF9"/>
          </a:solidFill>
          <a:ln w="6350">
            <a:solidFill>
              <a:srgbClr val="E2DED3"/>
            </a:solidFill>
            <a:prstDash val="solid"/>
          </a:ln>
        </p:spPr>
      </p:sp>
      <p:sp>
        <p:nvSpPr>
          <p:cNvPr id="5" name="Text 3"/>
          <p:cNvSpPr/>
          <p:nvPr/>
        </p:nvSpPr>
        <p:spPr>
          <a:xfrm>
            <a:off x="1073150" y="1987519"/>
            <a:ext cx="103470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5233B"/>
                </a:solidFill>
                <a:latin typeface="Courier New" pitchFamily="49" charset="0"/>
                <a:ea typeface="Courier New" pitchFamily="49" charset="-122"/>
                <a:cs typeface="Courier New" pitchFamily="49" charset="-120"/>
              </a:rPr>
              <a:t>G(s)  = 78.2 / ((509s + 1)(4.7s + 1))</a:t>
            </a:r>
            <a:endParaRPr lang="en-US" sz="1500" dirty="0"/>
          </a:p>
        </p:txBody>
      </p:sp>
      <p:sp>
        <p:nvSpPr>
          <p:cNvPr id="6" name="Text 4"/>
          <p:cNvSpPr/>
          <p:nvPr/>
        </p:nvSpPr>
        <p:spPr>
          <a:xfrm>
            <a:off x="1073150" y="2317719"/>
            <a:ext cx="1034707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Cooling path: one more unit of cooling command lowers T_c by 78 K, through the radiator and engine lags</a:t>
            </a:r>
            <a:endParaRPr lang="en-US" sz="1300" dirty="0"/>
          </a:p>
        </p:txBody>
      </p:sp>
      <p:sp>
        <p:nvSpPr>
          <p:cNvPr id="7" name="Shape 5"/>
          <p:cNvSpPr/>
          <p:nvPr/>
        </p:nvSpPr>
        <p:spPr>
          <a:xfrm>
            <a:off x="815975" y="2863155"/>
            <a:ext cx="10560050" cy="923264"/>
          </a:xfrm>
          <a:prstGeom prst="roundRect">
            <a:avLst>
              <a:gd name="adj" fmla="val 10661"/>
            </a:avLst>
          </a:prstGeom>
          <a:solidFill>
            <a:srgbClr val="FDFCF9"/>
          </a:solidFill>
          <a:ln w="6350">
            <a:solidFill>
              <a:srgbClr val="E2DED3"/>
            </a:solidFill>
            <a:prstDash val="solid"/>
          </a:ln>
        </p:spPr>
      </p:sp>
      <p:sp>
        <p:nvSpPr>
          <p:cNvPr id="8" name="Text 6"/>
          <p:cNvSpPr/>
          <p:nvPr/>
        </p:nvSpPr>
        <p:spPr>
          <a:xfrm>
            <a:off x="1073150" y="3044130"/>
            <a:ext cx="103470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5233B"/>
                </a:solidFill>
                <a:latin typeface="Courier New" pitchFamily="49" charset="0"/>
                <a:ea typeface="Courier New" pitchFamily="49" charset="-122"/>
                <a:cs typeface="Courier New" pitchFamily="49" charset="-120"/>
              </a:rPr>
              <a:t>Gd(s) = 2.17 / (509s + 1)</a:t>
            </a:r>
            <a:endParaRPr lang="en-US" sz="1500" dirty="0"/>
          </a:p>
        </p:txBody>
      </p:sp>
      <p:sp>
        <p:nvSpPr>
          <p:cNvPr id="9" name="Text 7"/>
          <p:cNvSpPr/>
          <p:nvPr/>
        </p:nvSpPr>
        <p:spPr>
          <a:xfrm>
            <a:off x="1073150" y="3374330"/>
            <a:ext cx="1034707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Load path: 1 % more engine load raises T_c by 2.17 K, through the engine lag only</a:t>
            </a:r>
            <a:endParaRPr lang="en-US" sz="1300" dirty="0"/>
          </a:p>
        </p:txBody>
      </p:sp>
      <p:sp>
        <p:nvSpPr>
          <p:cNvPr id="10" name="Shape 8"/>
          <p:cNvSpPr/>
          <p:nvPr/>
        </p:nvSpPr>
        <p:spPr>
          <a:xfrm>
            <a:off x="815975" y="3919770"/>
            <a:ext cx="10560050" cy="923264"/>
          </a:xfrm>
          <a:prstGeom prst="roundRect">
            <a:avLst>
              <a:gd name="adj" fmla="val 10661"/>
            </a:avLst>
          </a:prstGeom>
          <a:solidFill>
            <a:srgbClr val="FDFCF9"/>
          </a:solidFill>
          <a:ln w="6350">
            <a:solidFill>
              <a:srgbClr val="E2DED3"/>
            </a:solidFill>
            <a:prstDash val="solid"/>
          </a:ln>
        </p:spPr>
      </p:sp>
      <p:sp>
        <p:nvSpPr>
          <p:cNvPr id="11" name="Text 9"/>
          <p:cNvSpPr/>
          <p:nvPr/>
        </p:nvSpPr>
        <p:spPr>
          <a:xfrm>
            <a:off x="1073150" y="4100745"/>
            <a:ext cx="103470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5233B"/>
                </a:solidFill>
                <a:latin typeface="Courier New" pitchFamily="49" charset="0"/>
                <a:ea typeface="Courier New" pitchFamily="49" charset="-122"/>
                <a:cs typeface="Courier New" pitchFamily="49" charset="-120"/>
              </a:rPr>
              <a:t>T_c = 90 − G(s)·Δy + Gd(s)·ΔL</a:t>
            </a:r>
            <a:endParaRPr lang="en-US" sz="1500" dirty="0"/>
          </a:p>
        </p:txBody>
      </p:sp>
      <p:sp>
        <p:nvSpPr>
          <p:cNvPr id="12" name="Text 10"/>
          <p:cNvSpPr/>
          <p:nvPr/>
        </p:nvSpPr>
        <p:spPr>
          <a:xfrm>
            <a:off x="1073150" y="4430945"/>
            <a:ext cx="1034707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Linearised around 90 °C, 30 % load and 25 °C air, where the cooling command is y0 = 0.83</a:t>
            </a:r>
            <a:endParaRPr lang="en-US" sz="1300" dirty="0"/>
          </a:p>
        </p:txBody>
      </p:sp>
      <p:sp>
        <p:nvSpPr>
          <p:cNvPr id="13" name="Text 11"/>
          <p:cNvSpPr/>
          <p:nvPr/>
        </p:nvSpPr>
        <p:spPr>
          <a:xfrm>
            <a:off x="812800" y="510021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τ = heat capacity ÷ heat removal rate · K = heat input ÷ heat removal rate · all inputs on slide 15</a:t>
            </a:r>
            <a:endParaRPr lang="en-US" sz="1300" dirty="0"/>
          </a:p>
        </p:txBody>
      </p:sp>
      <p:sp>
        <p:nvSpPr>
          <p:cNvPr id="14" name="Text 12"/>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THE CONTROLLER</a:t>
            </a:r>
            <a:endParaRPr lang="en-US" sz="1200" dirty="0"/>
          </a:p>
        </p:txBody>
      </p:sp>
      <p:sp>
        <p:nvSpPr>
          <p:cNvPr id="3" name="Text 1"/>
          <p:cNvSpPr/>
          <p:nvPr>
            <p:ph type="title"/>
          </p:nvPr>
        </p:nvSpPr>
        <p:spPr>
          <a:xfrm>
            <a:off x="812800" y="1102354"/>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The PID law</a:t>
            </a:r>
            <a:endParaRPr lang="en-US" sz="3200" dirty="0"/>
          </a:p>
        </p:txBody>
      </p:sp>
      <p:sp>
        <p:nvSpPr>
          <p:cNvPr id="4" name="Shape 2"/>
          <p:cNvSpPr/>
          <p:nvPr/>
        </p:nvSpPr>
        <p:spPr>
          <a:xfrm>
            <a:off x="812800" y="1803369"/>
            <a:ext cx="10566400" cy="1427460"/>
          </a:xfrm>
          <a:prstGeom prst="roundRect">
            <a:avLst>
              <a:gd name="adj" fmla="val 7118"/>
            </a:avLst>
          </a:prstGeom>
          <a:solidFill>
            <a:srgbClr val="15233B"/>
          </a:solidFill>
          <a:ln/>
        </p:spPr>
      </p:sp>
      <p:sp>
        <p:nvSpPr>
          <p:cNvPr id="5" name="Text 3"/>
          <p:cNvSpPr/>
          <p:nvPr/>
        </p:nvSpPr>
        <p:spPr>
          <a:xfrm>
            <a:off x="1168400" y="2057369"/>
            <a:ext cx="1015085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5DEEA"/>
                </a:solidFill>
                <a:latin typeface="Courier New" pitchFamily="49" charset="0"/>
                <a:ea typeface="Courier New" pitchFamily="49" charset="-122"/>
                <a:cs typeface="Courier New" pitchFamily="49" charset="-120"/>
              </a:rPr>
              <a:t>e = T_c − 90 °C</a:t>
            </a:r>
            <a:endParaRPr lang="en-US" sz="2000" dirty="0"/>
          </a:p>
        </p:txBody>
      </p:sp>
      <p:sp>
        <p:nvSpPr>
          <p:cNvPr id="6" name="Text 4"/>
          <p:cNvSpPr/>
          <p:nvPr/>
        </p:nvSpPr>
        <p:spPr>
          <a:xfrm>
            <a:off x="1168400" y="2514569"/>
            <a:ext cx="10150856" cy="487660"/>
          </a:xfrm>
          <a:prstGeom prst="rect">
            <a:avLst/>
          </a:prstGeom>
          <a:noFill/>
          <a:ln/>
        </p:spPr>
        <p:txBody>
          <a:bodyPr wrap="square" lIns="0" tIns="0" rIns="0" bIns="0" rtlCol="0" anchor="t">
            <a:normAutofit/>
          </a:bodyPr>
          <a:lstStyle/>
          <a:p>
            <a:pPr algn="l" indent="0" marL="0">
              <a:lnSpc>
                <a:spcPts val="3640"/>
              </a:lnSpc>
              <a:buNone/>
            </a:pPr>
            <a:r>
              <a:rPr lang="en-US" sz="2600" dirty="0">
                <a:solidFill>
                  <a:srgbClr val="F6F5F1"/>
                </a:solidFill>
                <a:latin typeface="Courier New" pitchFamily="49" charset="0"/>
                <a:ea typeface="Courier New" pitchFamily="49" charset="-122"/>
                <a:cs typeface="Courier New" pitchFamily="49" charset="-120"/>
              </a:rPr>
              <a:t>y = Kp·e + Ki·∫e dt + Kd·de/dt</a:t>
            </a:r>
            <a:endParaRPr lang="en-US" sz="2600" dirty="0"/>
          </a:p>
        </p:txBody>
      </p:sp>
      <p:sp>
        <p:nvSpPr>
          <p:cNvPr id="7" name="Shape 5"/>
          <p:cNvSpPr/>
          <p:nvPr/>
        </p:nvSpPr>
        <p:spPr>
          <a:xfrm>
            <a:off x="815975" y="3488004"/>
            <a:ext cx="3380317" cy="1292820"/>
          </a:xfrm>
          <a:prstGeom prst="roundRect">
            <a:avLst>
              <a:gd name="adj" fmla="val 7613"/>
            </a:avLst>
          </a:prstGeom>
          <a:solidFill>
            <a:srgbClr val="FDFCF9"/>
          </a:solidFill>
          <a:ln w="6350">
            <a:solidFill>
              <a:srgbClr val="E2DED3"/>
            </a:solidFill>
            <a:prstDash val="solid"/>
          </a:ln>
        </p:spPr>
      </p:sp>
      <p:sp>
        <p:nvSpPr>
          <p:cNvPr id="8" name="Text 6"/>
          <p:cNvSpPr/>
          <p:nvPr/>
        </p:nvSpPr>
        <p:spPr>
          <a:xfrm>
            <a:off x="1047750" y="3719779"/>
            <a:ext cx="300427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501F"/>
                </a:solidFill>
                <a:latin typeface="Arial" pitchFamily="34" charset="0"/>
                <a:ea typeface="Arial" pitchFamily="34" charset="-122"/>
                <a:cs typeface="Arial" pitchFamily="34" charset="-120"/>
              </a:rPr>
              <a:t>P · proportional</a:t>
            </a:r>
            <a:endParaRPr lang="en-US" sz="1800" dirty="0"/>
          </a:p>
        </p:txBody>
      </p:sp>
      <p:sp>
        <p:nvSpPr>
          <p:cNvPr id="9" name="Text 7"/>
          <p:cNvSpPr/>
          <p:nvPr/>
        </p:nvSpPr>
        <p:spPr>
          <a:xfrm>
            <a:off x="1047750" y="4070288"/>
            <a:ext cx="3004270"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Reacts to the </a:t>
            </a:r>
            <a:r>
              <a:rPr lang="en-US" sz="1300" b="1" dirty="0">
                <a:solidFill>
                  <a:srgbClr val="4A5568"/>
                </a:solidFill>
                <a:latin typeface="Arial" pitchFamily="34" charset="0"/>
                <a:ea typeface="Arial" pitchFamily="34" charset="-122"/>
                <a:cs typeface="Arial" pitchFamily="34" charset="-120"/>
              </a:rPr>
              <a:t>present</a:t>
            </a:r>
            <a:r>
              <a:rPr lang="en-US" sz="1300" dirty="0">
                <a:solidFill>
                  <a:srgbClr val="4A5568"/>
                </a:solidFill>
                <a:latin typeface="Arial" pitchFamily="34" charset="0"/>
                <a:ea typeface="Arial" pitchFamily="34" charset="-122"/>
                <a:cs typeface="Arial" pitchFamily="34" charset="-120"/>
              </a:rPr>
              <a:t> error. Fast, but on its own leaves an offset.</a:t>
            </a:r>
            <a:endParaRPr lang="en-US" sz="1300" dirty="0"/>
          </a:p>
        </p:txBody>
      </p:sp>
      <p:sp>
        <p:nvSpPr>
          <p:cNvPr id="10" name="Shape 8"/>
          <p:cNvSpPr/>
          <p:nvPr/>
        </p:nvSpPr>
        <p:spPr>
          <a:xfrm>
            <a:off x="4405842" y="3488004"/>
            <a:ext cx="3380317" cy="1292820"/>
          </a:xfrm>
          <a:prstGeom prst="roundRect">
            <a:avLst>
              <a:gd name="adj" fmla="val 7613"/>
            </a:avLst>
          </a:prstGeom>
          <a:solidFill>
            <a:srgbClr val="FDFCF9"/>
          </a:solidFill>
          <a:ln w="6350">
            <a:solidFill>
              <a:srgbClr val="E2DED3"/>
            </a:solidFill>
            <a:prstDash val="solid"/>
          </a:ln>
        </p:spPr>
      </p:sp>
      <p:sp>
        <p:nvSpPr>
          <p:cNvPr id="11" name="Text 9"/>
          <p:cNvSpPr/>
          <p:nvPr/>
        </p:nvSpPr>
        <p:spPr>
          <a:xfrm>
            <a:off x="4637617" y="3719779"/>
            <a:ext cx="300427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501F"/>
                </a:solidFill>
                <a:latin typeface="Arial" pitchFamily="34" charset="0"/>
                <a:ea typeface="Arial" pitchFamily="34" charset="-122"/>
                <a:cs typeface="Arial" pitchFamily="34" charset="-120"/>
              </a:rPr>
              <a:t>I · integral</a:t>
            </a:r>
            <a:endParaRPr lang="en-US" sz="1800" dirty="0"/>
          </a:p>
        </p:txBody>
      </p:sp>
      <p:sp>
        <p:nvSpPr>
          <p:cNvPr id="12" name="Text 10"/>
          <p:cNvSpPr/>
          <p:nvPr/>
        </p:nvSpPr>
        <p:spPr>
          <a:xfrm>
            <a:off x="4637617" y="4070288"/>
            <a:ext cx="3004270"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Adds up </a:t>
            </a:r>
            <a:r>
              <a:rPr lang="en-US" sz="1300" b="1" dirty="0">
                <a:solidFill>
                  <a:srgbClr val="4A5568"/>
                </a:solidFill>
                <a:latin typeface="Arial" pitchFamily="34" charset="0"/>
                <a:ea typeface="Arial" pitchFamily="34" charset="-122"/>
                <a:cs typeface="Arial" pitchFamily="34" charset="-120"/>
              </a:rPr>
              <a:t>past</a:t>
            </a:r>
            <a:r>
              <a:rPr lang="en-US" sz="1300" dirty="0">
                <a:solidFill>
                  <a:srgbClr val="4A5568"/>
                </a:solidFill>
                <a:latin typeface="Arial" pitchFamily="34" charset="0"/>
                <a:ea typeface="Arial" pitchFamily="34" charset="-122"/>
                <a:cs typeface="Arial" pitchFamily="34" charset="-120"/>
              </a:rPr>
              <a:t> error. Removes the steady-state offset.</a:t>
            </a:r>
            <a:endParaRPr lang="en-US" sz="1300" dirty="0"/>
          </a:p>
        </p:txBody>
      </p:sp>
      <p:sp>
        <p:nvSpPr>
          <p:cNvPr id="13" name="Shape 11"/>
          <p:cNvSpPr/>
          <p:nvPr/>
        </p:nvSpPr>
        <p:spPr>
          <a:xfrm>
            <a:off x="7995709" y="3488004"/>
            <a:ext cx="3380317" cy="1292820"/>
          </a:xfrm>
          <a:prstGeom prst="roundRect">
            <a:avLst>
              <a:gd name="adj" fmla="val 7613"/>
            </a:avLst>
          </a:prstGeom>
          <a:solidFill>
            <a:srgbClr val="FDFCF9"/>
          </a:solidFill>
          <a:ln w="6350">
            <a:solidFill>
              <a:srgbClr val="E2DED3"/>
            </a:solidFill>
            <a:prstDash val="solid"/>
          </a:ln>
        </p:spPr>
      </p:sp>
      <p:sp>
        <p:nvSpPr>
          <p:cNvPr id="14" name="Text 12"/>
          <p:cNvSpPr/>
          <p:nvPr/>
        </p:nvSpPr>
        <p:spPr>
          <a:xfrm>
            <a:off x="8227484" y="3719779"/>
            <a:ext cx="300427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4501F"/>
                </a:solidFill>
                <a:latin typeface="Arial" pitchFamily="34" charset="0"/>
                <a:ea typeface="Arial" pitchFamily="34" charset="-122"/>
                <a:cs typeface="Arial" pitchFamily="34" charset="-120"/>
              </a:rPr>
              <a:t>D · derivative</a:t>
            </a:r>
            <a:endParaRPr lang="en-US" sz="1800" dirty="0"/>
          </a:p>
        </p:txBody>
      </p:sp>
      <p:sp>
        <p:nvSpPr>
          <p:cNvPr id="15" name="Text 13"/>
          <p:cNvSpPr/>
          <p:nvPr/>
        </p:nvSpPr>
        <p:spPr>
          <a:xfrm>
            <a:off x="8227484" y="4070288"/>
            <a:ext cx="3004270"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Reacts to how </a:t>
            </a:r>
            <a:r>
              <a:rPr lang="en-US" sz="1300" b="1" dirty="0">
                <a:solidFill>
                  <a:srgbClr val="4A5568"/>
                </a:solidFill>
                <a:latin typeface="Arial" pitchFamily="34" charset="0"/>
                <a:ea typeface="Arial" pitchFamily="34" charset="-122"/>
                <a:cs typeface="Arial" pitchFamily="34" charset="-120"/>
              </a:rPr>
              <a:t>fast</a:t>
            </a:r>
            <a:r>
              <a:rPr lang="en-US" sz="1300" dirty="0">
                <a:solidFill>
                  <a:srgbClr val="4A5568"/>
                </a:solidFill>
                <a:latin typeface="Arial" pitchFamily="34" charset="0"/>
                <a:ea typeface="Arial" pitchFamily="34" charset="-122"/>
                <a:cs typeface="Arial" pitchFamily="34" charset="-120"/>
              </a:rPr>
              <a:t> the error changes. Damps the peak.</a:t>
            </a:r>
            <a:endParaRPr lang="en-US" sz="1300" dirty="0"/>
          </a:p>
        </p:txBody>
      </p:sp>
      <p:sp>
        <p:nvSpPr>
          <p:cNvPr id="16" name="Text 14"/>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THE CONTROLLER</a:t>
            </a:r>
            <a:endParaRPr lang="en-US" sz="1200" dirty="0"/>
          </a:p>
        </p:txBody>
      </p:sp>
      <p:sp>
        <p:nvSpPr>
          <p:cNvPr id="3" name="Text 1"/>
          <p:cNvSpPr/>
          <p:nvPr>
            <p:ph type="title"/>
          </p:nvPr>
        </p:nvSpPr>
        <p:spPr>
          <a:xfrm>
            <a:off x="812800" y="110235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Three additions make it work on a real system</a:t>
            </a:r>
            <a:endParaRPr lang="en-US" sz="3200" dirty="0"/>
          </a:p>
        </p:txBody>
      </p:sp>
      <p:sp>
        <p:nvSpPr>
          <p:cNvPr id="4" name="Shape 2"/>
          <p:cNvSpPr/>
          <p:nvPr/>
        </p:nvSpPr>
        <p:spPr>
          <a:xfrm>
            <a:off x="815975" y="1806544"/>
            <a:ext cx="3380317" cy="2731459"/>
          </a:xfrm>
          <a:prstGeom prst="roundRect">
            <a:avLst>
              <a:gd name="adj" fmla="val 3603"/>
            </a:avLst>
          </a:prstGeom>
          <a:solidFill>
            <a:srgbClr val="FDFCF9"/>
          </a:solidFill>
          <a:ln w="6350">
            <a:solidFill>
              <a:srgbClr val="E2DED3"/>
            </a:solidFill>
            <a:prstDash val="solid"/>
          </a:ln>
        </p:spPr>
      </p:sp>
      <p:sp>
        <p:nvSpPr>
          <p:cNvPr id="5" name="Text 3"/>
          <p:cNvSpPr/>
          <p:nvPr/>
        </p:nvSpPr>
        <p:spPr>
          <a:xfrm>
            <a:off x="1047750" y="2038319"/>
            <a:ext cx="30042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33B"/>
                </a:solidFill>
                <a:latin typeface="Arial" pitchFamily="34" charset="0"/>
                <a:ea typeface="Arial" pitchFamily="34" charset="-122"/>
                <a:cs typeface="Arial" pitchFamily="34" charset="-120"/>
              </a:rPr>
              <a:t>Split range</a:t>
            </a:r>
            <a:endParaRPr lang="en-US" sz="1700" dirty="0"/>
          </a:p>
        </p:txBody>
      </p:sp>
      <p:sp>
        <p:nvSpPr>
          <p:cNvPr id="6" name="Text 4"/>
          <p:cNvSpPr/>
          <p:nvPr/>
        </p:nvSpPr>
        <p:spPr>
          <a:xfrm>
            <a:off x="1047750" y="2398979"/>
            <a:ext cx="300427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One output y (0–3) for three actuators. The model only limits y to 0–3:</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60450" y="2975508"/>
          <a:ext cx="2904067" cy="1330722"/>
        </p:xfrm>
        <a:graphic>
          <a:graphicData uri="http://schemas.openxmlformats.org/drawingml/2006/table">
            <a:tbl>
              <a:tblPr/>
              <a:tblGrid>
                <a:gridCol w="1103545"/>
                <a:gridCol w="1800521"/>
              </a:tblGrid>
              <a:tr h="332680">
                <a:tc>
                  <a:txBody>
                    <a:bodyPr/>
                    <a:lstStyle/>
                    <a:p>
                      <a:pPr indent="0" marL="0">
                        <a:lnSpc>
                          <a:spcPts val="1680"/>
                        </a:lnSpc>
                        <a:buNone/>
                      </a:pPr>
                      <a:r>
                        <a:rPr lang="en-US" sz="1200" b="1" dirty="0">
                          <a:solidFill>
                            <a:srgbClr val="15233B"/>
                          </a:solidFill>
                          <a:latin typeface="Arial" pitchFamily="34" charset="0"/>
                          <a:ea typeface="Arial" pitchFamily="34" charset="-122"/>
                          <a:cs typeface="Arial" pitchFamily="34" charset="-120"/>
                        </a:rPr>
                        <a:t>y</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680"/>
                        </a:lnSpc>
                        <a:buNone/>
                      </a:pPr>
                      <a:r>
                        <a:rPr lang="en-US" sz="1200" b="1" dirty="0">
                          <a:solidFill>
                            <a:srgbClr val="15233B"/>
                          </a:solidFill>
                          <a:latin typeface="Arial" pitchFamily="34" charset="0"/>
                          <a:ea typeface="Arial" pitchFamily="34" charset="-122"/>
                          <a:cs typeface="Arial" pitchFamily="34" charset="-120"/>
                        </a:rPr>
                        <a:t>actuator</a:t>
                      </a:r>
                      <a:endParaRPr lang="en-US" sz="1200" dirty="0">
                        <a:latin typeface="Arial" charset="0"/>
                        <a:ea typeface="Arial" charset="0"/>
                        <a:cs typeface="Arial" charset="0"/>
                      </a:endParaRPr>
                    </a:p>
                  </a:txBody>
                  <a:tcPr marL="53340" marR="53340" marT="53340" marB="5334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r>
              <a:tr h="332680">
                <a:tc>
                  <a:txBody>
                    <a:bodyPr/>
                    <a:lstStyle/>
                    <a:p>
                      <a:pPr indent="0" marL="0">
                        <a:lnSpc>
                          <a:spcPts val="1680"/>
                        </a:lnSpc>
                        <a:buNone/>
                      </a:pPr>
                      <a:r>
                        <a:rPr lang="en-US" sz="1200" dirty="0">
                          <a:solidFill>
                            <a:srgbClr val="15233B"/>
                          </a:solidFill>
                          <a:latin typeface="Arial" pitchFamily="34" charset="0"/>
                          <a:ea typeface="Arial" pitchFamily="34" charset="-122"/>
                          <a:cs typeface="Arial" pitchFamily="34" charset="-120"/>
                        </a:rPr>
                        <a:t>0 → 1</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5233B"/>
                          </a:solidFill>
                          <a:latin typeface="Arial" pitchFamily="34" charset="0"/>
                          <a:ea typeface="Arial" pitchFamily="34" charset="-122"/>
                          <a:cs typeface="Arial" pitchFamily="34" charset="-120"/>
                        </a:rPr>
                        <a:t>valve opens</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5233B"/>
                          </a:solidFill>
                          <a:latin typeface="Arial" pitchFamily="34" charset="0"/>
                          <a:ea typeface="Arial" pitchFamily="34" charset="-122"/>
                          <a:cs typeface="Arial" pitchFamily="34" charset="-120"/>
                        </a:rPr>
                        <a:t>1 → 2</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5233B"/>
                          </a:solidFill>
                          <a:latin typeface="Arial" pitchFamily="34" charset="0"/>
                          <a:ea typeface="Arial" pitchFamily="34" charset="-122"/>
                          <a:cs typeface="Arial" pitchFamily="34" charset="-120"/>
                        </a:rPr>
                        <a:t>pump speeds up</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5233B"/>
                          </a:solidFill>
                          <a:latin typeface="Arial" pitchFamily="34" charset="0"/>
                          <a:ea typeface="Arial" pitchFamily="34" charset="-122"/>
                          <a:cs typeface="Arial" pitchFamily="34" charset="-120"/>
                        </a:rPr>
                        <a:t>2 → 3</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5233B"/>
                          </a:solidFill>
                          <a:latin typeface="Arial" pitchFamily="34" charset="0"/>
                          <a:ea typeface="Arial" pitchFamily="34" charset="-122"/>
                          <a:cs typeface="Arial" pitchFamily="34" charset="-120"/>
                        </a:rPr>
                        <a:t>fan runs</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8" name="Shape 5"/>
          <p:cNvSpPr/>
          <p:nvPr/>
        </p:nvSpPr>
        <p:spPr>
          <a:xfrm>
            <a:off x="4405842" y="1806544"/>
            <a:ext cx="3380317" cy="2731459"/>
          </a:xfrm>
          <a:prstGeom prst="roundRect">
            <a:avLst>
              <a:gd name="adj" fmla="val 3603"/>
            </a:avLst>
          </a:prstGeom>
          <a:solidFill>
            <a:srgbClr val="FDFCF9"/>
          </a:solidFill>
          <a:ln w="6350">
            <a:solidFill>
              <a:srgbClr val="E2DED3"/>
            </a:solidFill>
            <a:prstDash val="solid"/>
          </a:ln>
        </p:spPr>
      </p:sp>
      <p:sp>
        <p:nvSpPr>
          <p:cNvPr id="9" name="Text 6"/>
          <p:cNvSpPr/>
          <p:nvPr/>
        </p:nvSpPr>
        <p:spPr>
          <a:xfrm>
            <a:off x="4637617" y="2038319"/>
            <a:ext cx="30042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33B"/>
                </a:solidFill>
                <a:latin typeface="Arial" pitchFamily="34" charset="0"/>
                <a:ea typeface="Arial" pitchFamily="34" charset="-122"/>
                <a:cs typeface="Arial" pitchFamily="34" charset="-120"/>
              </a:rPr>
              <a:t>Anti-windup</a:t>
            </a:r>
            <a:endParaRPr lang="en-US" sz="1700" dirty="0"/>
          </a:p>
        </p:txBody>
      </p:sp>
      <p:sp>
        <p:nvSpPr>
          <p:cNvPr id="10" name="Text 7"/>
          <p:cNvSpPr/>
          <p:nvPr/>
        </p:nvSpPr>
        <p:spPr>
          <a:xfrm>
            <a:off x="4637617" y="2398979"/>
            <a:ext cx="3004270" cy="98292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When the actuators are already at their limit, the integral stops adding up. Without it, I grows huge and the temperature overshoots.</a:t>
            </a:r>
            <a:endParaRPr lang="en-US" sz="1300" dirty="0"/>
          </a:p>
        </p:txBody>
      </p:sp>
      <p:sp>
        <p:nvSpPr>
          <p:cNvPr id="11" name="Shape 8"/>
          <p:cNvSpPr/>
          <p:nvPr/>
        </p:nvSpPr>
        <p:spPr>
          <a:xfrm>
            <a:off x="7995709" y="1806544"/>
            <a:ext cx="3380317" cy="2731459"/>
          </a:xfrm>
          <a:prstGeom prst="roundRect">
            <a:avLst>
              <a:gd name="adj" fmla="val 3603"/>
            </a:avLst>
          </a:prstGeom>
          <a:solidFill>
            <a:srgbClr val="FDFCF9"/>
          </a:solidFill>
          <a:ln w="6350">
            <a:solidFill>
              <a:srgbClr val="E2DED3"/>
            </a:solidFill>
            <a:prstDash val="solid"/>
          </a:ln>
        </p:spPr>
      </p:sp>
      <p:sp>
        <p:nvSpPr>
          <p:cNvPr id="12" name="Text 9"/>
          <p:cNvSpPr/>
          <p:nvPr/>
        </p:nvSpPr>
        <p:spPr>
          <a:xfrm>
            <a:off x="8227484" y="2038319"/>
            <a:ext cx="30042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33B"/>
                </a:solidFill>
                <a:latin typeface="Arial" pitchFamily="34" charset="0"/>
                <a:ea typeface="Arial" pitchFamily="34" charset="-122"/>
                <a:cs typeface="Arial" pitchFamily="34" charset="-120"/>
              </a:rPr>
              <a:t>Derivative filter</a:t>
            </a:r>
            <a:endParaRPr lang="en-US" sz="1700" dirty="0"/>
          </a:p>
        </p:txBody>
      </p:sp>
      <p:sp>
        <p:nvSpPr>
          <p:cNvPr id="13" name="Text 10"/>
          <p:cNvSpPr/>
          <p:nvPr/>
        </p:nvSpPr>
        <p:spPr>
          <a:xfrm>
            <a:off x="8227484" y="2398979"/>
            <a:ext cx="3004270"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A 1 s low-pass filter on the D term, so sensor noise is not amplified.</a:t>
            </a:r>
            <a:endParaRPr lang="en-US" sz="1300" dirty="0"/>
          </a:p>
        </p:txBody>
      </p:sp>
      <p:sp>
        <p:nvSpPr>
          <p:cNvPr id="14" name="Text 11"/>
          <p:cNvSpPr/>
          <p:nvPr/>
        </p:nvSpPr>
        <p:spPr>
          <a:xfrm>
            <a:off x="812800" y="4871380"/>
            <a:ext cx="112689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233B"/>
                </a:solidFill>
                <a:latin typeface="Arial" pitchFamily="34" charset="0"/>
                <a:ea typeface="Arial" pitchFamily="34" charset="-122"/>
                <a:cs typeface="Arial" pitchFamily="34" charset="-120"/>
              </a:rPr>
              <a:t>SIMC gains</a:t>
            </a:r>
            <a:endParaRPr lang="en-US" sz="1400" dirty="0"/>
          </a:p>
        </p:txBody>
      </p:sp>
      <p:sp>
        <p:nvSpPr>
          <p:cNvPr id="15" name="Text 12"/>
          <p:cNvSpPr/>
          <p:nvPr/>
        </p:nvSpPr>
        <p:spPr>
          <a:xfrm>
            <a:off x="1939694" y="4795180"/>
            <a:ext cx="997545" cy="401307"/>
          </a:xfrm>
          <a:prstGeom prst="roundRect">
            <a:avLst>
              <a:gd name="adj" fmla="val 50000"/>
            </a:avLst>
          </a:prstGeom>
          <a:solidFill>
            <a:srgbClr val="15233B"/>
          </a:solidFill>
          <a:ln/>
        </p:spPr>
        <p:txBody>
          <a:bodyPr wrap="none" lIns="0" tIns="0" rIns="0" bIns="0" rtlCol="0" anchor="ctr">
            <a:normAutofit/>
          </a:bodyPr>
          <a:lstStyle/>
          <a:p>
            <a:pPr algn="ctr" indent="0" marL="0">
              <a:lnSpc>
                <a:spcPts val="1960"/>
              </a:lnSpc>
              <a:buNone/>
            </a:pPr>
            <a:r>
              <a:rPr lang="en-US" sz="1400" dirty="0">
                <a:solidFill>
                  <a:srgbClr val="F6F5F1"/>
                </a:solidFill>
                <a:latin typeface="Arial" pitchFamily="34" charset="0"/>
                <a:ea typeface="Arial" pitchFamily="34" charset="-122"/>
                <a:cs typeface="Arial" pitchFamily="34" charset="-120"/>
              </a:rPr>
              <a:t>Kp = 0.34</a:t>
            </a:r>
            <a:endParaRPr lang="en-US" sz="1400" dirty="0"/>
          </a:p>
        </p:txBody>
      </p:sp>
      <p:sp>
        <p:nvSpPr>
          <p:cNvPr id="16" name="Text 13"/>
          <p:cNvSpPr/>
          <p:nvPr/>
        </p:nvSpPr>
        <p:spPr>
          <a:xfrm>
            <a:off x="3089639" y="4795180"/>
            <a:ext cx="1142769" cy="401307"/>
          </a:xfrm>
          <a:prstGeom prst="roundRect">
            <a:avLst>
              <a:gd name="adj" fmla="val 50000"/>
            </a:avLst>
          </a:prstGeom>
          <a:solidFill>
            <a:srgbClr val="15233B"/>
          </a:solidFill>
          <a:ln/>
        </p:spPr>
        <p:txBody>
          <a:bodyPr wrap="none" lIns="0" tIns="0" rIns="0" bIns="0" rtlCol="0" anchor="ctr">
            <a:normAutofit/>
          </a:bodyPr>
          <a:lstStyle/>
          <a:p>
            <a:pPr algn="ctr" indent="0" marL="0">
              <a:lnSpc>
                <a:spcPts val="1960"/>
              </a:lnSpc>
              <a:buNone/>
            </a:pPr>
            <a:r>
              <a:rPr lang="en-US" sz="1400" dirty="0">
                <a:solidFill>
                  <a:srgbClr val="F6F5F1"/>
                </a:solidFill>
                <a:latin typeface="Arial" pitchFamily="34" charset="0"/>
                <a:ea typeface="Arial" pitchFamily="34" charset="-122"/>
                <a:cs typeface="Arial" pitchFamily="34" charset="-120"/>
              </a:rPr>
              <a:t>Ki = 0.0041</a:t>
            </a:r>
            <a:endParaRPr lang="en-US" sz="1400" dirty="0"/>
          </a:p>
        </p:txBody>
      </p:sp>
      <p:sp>
        <p:nvSpPr>
          <p:cNvPr id="17" name="Text 14"/>
          <p:cNvSpPr/>
          <p:nvPr/>
        </p:nvSpPr>
        <p:spPr>
          <a:xfrm>
            <a:off x="4384808" y="4795180"/>
            <a:ext cx="997711" cy="401307"/>
          </a:xfrm>
          <a:prstGeom prst="roundRect">
            <a:avLst>
              <a:gd name="adj" fmla="val 50000"/>
            </a:avLst>
          </a:prstGeom>
          <a:solidFill>
            <a:srgbClr val="15233B"/>
          </a:solidFill>
          <a:ln/>
        </p:spPr>
        <p:txBody>
          <a:bodyPr wrap="none" lIns="0" tIns="0" rIns="0" bIns="0" rtlCol="0" anchor="ctr">
            <a:normAutofit/>
          </a:bodyPr>
          <a:lstStyle/>
          <a:p>
            <a:pPr algn="ctr" indent="0" marL="0">
              <a:lnSpc>
                <a:spcPts val="1960"/>
              </a:lnSpc>
              <a:buNone/>
            </a:pPr>
            <a:r>
              <a:rPr lang="en-US" sz="1400" dirty="0">
                <a:solidFill>
                  <a:srgbClr val="F6F5F1"/>
                </a:solidFill>
                <a:latin typeface="Arial" pitchFamily="34" charset="0"/>
                <a:ea typeface="Arial" pitchFamily="34" charset="-122"/>
                <a:cs typeface="Arial" pitchFamily="34" charset="-120"/>
              </a:rPr>
              <a:t>Kd = 1.52</a:t>
            </a:r>
            <a:endParaRPr lang="en-US" sz="1400" dirty="0"/>
          </a:p>
        </p:txBody>
      </p:sp>
      <p:sp>
        <p:nvSpPr>
          <p:cNvPr id="18" name="Text 15"/>
          <p:cNvSpPr/>
          <p:nvPr/>
        </p:nvSpPr>
        <p:spPr>
          <a:xfrm>
            <a:off x="5534918" y="4795180"/>
            <a:ext cx="964969" cy="401307"/>
          </a:xfrm>
          <a:prstGeom prst="roundRect">
            <a:avLst>
              <a:gd name="adj" fmla="val 50000"/>
            </a:avLst>
          </a:prstGeom>
          <a:solidFill>
            <a:srgbClr val="15233B"/>
          </a:solidFill>
          <a:ln/>
        </p:spPr>
        <p:txBody>
          <a:bodyPr wrap="none" lIns="0" tIns="0" rIns="0" bIns="0" rtlCol="0" anchor="ctr">
            <a:normAutofit/>
          </a:bodyPr>
          <a:lstStyle/>
          <a:p>
            <a:pPr algn="ctr" indent="0" marL="0">
              <a:lnSpc>
                <a:spcPts val="1960"/>
              </a:lnSpc>
              <a:buNone/>
            </a:pPr>
            <a:r>
              <a:rPr lang="en-US" sz="1400" dirty="0">
                <a:solidFill>
                  <a:srgbClr val="F6F5F1"/>
                </a:solidFill>
                <a:latin typeface="Arial" pitchFamily="34" charset="0"/>
                <a:ea typeface="Arial" pitchFamily="34" charset="-122"/>
                <a:cs typeface="Arial" pitchFamily="34" charset="-120"/>
              </a:rPr>
              <a:t>N = 1</a:t>
            </a:r>
            <a:endParaRPr lang="en-US" sz="1400" dirty="0"/>
          </a:p>
        </p:txBody>
      </p:sp>
      <p:sp>
        <p:nvSpPr>
          <p:cNvPr id="19" name="Text 16"/>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IMPLEMENTATION</a:t>
            </a:r>
            <a:endParaRPr lang="en-US" sz="1200" dirty="0"/>
          </a:p>
        </p:txBody>
      </p:sp>
      <p:sp>
        <p:nvSpPr>
          <p:cNvPr id="3" name="Text 1"/>
          <p:cNvSpPr/>
          <p:nvPr>
            <p:ph type="title"/>
          </p:nvPr>
        </p:nvSpPr>
        <p:spPr>
          <a:xfrm>
            <a:off x="812800" y="110235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The MATLAB code, section by section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69"/>
          <a:ext cx="10553700" cy="2874962"/>
        </p:xfrm>
        <a:graphic>
          <a:graphicData uri="http://schemas.openxmlformats.org/drawingml/2006/table">
            <a:tbl>
              <a:tblPr/>
              <a:tblGrid>
                <a:gridCol w="3799332"/>
                <a:gridCol w="6754368"/>
              </a:tblGrid>
              <a:tr h="359370">
                <a:tc>
                  <a:txBody>
                    <a:bodyPr/>
                    <a:lstStyle/>
                    <a:p>
                      <a:pPr indent="0" marL="0">
                        <a:lnSpc>
                          <a:spcPts val="1820"/>
                        </a:lnSpc>
                        <a:buNone/>
                      </a:pPr>
                      <a:r>
                        <a:rPr lang="en-US" sz="1300" b="1" dirty="0">
                          <a:solidFill>
                            <a:srgbClr val="15233B"/>
                          </a:solidFill>
                          <a:latin typeface="Arial" pitchFamily="34" charset="0"/>
                          <a:ea typeface="Arial" pitchFamily="34" charset="-122"/>
                          <a:cs typeface="Arial" pitchFamily="34" charset="-120"/>
                        </a:rPr>
                        <a:t>Section</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820"/>
                        </a:lnSpc>
                        <a:buNone/>
                      </a:pPr>
                      <a:r>
                        <a:rPr lang="en-US" sz="1300" b="1" dirty="0">
                          <a:solidFill>
                            <a:srgbClr val="15233B"/>
                          </a:solidFill>
                          <a:latin typeface="Arial" pitchFamily="34" charset="0"/>
                          <a:ea typeface="Arial" pitchFamily="34" charset="-122"/>
                          <a:cs typeface="Arial" pitchFamily="34" charset="-120"/>
                        </a:rPr>
                        <a:t>What it does</a:t>
                      </a:r>
                      <a:endParaRPr lang="en-US" sz="1300" dirty="0">
                        <a:latin typeface="Arial" charset="0"/>
                        <a:ea typeface="Arial" charset="0"/>
                        <a:cs typeface="Arial" charset="0"/>
                      </a:endParaRPr>
                    </a:p>
                  </a:txBody>
                  <a:tcPr marL="57785" marR="57785" marT="57785" marB="5778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Physical data</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Engine, coolant and material data, plus stated assumptions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Derived constants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τ = C / H and gains K; PID gains from the SIMC rule</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Transfer functions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G(s) and Gd(s) with num, den, conv and tf</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Controllers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P, PI and PID built as transfer functions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Closed loop + poles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feedback() for set-point and load; pole() checks stability</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Experiment 1</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Set-point step 90 → 95 °C with step() and stepinfo()</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Experiment 2</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Load step 30 → 80 %: peak, offset and settling time</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IMPLEMENTATION</a:t>
            </a:r>
            <a:endParaRPr lang="en-US" sz="1200" dirty="0"/>
          </a:p>
        </p:txBody>
      </p:sp>
      <p:sp>
        <p:nvSpPr>
          <p:cNvPr id="3" name="Text 1"/>
          <p:cNvSpPr/>
          <p:nvPr>
            <p:ph type="title"/>
          </p:nvPr>
        </p:nvSpPr>
        <p:spPr>
          <a:xfrm>
            <a:off x="812800" y="110235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The same loop, built in Simulink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69"/>
          <a:ext cx="10553700" cy="3234333"/>
        </p:xfrm>
        <a:graphic>
          <a:graphicData uri="http://schemas.openxmlformats.org/drawingml/2006/table">
            <a:tbl>
              <a:tblPr/>
              <a:tblGrid>
                <a:gridCol w="3588258"/>
                <a:gridCol w="6965442"/>
              </a:tblGrid>
              <a:tr h="359370">
                <a:tc>
                  <a:txBody>
                    <a:bodyPr/>
                    <a:lstStyle/>
                    <a:p>
                      <a:pPr indent="0" marL="0">
                        <a:lnSpc>
                          <a:spcPts val="1820"/>
                        </a:lnSpc>
                        <a:buNone/>
                      </a:pPr>
                      <a:r>
                        <a:rPr lang="en-US" sz="1300" b="1" dirty="0">
                          <a:solidFill>
                            <a:srgbClr val="15233B"/>
                          </a:solidFill>
                          <a:latin typeface="Arial" pitchFamily="34" charset="0"/>
                          <a:ea typeface="Arial" pitchFamily="34" charset="-122"/>
                          <a:cs typeface="Arial" pitchFamily="34" charset="-120"/>
                        </a:rPr>
                        <a:t>Block</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820"/>
                        </a:lnSpc>
                        <a:buNone/>
                      </a:pPr>
                      <a:r>
                        <a:rPr lang="en-US" sz="1300" b="1" dirty="0">
                          <a:solidFill>
                            <a:srgbClr val="15233B"/>
                          </a:solidFill>
                          <a:latin typeface="Arial" pitchFamily="34" charset="0"/>
                          <a:ea typeface="Arial" pitchFamily="34" charset="-122"/>
                          <a:cs typeface="Arial" pitchFamily="34" charset="-120"/>
                        </a:rPr>
                        <a:t>Role</a:t>
                      </a:r>
                      <a:endParaRPr lang="en-US" sz="1300" dirty="0">
                        <a:latin typeface="Arial" charset="0"/>
                        <a:ea typeface="Arial" charset="0"/>
                        <a:cs typeface="Arial" charset="0"/>
                      </a:endParaRPr>
                    </a:p>
                  </a:txBody>
                  <a:tcPr marL="57785" marR="57785" marT="57785" marB="5778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Step → Set-point</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90 °C, steps to 95 °C at 1200 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Sum (+ −)</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Error e = T_c − T_ref</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PID Controller</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P 0.344, I 0.0041, D 1.52, N 1; limits −0.83 to 2.17; clamping</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Transfer Fcn G(s)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Cooling path: −78.2 / (2383s² + 513.8s + 1)</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Step → Transfer Fcn Gd(s)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Load +50 % at 600 s through 2.17 / (509s + 1)</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Constant + Sum (+ + +)</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T_c = 90 + cooling effect + load effect</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Bias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Cooling command y = 0.83 + PID output</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Mux → Scope</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T_c with the set-point, and the cooling command</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5253602"/>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Solver ode4, fixed step 0.1 s, 30-minute run · built by hand</a:t>
            </a:r>
            <a:endParaRPr lang="en-US" sz="1200" dirty="0"/>
          </a:p>
        </p:txBody>
      </p:sp>
      <p:sp>
        <p:nvSpPr>
          <p:cNvPr id="6" name="Text 3"/>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EXPERIMENT 2 · LOAD STEP 30 % → 80 %</a:t>
            </a:r>
            <a:endParaRPr lang="en-US" sz="1200" dirty="0"/>
          </a:p>
        </p:txBody>
      </p:sp>
      <p:sp>
        <p:nvSpPr>
          <p:cNvPr id="3" name="Text 1"/>
          <p:cNvSpPr/>
          <p:nvPr>
            <p:ph type="title"/>
          </p:nvPr>
        </p:nvSpPr>
        <p:spPr>
          <a:xfrm>
            <a:off x="812800" y="110235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I removes the offset, D trims the peak</a:t>
            </a:r>
            <a:endParaRPr lang="en-US" sz="3200" dirty="0"/>
          </a:p>
        </p:txBody>
      </p:sp>
      <p:sp>
        <p:nvSpPr>
          <p:cNvPr id="4" name="Shape 2"/>
          <p:cNvSpPr/>
          <p:nvPr/>
        </p:nvSpPr>
        <p:spPr>
          <a:xfrm>
            <a:off x="812800" y="1777969"/>
            <a:ext cx="5588000" cy="4038600"/>
          </a:xfrm>
          <a:prstGeom prst="roundRect">
            <a:avLst>
              <a:gd name="adj" fmla="val 1887"/>
            </a:avLst>
          </a:prstGeom>
          <a:solidFill>
            <a:srgbClr val="FFFFFF"/>
          </a:solidFill>
          <a:ln/>
        </p:spPr>
      </p:sp>
      <p:pic>
        <p:nvPicPr>
          <p:cNvPr id="5" name="Image 0" descr="Coolant temperature, controller output and engine load over 2400 s for P, PI and PID controllers; P only settles about 4 K above 90 °C after the load step, PI and PID return to 90 °C">    </p:cNvPr>
          <p:cNvPicPr>
            <a:picLocks noChangeAspect="1"/>
          </p:cNvPicPr>
          <p:nvPr/>
        </p:nvPicPr>
        <p:blipFill>
          <a:blip r:embed="rId1"/>
          <a:srcRect l="-3" r="-3" t="0" b="0"/>
          <a:stretch/>
        </p:blipFill>
        <p:spPr>
          <a:xfrm>
            <a:off x="819150" y="1784319"/>
            <a:ext cx="5575300" cy="4025900"/>
          </a:xfrm>
          <a:prstGeom prst="roundRect">
            <a:avLst>
              <a:gd name="adj" fmla="val 1735"/>
            </a:avLst>
          </a:prstGeom>
        </p:spPr>
      </p:pic>
      <p:sp>
        <p:nvSpPr>
          <p:cNvPr id="6" name="Shape 3"/>
          <p:cNvSpPr/>
          <p:nvPr/>
        </p:nvSpPr>
        <p:spPr>
          <a:xfrm>
            <a:off x="815975" y="1781144"/>
            <a:ext cx="5581650" cy="4032250"/>
          </a:xfrm>
          <a:prstGeom prst="roundRect">
            <a:avLst>
              <a:gd name="adj" fmla="val 1811"/>
            </a:avLst>
          </a:prstGeom>
          <a:noFill/>
          <a:ln w="6350">
            <a:solidFill>
              <a:srgbClr val="E2DE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718300" y="1790669"/>
          <a:ext cx="4660900" cy="1437481"/>
        </p:xfrm>
        <a:graphic>
          <a:graphicData uri="http://schemas.openxmlformats.org/drawingml/2006/table">
            <a:tbl>
              <a:tblPr/>
              <a:tblGrid>
                <a:gridCol w="1305052"/>
                <a:gridCol w="1118616"/>
                <a:gridCol w="1118616"/>
                <a:gridCol w="1118616"/>
              </a:tblGrid>
              <a:tr h="359370">
                <a:tc>
                  <a:txBody>
                    <a:bodyPr/>
                    <a:lstStyle/>
                    <a:p>
                      <a:pPr indent="0" marL="0">
                        <a:lnSpc>
                          <a:spcPts val="1820"/>
                        </a:lnSpc>
                        <a:buNone/>
                      </a:pPr>
                      <a:r>
                        <a:rPr lang="en-US" sz="1300" b="1" dirty="0">
                          <a:solidFill>
                            <a:srgbClr val="15233B"/>
                          </a:solidFill>
                          <a:latin typeface="Arial" pitchFamily="34" charset="0"/>
                          <a:ea typeface="Arial" pitchFamily="34" charset="-122"/>
                          <a:cs typeface="Arial" pitchFamily="34" charset="-120"/>
                        </a:rPr>
                        <a:t>Ctrl</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1820"/>
                        </a:lnSpc>
                        <a:buNone/>
                      </a:pPr>
                      <a:r>
                        <a:rPr lang="en-US" sz="1300" b="1" dirty="0">
                          <a:solidFill>
                            <a:srgbClr val="15233B"/>
                          </a:solidFill>
                          <a:latin typeface="Arial" pitchFamily="34" charset="0"/>
                          <a:ea typeface="Arial" pitchFamily="34" charset="-122"/>
                          <a:cs typeface="Arial" pitchFamily="34" charset="-120"/>
                        </a:rPr>
                        <a:t>Peak</a:t>
                      </a:r>
                      <a:endParaRPr lang="en-US" sz="1300" dirty="0">
                        <a:latin typeface="Arial" charset="0"/>
                        <a:ea typeface="Arial" charset="0"/>
                        <a:cs typeface="Arial" charset="0"/>
                      </a:endParaRPr>
                    </a:p>
                  </a:txBody>
                  <a:tcPr marL="57785" marR="57785" marT="57785" marB="5778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1820"/>
                        </a:lnSpc>
                        <a:buNone/>
                      </a:pPr>
                      <a:r>
                        <a:rPr lang="en-US" sz="1300" b="1" dirty="0">
                          <a:solidFill>
                            <a:srgbClr val="15233B"/>
                          </a:solidFill>
                          <a:latin typeface="Arial" pitchFamily="34" charset="0"/>
                          <a:ea typeface="Arial" pitchFamily="34" charset="-122"/>
                          <a:cs typeface="Arial" pitchFamily="34" charset="-120"/>
                        </a:rPr>
                        <a:t>Settle</a:t>
                      </a:r>
                      <a:endParaRPr lang="en-US" sz="1300" dirty="0">
                        <a:latin typeface="Arial" charset="0"/>
                        <a:ea typeface="Arial" charset="0"/>
                        <a:cs typeface="Arial" charset="0"/>
                      </a:endParaRPr>
                    </a:p>
                  </a:txBody>
                  <a:tcPr marL="57785" marR="57785" marT="57785" marB="5778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1820"/>
                        </a:lnSpc>
                        <a:buNone/>
                      </a:pPr>
                      <a:r>
                        <a:rPr lang="en-US" sz="1300" b="1" dirty="0">
                          <a:solidFill>
                            <a:srgbClr val="15233B"/>
                          </a:solidFill>
                          <a:latin typeface="Arial" pitchFamily="34" charset="0"/>
                          <a:ea typeface="Arial" pitchFamily="34" charset="-122"/>
                          <a:cs typeface="Arial" pitchFamily="34" charset="-120"/>
                        </a:rPr>
                        <a:t>Offset</a:t>
                      </a:r>
                      <a:endParaRPr lang="en-US" sz="1300" dirty="0">
                        <a:latin typeface="Arial" charset="0"/>
                        <a:ea typeface="Arial" charset="0"/>
                        <a:cs typeface="Arial" charset="0"/>
                      </a:endParaRPr>
                    </a:p>
                  </a:txBody>
                  <a:tcPr marL="57785" marR="57785" marT="57785" marB="5778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P only</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15233B"/>
                          </a:solidFill>
                          <a:latin typeface="Arial" pitchFamily="34" charset="0"/>
                          <a:ea typeface="Arial" pitchFamily="34" charset="-122"/>
                          <a:cs typeface="Arial" pitchFamily="34" charset="-120"/>
                        </a:rPr>
                        <a:t>3.9 K</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15233B"/>
                          </a:solidFill>
                          <a:latin typeface="Arial" pitchFamily="34" charset="0"/>
                          <a:ea typeface="Arial" pitchFamily="34" charset="-122"/>
                          <a:cs typeface="Arial" pitchFamily="34" charset="-120"/>
                        </a:rPr>
                        <a:t>27 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B4501F"/>
                          </a:solidFill>
                          <a:latin typeface="Arial" pitchFamily="34" charset="0"/>
                          <a:ea typeface="Arial" pitchFamily="34" charset="-122"/>
                          <a:cs typeface="Arial" pitchFamily="34" charset="-120"/>
                        </a:rPr>
                        <a:t>3.9 K</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PI</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15233B"/>
                          </a:solidFill>
                          <a:latin typeface="Arial" pitchFamily="34" charset="0"/>
                          <a:ea typeface="Arial" pitchFamily="34" charset="-122"/>
                          <a:cs typeface="Arial" pitchFamily="34" charset="-120"/>
                        </a:rPr>
                        <a:t>3.3 K</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15233B"/>
                          </a:solidFill>
                          <a:latin typeface="Arial" pitchFamily="34" charset="0"/>
                          <a:ea typeface="Arial" pitchFamily="34" charset="-122"/>
                          <a:cs typeface="Arial" pitchFamily="34" charset="-120"/>
                        </a:rPr>
                        <a:t>173 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15233B"/>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PID</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15233B"/>
                          </a:solidFill>
                          <a:latin typeface="Arial" pitchFamily="34" charset="0"/>
                          <a:ea typeface="Arial" pitchFamily="34" charset="-122"/>
                          <a:cs typeface="Arial" pitchFamily="34" charset="-120"/>
                        </a:rPr>
                        <a:t>3.0 K</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15233B"/>
                          </a:solidFill>
                          <a:latin typeface="Arial" pitchFamily="34" charset="0"/>
                          <a:ea typeface="Arial" pitchFamily="34" charset="-122"/>
                          <a:cs typeface="Arial" pitchFamily="34" charset="-120"/>
                        </a:rPr>
                        <a:t>175 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15233B"/>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8" name="Text 4"/>
          <p:cNvSpPr/>
          <p:nvPr/>
        </p:nvSpPr>
        <p:spPr>
          <a:xfrm>
            <a:off x="6705600" y="3431350"/>
            <a:ext cx="4813808"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Arial" pitchFamily="34" charset="0"/>
                <a:ea typeface="Arial" pitchFamily="34" charset="-122"/>
                <a:cs typeface="Arial" pitchFamily="34" charset="-120"/>
              </a:rPr>
              <a:t>P alone needs an error to produce output, so it settles </a:t>
            </a:r>
            <a:r>
              <a:rPr lang="en-US" sz="1400" b="1" dirty="0">
                <a:solidFill>
                  <a:srgbClr val="4A5568"/>
                </a:solidFill>
                <a:latin typeface="Arial" pitchFamily="34" charset="0"/>
                <a:ea typeface="Arial" pitchFamily="34" charset="-122"/>
                <a:cs typeface="Arial" pitchFamily="34" charset="-120"/>
              </a:rPr>
              <a:t>4 K too hot</a:t>
            </a:r>
            <a:r>
              <a:rPr lang="en-US" sz="1400" dirty="0">
                <a:solidFill>
                  <a:srgbClr val="4A5568"/>
                </a:solidFill>
                <a:latin typeface="Arial" pitchFamily="34" charset="0"/>
                <a:ea typeface="Arial" pitchFamily="34" charset="-122"/>
                <a:cs typeface="Arial" pitchFamily="34" charset="-120"/>
              </a:rPr>
              <a:t>. Adding I brings it back to exactly 90 °C. Adding D cuts the peak by about 7 %.</a:t>
            </a:r>
            <a:endParaRPr lang="en-US" sz="1400" dirty="0"/>
          </a:p>
        </p:txBody>
      </p:sp>
      <p:sp>
        <p:nvSpPr>
          <p:cNvPr id="9" name="Text 5"/>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EXPERIMENT 1 · SET-POINT 90 → 95 °C</a:t>
            </a:r>
            <a:endParaRPr lang="en-US" sz="1200" dirty="0"/>
          </a:p>
        </p:txBody>
      </p:sp>
      <p:sp>
        <p:nvSpPr>
          <p:cNvPr id="3" name="Text 1"/>
          <p:cNvSpPr/>
          <p:nvPr>
            <p:ph type="title"/>
          </p:nvPr>
        </p:nvSpPr>
        <p:spPr>
          <a:xfrm>
            <a:off x="812800" y="110235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The temperature follows a new set-point</a:t>
            </a:r>
            <a:endParaRPr lang="en-US" sz="3200" dirty="0"/>
          </a:p>
        </p:txBody>
      </p:sp>
      <p:sp>
        <p:nvSpPr>
          <p:cNvPr id="4" name="Shape 2"/>
          <p:cNvSpPr/>
          <p:nvPr/>
        </p:nvSpPr>
        <p:spPr>
          <a:xfrm>
            <a:off x="812800" y="1777969"/>
            <a:ext cx="6985000" cy="3492500"/>
          </a:xfrm>
          <a:prstGeom prst="roundRect">
            <a:avLst>
              <a:gd name="adj" fmla="val 2182"/>
            </a:avLst>
          </a:prstGeom>
          <a:solidFill>
            <a:srgbClr val="FFFFFF"/>
          </a:solidFill>
          <a:ln/>
        </p:spPr>
      </p:sp>
      <p:pic>
        <p:nvPicPr>
          <p:cNvPr id="5" name="Image 0" descr="Coolant temperature tracking a set-point that steps from 90 to 95 and back to 90 °C, with fan, pump and valve commands below">    </p:cNvPr>
          <p:cNvPicPr>
            <a:picLocks noChangeAspect="1"/>
          </p:cNvPicPr>
          <p:nvPr/>
        </p:nvPicPr>
        <p:blipFill>
          <a:blip r:embed="rId1"/>
          <a:srcRect l="-118" r="-118" t="0" b="0"/>
          <a:stretch/>
        </p:blipFill>
        <p:spPr>
          <a:xfrm>
            <a:off x="819150" y="1784319"/>
            <a:ext cx="6972300" cy="3479800"/>
          </a:xfrm>
          <a:prstGeom prst="roundRect">
            <a:avLst>
              <a:gd name="adj" fmla="val 2007"/>
            </a:avLst>
          </a:prstGeom>
        </p:spPr>
      </p:pic>
      <p:sp>
        <p:nvSpPr>
          <p:cNvPr id="6" name="Shape 3"/>
          <p:cNvSpPr/>
          <p:nvPr/>
        </p:nvSpPr>
        <p:spPr>
          <a:xfrm>
            <a:off x="815975" y="1781144"/>
            <a:ext cx="6978650" cy="3486150"/>
          </a:xfrm>
          <a:prstGeom prst="roundRect">
            <a:avLst>
              <a:gd name="adj" fmla="val 2095"/>
            </a:avLst>
          </a:prstGeom>
          <a:noFill/>
          <a:ln w="6350">
            <a:solidFill>
              <a:srgbClr val="E2DED3"/>
            </a:solidFill>
            <a:prstDash val="solid"/>
          </a:ln>
        </p:spPr>
      </p:sp>
      <p:sp>
        <p:nvSpPr>
          <p:cNvPr id="7" name="Text 4"/>
          <p:cNvSpPr/>
          <p:nvPr/>
        </p:nvSpPr>
        <p:spPr>
          <a:xfrm>
            <a:off x="8102600" y="1777969"/>
            <a:ext cx="337489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01F"/>
                </a:solidFill>
                <a:latin typeface="Arial" pitchFamily="34" charset="0"/>
                <a:ea typeface="Arial" pitchFamily="34" charset="-122"/>
                <a:cs typeface="Arial" pitchFamily="34" charset="-120"/>
              </a:rPr>
              <a:t>Tracking</a:t>
            </a:r>
            <a:endParaRPr lang="en-US" sz="1600" dirty="0"/>
          </a:p>
        </p:txBody>
      </p:sp>
      <p:sp>
        <p:nvSpPr>
          <p:cNvPr id="8" name="Text 5"/>
          <p:cNvSpPr/>
          <p:nvPr/>
        </p:nvSpPr>
        <p:spPr>
          <a:xfrm>
            <a:off x="8102600" y="2072580"/>
            <a:ext cx="337489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PID reaches 95 °C with 10.7 % overshoot and settles in about 212 s.</a:t>
            </a:r>
            <a:endParaRPr lang="en-US" sz="1300" dirty="0"/>
          </a:p>
        </p:txBody>
      </p:sp>
      <p:sp>
        <p:nvSpPr>
          <p:cNvPr id="9" name="Text 6"/>
          <p:cNvSpPr/>
          <p:nvPr/>
        </p:nvSpPr>
        <p:spPr>
          <a:xfrm>
            <a:off x="8102600" y="2729148"/>
            <a:ext cx="337489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01F"/>
                </a:solidFill>
                <a:latin typeface="Arial" pitchFamily="34" charset="0"/>
                <a:ea typeface="Arial" pitchFamily="34" charset="-122"/>
                <a:cs typeface="Arial" pitchFamily="34" charset="-120"/>
              </a:rPr>
              <a:t>P only</a:t>
            </a:r>
            <a:endParaRPr lang="en-US" sz="1600" dirty="0"/>
          </a:p>
        </p:txBody>
      </p:sp>
      <p:sp>
        <p:nvSpPr>
          <p:cNvPr id="10" name="Text 7"/>
          <p:cNvSpPr/>
          <p:nvPr/>
        </p:nvSpPr>
        <p:spPr>
          <a:xfrm>
            <a:off x="8102600" y="3023760"/>
            <a:ext cx="337489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Stops at 94.8 °C, a 0.2 K offset. PI and PID remove it.</a:t>
            </a:r>
            <a:endParaRPr lang="en-US" sz="1300" dirty="0"/>
          </a:p>
        </p:txBody>
      </p:sp>
      <p:sp>
        <p:nvSpPr>
          <p:cNvPr id="11" name="Text 8"/>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12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CONCLUSIONS</a:t>
            </a:r>
            <a:endParaRPr lang="en-US" sz="1200" dirty="0"/>
          </a:p>
        </p:txBody>
      </p:sp>
      <p:sp>
        <p:nvSpPr>
          <p:cNvPr id="3" name="Text 1"/>
          <p:cNvSpPr/>
          <p:nvPr>
            <p:ph type="title"/>
          </p:nvPr>
        </p:nvSpPr>
        <p:spPr>
          <a:xfrm>
            <a:off x="812800" y="110235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What we learned</a:t>
            </a:r>
            <a:endParaRPr lang="en-US" sz="3200" dirty="0"/>
          </a:p>
        </p:txBody>
      </p:sp>
      <p:sp>
        <p:nvSpPr>
          <p:cNvPr id="4" name="Shape 2"/>
          <p:cNvSpPr/>
          <p:nvPr/>
        </p:nvSpPr>
        <p:spPr>
          <a:xfrm>
            <a:off x="815975" y="1857350"/>
            <a:ext cx="3380317" cy="2304984"/>
          </a:xfrm>
          <a:prstGeom prst="roundRect">
            <a:avLst>
              <a:gd name="adj" fmla="val 4270"/>
            </a:avLst>
          </a:prstGeom>
          <a:solidFill>
            <a:srgbClr val="FDFCF9"/>
          </a:solidFill>
          <a:ln w="6350">
            <a:solidFill>
              <a:srgbClr val="E2DED3"/>
            </a:solidFill>
            <a:prstDash val="solid"/>
          </a:ln>
        </p:spPr>
      </p:sp>
      <p:pic>
        <p:nvPicPr>
          <p:cNvPr id="5" name="Image 0" descr="CheckCircle">    </p:cNvPr>
          <p:cNvPicPr>
            <a:picLocks noChangeAspect="1"/>
          </p:cNvPicPr>
          <p:nvPr/>
        </p:nvPicPr>
        <p:blipFill>
          <a:blip r:embed="rId1"/>
          <a:srcRect l="0" r="0" t="0" b="0"/>
          <a:stretch/>
        </p:blipFill>
        <p:spPr>
          <a:xfrm>
            <a:off x="1073150" y="2114525"/>
            <a:ext cx="355600" cy="355600"/>
          </a:xfrm>
          <a:prstGeom prst="rect">
            <a:avLst/>
          </a:prstGeom>
        </p:spPr>
      </p:pic>
      <p:sp>
        <p:nvSpPr>
          <p:cNvPr id="6" name="Text 3"/>
          <p:cNvSpPr/>
          <p:nvPr/>
        </p:nvSpPr>
        <p:spPr>
          <a:xfrm>
            <a:off x="1073150" y="2571725"/>
            <a:ext cx="295194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What worked</a:t>
            </a:r>
            <a:endParaRPr lang="en-US" sz="1800" dirty="0"/>
          </a:p>
        </p:txBody>
      </p:sp>
      <p:sp>
        <p:nvSpPr>
          <p:cNvPr id="7" name="Text 4"/>
          <p:cNvSpPr/>
          <p:nvPr/>
        </p:nvSpPr>
        <p:spPr>
          <a:xfrm>
            <a:off x="1073150" y="2947628"/>
            <a:ext cx="2951946" cy="98292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PID holds 90 °C with zero offset. P only, like today's wax thermostat, stays 4 K too hot. D cuts the peak by about 7 %.</a:t>
            </a:r>
            <a:endParaRPr lang="en-US" sz="1300" dirty="0"/>
          </a:p>
        </p:txBody>
      </p:sp>
      <p:sp>
        <p:nvSpPr>
          <p:cNvPr id="8" name="Shape 5"/>
          <p:cNvSpPr/>
          <p:nvPr/>
        </p:nvSpPr>
        <p:spPr>
          <a:xfrm>
            <a:off x="4405842" y="1857350"/>
            <a:ext cx="3380317" cy="2304984"/>
          </a:xfrm>
          <a:prstGeom prst="roundRect">
            <a:avLst>
              <a:gd name="adj" fmla="val 4270"/>
            </a:avLst>
          </a:prstGeom>
          <a:solidFill>
            <a:srgbClr val="FDFCF9"/>
          </a:solidFill>
          <a:ln w="6350">
            <a:solidFill>
              <a:srgbClr val="E2DED3"/>
            </a:solidFill>
            <a:prstDash val="solid"/>
          </a:ln>
        </p:spPr>
      </p:sp>
      <p:pic>
        <p:nvPicPr>
          <p:cNvPr id="9" name="Image 1" descr="Warning">    </p:cNvPr>
          <p:cNvPicPr>
            <a:picLocks noChangeAspect="1"/>
          </p:cNvPicPr>
          <p:nvPr/>
        </p:nvPicPr>
        <p:blipFill>
          <a:blip r:embed="rId2"/>
          <a:srcRect l="0" r="0" t="0" b="0"/>
          <a:stretch/>
        </p:blipFill>
        <p:spPr>
          <a:xfrm>
            <a:off x="4663017" y="2114525"/>
            <a:ext cx="355600" cy="355600"/>
          </a:xfrm>
          <a:prstGeom prst="rect">
            <a:avLst/>
          </a:prstGeom>
        </p:spPr>
      </p:pic>
      <p:sp>
        <p:nvSpPr>
          <p:cNvPr id="10" name="Text 6"/>
          <p:cNvSpPr/>
          <p:nvPr/>
        </p:nvSpPr>
        <p:spPr>
          <a:xfrm>
            <a:off x="4663017" y="2571725"/>
            <a:ext cx="295194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33B"/>
                </a:solidFill>
                <a:latin typeface="Arial" pitchFamily="34" charset="0"/>
                <a:ea typeface="Arial" pitchFamily="34" charset="-122"/>
                <a:cs typeface="Arial" pitchFamily="34" charset="-120"/>
              </a:rPr>
              <a:t>Limitations</a:t>
            </a:r>
            <a:endParaRPr lang="en-US" sz="1800" dirty="0"/>
          </a:p>
        </p:txBody>
      </p:sp>
      <p:sp>
        <p:nvSpPr>
          <p:cNvPr id="11" name="Text 7"/>
          <p:cNvSpPr/>
          <p:nvPr/>
        </p:nvSpPr>
        <p:spPr>
          <a:xfrm>
            <a:off x="4663017" y="2947628"/>
            <a:ext cx="2951946" cy="98292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Arial" pitchFamily="34" charset="0"/>
                <a:ea typeface="Arial" pitchFamily="34" charset="-122"/>
                <a:cs typeface="Arial" pitchFamily="34" charset="-120"/>
              </a:rPr>
              <a:t>Linear model with one temperature: no oil, no separate valve, pump and fan. Some inputs are assumed (slide 15).</a:t>
            </a:r>
            <a:endParaRPr lang="en-US" sz="1300" dirty="0"/>
          </a:p>
        </p:txBody>
      </p:sp>
      <p:sp>
        <p:nvSpPr>
          <p:cNvPr id="12" name="Shape 8"/>
          <p:cNvSpPr/>
          <p:nvPr/>
        </p:nvSpPr>
        <p:spPr>
          <a:xfrm>
            <a:off x="7995709" y="1857350"/>
            <a:ext cx="3380317" cy="2304984"/>
          </a:xfrm>
          <a:prstGeom prst="roundRect">
            <a:avLst>
              <a:gd name="adj" fmla="val 4270"/>
            </a:avLst>
          </a:prstGeom>
          <a:solidFill>
            <a:srgbClr val="15233B"/>
          </a:solidFill>
          <a:ln w="6350">
            <a:solidFill>
              <a:srgbClr val="15233B"/>
            </a:solidFill>
            <a:prstDash val="solid"/>
          </a:ln>
        </p:spPr>
      </p:sp>
      <p:pic>
        <p:nvPicPr>
          <p:cNvPr id="13" name="Image 2" descr="Lightning">    </p:cNvPr>
          <p:cNvPicPr>
            <a:picLocks noChangeAspect="1"/>
          </p:cNvPicPr>
          <p:nvPr/>
        </p:nvPicPr>
        <p:blipFill>
          <a:blip r:embed="rId3"/>
          <a:srcRect l="0" r="0" t="0" b="0"/>
          <a:stretch/>
        </p:blipFill>
        <p:spPr>
          <a:xfrm>
            <a:off x="8252884" y="2114525"/>
            <a:ext cx="355600" cy="355600"/>
          </a:xfrm>
          <a:prstGeom prst="rect">
            <a:avLst/>
          </a:prstGeom>
        </p:spPr>
      </p:pic>
      <p:sp>
        <p:nvSpPr>
          <p:cNvPr id="14" name="Text 9"/>
          <p:cNvSpPr/>
          <p:nvPr/>
        </p:nvSpPr>
        <p:spPr>
          <a:xfrm>
            <a:off x="8252884" y="2571725"/>
            <a:ext cx="295194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Arial" pitchFamily="34" charset="0"/>
                <a:ea typeface="Arial" pitchFamily="34" charset="-122"/>
                <a:cs typeface="Arial" pitchFamily="34" charset="-120"/>
              </a:rPr>
              <a:t>Next step</a:t>
            </a:r>
            <a:endParaRPr lang="en-US" sz="1800" dirty="0"/>
          </a:p>
        </p:txBody>
      </p:sp>
      <p:sp>
        <p:nvSpPr>
          <p:cNvPr id="15" name="Text 10"/>
          <p:cNvSpPr/>
          <p:nvPr/>
        </p:nvSpPr>
        <p:spPr>
          <a:xfrm>
            <a:off x="8252884" y="2947628"/>
            <a:ext cx="2951946" cy="98292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5DEEA"/>
                </a:solidFill>
                <a:latin typeface="Arial" pitchFamily="34" charset="0"/>
                <a:ea typeface="Arial" pitchFamily="34" charset="-122"/>
                <a:cs typeface="Arial" pitchFamily="34" charset="-120"/>
              </a:rPr>
              <a:t>Add the radiator and oil temperatures, validate with engine data, then try a </a:t>
            </a:r>
            <a:r>
              <a:rPr lang="en-US" sz="1300" b="1" dirty="0">
                <a:solidFill>
                  <a:srgbClr val="D5DEEA"/>
                </a:solidFill>
                <a:latin typeface="Arial" pitchFamily="34" charset="0"/>
                <a:ea typeface="Arial" pitchFamily="34" charset="-122"/>
                <a:cs typeface="Arial" pitchFamily="34" charset="-120"/>
              </a:rPr>
              <a:t>predictive controller (MPC)</a:t>
            </a:r>
            <a:r>
              <a:rPr lang="en-US" sz="1300" dirty="0">
                <a:solidFill>
                  <a:srgbClr val="D5DEEA"/>
                </a:solidFill>
                <a:latin typeface="Arial" pitchFamily="34" charset="0"/>
                <a:ea typeface="Arial" pitchFamily="34" charset="-122"/>
                <a:cs typeface="Arial" pitchFamily="34" charset="-120"/>
              </a:rPr>
              <a:t> that uses the road ahead to save fan energy.</a:t>
            </a:r>
            <a:endParaRPr lang="en-US" sz="1300" dirty="0"/>
          </a:p>
        </p:txBody>
      </p:sp>
      <p:sp>
        <p:nvSpPr>
          <p:cNvPr id="16" name="Text 11"/>
          <p:cNvSpPr/>
          <p:nvPr/>
        </p:nvSpPr>
        <p:spPr>
          <a:xfrm>
            <a:off x="812800" y="6238255"/>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14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33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A3A"/>
          </a:solidFill>
          <a:ln/>
        </p:spPr>
      </p:sp>
      <p:sp>
        <p:nvSpPr>
          <p:cNvPr id="3" name="Text 1"/>
          <p:cNvSpPr/>
          <p:nvPr>
            <p:ph type="title"/>
          </p:nvPr>
        </p:nvSpPr>
        <p:spPr>
          <a:xfrm>
            <a:off x="812800" y="270636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1"/>
                </a:solidFill>
                <a:latin typeface="Arial" pitchFamily="34" charset="0"/>
                <a:ea typeface="Arial" pitchFamily="34" charset="-122"/>
                <a:cs typeface="Arial" pitchFamily="34" charset="-120"/>
              </a:rPr>
              <a:t>Thank you</a:t>
            </a:r>
            <a:endParaRPr lang="en-US" sz="6000" dirty="0"/>
          </a:p>
        </p:txBody>
      </p:sp>
      <p:sp>
        <p:nvSpPr>
          <p:cNvPr id="4" name="Text 2"/>
          <p:cNvSpPr/>
          <p:nvPr/>
        </p:nvSpPr>
        <p:spPr>
          <a:xfrm>
            <a:off x="812800" y="3760465"/>
            <a:ext cx="10883392" cy="416553"/>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0A26E"/>
                </a:solidFill>
                <a:latin typeface="Arial" pitchFamily="34" charset="0"/>
                <a:ea typeface="Arial" pitchFamily="34" charset="-122"/>
                <a:cs typeface="Arial" pitchFamily="34" charset="-120"/>
              </a:rPr>
              <a:t>Questions?</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01F"/>
                </a:solidFill>
                <a:latin typeface="Arial" pitchFamily="34" charset="0"/>
                <a:ea typeface="Arial" pitchFamily="34" charset="-122"/>
                <a:cs typeface="Arial" pitchFamily="34" charset="-120"/>
              </a:rPr>
              <a:t>DATA SOURCES</a:t>
            </a:r>
            <a:endParaRPr lang="en-US" sz="1200" dirty="0"/>
          </a:p>
        </p:txBody>
      </p:sp>
      <p:sp>
        <p:nvSpPr>
          <p:cNvPr id="3" name="Text 1"/>
          <p:cNvSpPr/>
          <p:nvPr>
            <p:ph type="title"/>
          </p:nvPr>
        </p:nvSpPr>
        <p:spPr>
          <a:xfrm>
            <a:off x="812800" y="1102358"/>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33B"/>
                </a:solidFill>
                <a:latin typeface="Arial" pitchFamily="34" charset="0"/>
                <a:ea typeface="Arial" pitchFamily="34" charset="-122"/>
                <a:cs typeface="Arial" pitchFamily="34" charset="-120"/>
              </a:rPr>
              <a:t>Where the numbers come from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69"/>
          <a:ext cx="10553700" cy="2874962"/>
        </p:xfrm>
        <a:graphic>
          <a:graphicData uri="http://schemas.openxmlformats.org/drawingml/2006/table">
            <a:tbl>
              <a:tblPr/>
              <a:tblGrid>
                <a:gridCol w="3799332"/>
                <a:gridCol w="6754368"/>
              </a:tblGrid>
              <a:tr h="359370">
                <a:tc>
                  <a:txBody>
                    <a:bodyPr/>
                    <a:lstStyle/>
                    <a:p>
                      <a:pPr indent="0" marL="0">
                        <a:lnSpc>
                          <a:spcPts val="1820"/>
                        </a:lnSpc>
                        <a:buNone/>
                      </a:pPr>
                      <a:r>
                        <a:rPr lang="en-US" sz="1300" b="1" dirty="0">
                          <a:solidFill>
                            <a:srgbClr val="15233B"/>
                          </a:solidFill>
                          <a:latin typeface="Arial" pitchFamily="34" charset="0"/>
                          <a:ea typeface="Arial" pitchFamily="34" charset="-122"/>
                          <a:cs typeface="Arial" pitchFamily="34" charset="-120"/>
                        </a:rPr>
                        <a:t>Value</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820"/>
                        </a:lnSpc>
                        <a:buNone/>
                      </a:pPr>
                      <a:r>
                        <a:rPr lang="en-US" sz="1300" b="1" dirty="0">
                          <a:solidFill>
                            <a:srgbClr val="15233B"/>
                          </a:solidFill>
                          <a:latin typeface="Arial" pitchFamily="34" charset="0"/>
                          <a:ea typeface="Arial" pitchFamily="34" charset="-122"/>
                          <a:cs typeface="Arial" pitchFamily="34" charset="-120"/>
                        </a:rPr>
                        <a:t>Source</a:t>
                      </a:r>
                      <a:endParaRPr lang="en-US" sz="1300" dirty="0">
                        <a:latin typeface="Arial" charset="0"/>
                        <a:ea typeface="Arial" charset="0"/>
                        <a:cs typeface="Arial" charset="0"/>
                      </a:endParaRPr>
                    </a:p>
                  </a:txBody>
                  <a:tcPr marL="57785" marR="57785" marT="57785" marB="57785"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338 kW, 1121 kg, 38 L coolant</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Volvo D13C460 engine fact sheet</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150 kW to coolant (105 °C, 45 °C air)</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Worsztynowicz (2017), heavy-duty cooling modules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c_p: coolant 3.5, iron 0.46, Al 0.91 kJ/kg·K</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Engineering ToolBox property tables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150 kW ≈ 18 % of fuel energy</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Heywood, ICE Fundamentals: 17–26 % (cross-check)</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Kp, Ki, Kd</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SIMC tuning rule, Skogestad (2003)</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50 % mass, 26 L, 30 kg, 250 L/min, 25 °C</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Our assumptions</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370">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τc 509 s, τr 4.7 s, K 78.2 and 2.17</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15233B"/>
                          </a:solidFill>
                          <a:latin typeface="Arial" pitchFamily="34" charset="0"/>
                          <a:ea typeface="Arial" pitchFamily="34" charset="-122"/>
                          <a:cs typeface="Arial" pitchFamily="34" charset="-120"/>
                        </a:rPr>
                        <a:t>Calculated in pid_truck_cooling.m</a:t>
                      </a:r>
                      <a:endParaRPr lang="en-US" sz="1300" dirty="0">
                        <a:latin typeface="Arial" charset="0"/>
                        <a:ea typeface="Arial" charset="0"/>
                        <a:cs typeface="Arial"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6238249"/>
            <a:ext cx="10883392"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6"/>
                </a:solidFill>
                <a:latin typeface="Arial" pitchFamily="34" charset="0"/>
                <a:ea typeface="Arial" pitchFamily="34" charset="-122"/>
                <a:cs typeface="Arial" pitchFamily="34" charset="-120"/>
              </a:rPr>
              <a:t>PID Thermal Control for Heavy-Duty Trucks · 15</a:t>
            </a:r>
            <a:endParaRPr lang="en-US" sz="1200" dirty="0"/>
          </a:p>
        </p:txBody>
      </p:sp>
    </p:spTree>
  </p:cSld>
  <p:clrMapOvr>
    <a:masterClrMapping/>
  </p:clrMapOvr>
</p:sld>
</file>

<file path=ppt/theme/theme1.xml><?xml version="1.0" encoding="utf-8"?>
<a:theme xmlns:a="http://schemas.openxmlformats.org/drawingml/2006/main" name="PID Thermal Control for Heavy-Duty Trucks">
  <a:themeElements>
    <a:clrScheme name="PID Thermal Control for Heavy-Duty Trucks">
      <a:dk1>
        <a:srgbClr val="15233B"/>
      </a:dk1>
      <a:lt1>
        <a:srgbClr val="F6F5F1"/>
      </a:lt1>
      <a:dk2>
        <a:srgbClr val="4D5869"/>
      </a:dk2>
      <a:lt2>
        <a:srgbClr val="E0E0DF"/>
      </a:lt2>
      <a:accent1>
        <a:srgbClr val="B4501F"/>
      </a:accent1>
      <a:accent2>
        <a:srgbClr val="E07A3A"/>
      </a:accent2>
      <a:accent3>
        <a:srgbClr val="F0A26E"/>
      </a:accent3>
      <a:accent4>
        <a:srgbClr val="2B6CB0"/>
      </a:accent4>
      <a:accent5>
        <a:srgbClr val="8A3A14"/>
      </a:accent5>
      <a:accent6>
        <a:srgbClr val="C0392B"/>
      </a:accent6>
      <a:hlink>
        <a:srgbClr val="0563C1"/>
      </a:hlink>
      <a:folHlink>
        <a:srgbClr val="954F72"/>
      </a:folHlink>
    </a:clrScheme>
    <a:fontScheme name="PID Thermal Control for Heavy-Duty Truck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 Thermal Control for Heavy-Duty Trucks</dc:title>
  <dc:subject/>
  <dc:creator/>
  <cp:lastModifiedBy/>
  <cp:revision>1</cp:revision>
  <dcterms:created xsi:type="dcterms:W3CDTF">2026-10-13T04:34:26Z</dcterms:created>
  <dcterms:modified xsi:type="dcterms:W3CDTF">2026-10-13T04:34:26Z</dcterms:modified>
</cp:coreProperties>
</file>